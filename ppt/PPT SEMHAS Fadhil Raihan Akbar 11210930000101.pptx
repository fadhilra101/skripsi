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1"/>
  </p:notesMasterIdLst>
  <p:handoutMasterIdLst>
    <p:handoutMasterId r:id="rId62"/>
  </p:handoutMasterIdLst>
  <p:sldIdLst>
    <p:sldId id="256" r:id="rId5"/>
    <p:sldId id="278" r:id="rId6"/>
    <p:sldId id="258" r:id="rId7"/>
    <p:sldId id="273" r:id="rId8"/>
    <p:sldId id="302" r:id="rId9"/>
    <p:sldId id="257" r:id="rId10"/>
    <p:sldId id="301" r:id="rId11"/>
    <p:sldId id="261" r:id="rId12"/>
    <p:sldId id="281" r:id="rId13"/>
    <p:sldId id="265" r:id="rId14"/>
    <p:sldId id="260" r:id="rId15"/>
    <p:sldId id="269" r:id="rId16"/>
    <p:sldId id="259" r:id="rId17"/>
    <p:sldId id="264" r:id="rId18"/>
    <p:sldId id="271" r:id="rId19"/>
    <p:sldId id="280" r:id="rId20"/>
    <p:sldId id="304" r:id="rId21"/>
    <p:sldId id="277" r:id="rId22"/>
    <p:sldId id="316" r:id="rId23"/>
    <p:sldId id="317" r:id="rId24"/>
    <p:sldId id="266" r:id="rId25"/>
    <p:sldId id="303" r:id="rId26"/>
    <p:sldId id="267" r:id="rId27"/>
    <p:sldId id="270" r:id="rId28"/>
    <p:sldId id="276" r:id="rId29"/>
    <p:sldId id="282" r:id="rId30"/>
    <p:sldId id="283" r:id="rId31"/>
    <p:sldId id="284" r:id="rId32"/>
    <p:sldId id="306" r:id="rId33"/>
    <p:sldId id="310" r:id="rId34"/>
    <p:sldId id="311" r:id="rId35"/>
    <p:sldId id="285" r:id="rId36"/>
    <p:sldId id="307" r:id="rId37"/>
    <p:sldId id="308" r:id="rId38"/>
    <p:sldId id="309" r:id="rId39"/>
    <p:sldId id="286" r:id="rId40"/>
    <p:sldId id="312" r:id="rId41"/>
    <p:sldId id="314" r:id="rId42"/>
    <p:sldId id="313" r:id="rId43"/>
    <p:sldId id="315" r:id="rId44"/>
    <p:sldId id="287" r:id="rId45"/>
    <p:sldId id="288" r:id="rId46"/>
    <p:sldId id="289" r:id="rId47"/>
    <p:sldId id="291" r:id="rId48"/>
    <p:sldId id="290" r:id="rId49"/>
    <p:sldId id="292" r:id="rId50"/>
    <p:sldId id="293" r:id="rId51"/>
    <p:sldId id="294" r:id="rId52"/>
    <p:sldId id="296" r:id="rId53"/>
    <p:sldId id="299" r:id="rId54"/>
    <p:sldId id="298" r:id="rId55"/>
    <p:sldId id="300" r:id="rId56"/>
    <p:sldId id="295" r:id="rId57"/>
    <p:sldId id="297" r:id="rId58"/>
    <p:sldId id="275" r:id="rId59"/>
    <p:sldId id="305" r:id="rId60"/>
  </p:sldIdLst>
  <p:sldSz cx="12192000" cy="6858000"/>
  <p:notesSz cx="6858000" cy="9144000"/>
  <p:defaultTextStyle>
    <a:defPPr rtl="0">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Penulis"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1028" autoAdjust="0"/>
  </p:normalViewPr>
  <p:slideViewPr>
    <p:cSldViewPr snapToGrid="0">
      <p:cViewPr varScale="1">
        <p:scale>
          <a:sx n="65" d="100"/>
          <a:sy n="65" d="100"/>
        </p:scale>
        <p:origin x="930" y="66"/>
      </p:cViewPr>
      <p:guideLst/>
    </p:cSldViewPr>
  </p:slideViewPr>
  <p:notesTextViewPr>
    <p:cViewPr>
      <p:scale>
        <a:sx n="1" d="1"/>
        <a:sy n="1" d="1"/>
      </p:scale>
      <p:origin x="0" y="0"/>
    </p:cViewPr>
  </p:notesTextViewPr>
  <p:sorterViewPr>
    <p:cViewPr>
      <p:scale>
        <a:sx n="126" d="100"/>
        <a:sy n="126" d="100"/>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commentAuthors" Target="commentAuthor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a:extLst>
              <a:ext uri="{FF2B5EF4-FFF2-40B4-BE49-F238E27FC236}">
                <a16:creationId xmlns:a16="http://schemas.microsoft.com/office/drawing/2014/main" id="{3B129C17-9205-4554-BF5C-070656C216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d-ID"/>
          </a:p>
        </p:txBody>
      </p:sp>
      <p:sp>
        <p:nvSpPr>
          <p:cNvPr id="3" name="Tampungan Tanggal 2">
            <a:extLst>
              <a:ext uri="{FF2B5EF4-FFF2-40B4-BE49-F238E27FC236}">
                <a16:creationId xmlns:a16="http://schemas.microsoft.com/office/drawing/2014/main" id="{0B41E939-D5BE-4B7F-BCD2-05DCC4E5E8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B1BF87F-531B-4BDC-A663-C6A67C7BEC47}" type="datetime1">
              <a:rPr lang="id-ID" smtClean="0"/>
              <a:t>27/10/2025</a:t>
            </a:fld>
            <a:endParaRPr lang="id-ID" dirty="0"/>
          </a:p>
        </p:txBody>
      </p:sp>
      <p:sp>
        <p:nvSpPr>
          <p:cNvPr id="4" name="Tampungan Kaki 3">
            <a:extLst>
              <a:ext uri="{FF2B5EF4-FFF2-40B4-BE49-F238E27FC236}">
                <a16:creationId xmlns:a16="http://schemas.microsoft.com/office/drawing/2014/main" id="{F61800B1-1D76-46D4-ADAF-FD5EA7AFBE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d-ID"/>
          </a:p>
        </p:txBody>
      </p:sp>
      <p:sp>
        <p:nvSpPr>
          <p:cNvPr id="5" name="Tampungan Nomor Slide 4">
            <a:extLst>
              <a:ext uri="{FF2B5EF4-FFF2-40B4-BE49-F238E27FC236}">
                <a16:creationId xmlns:a16="http://schemas.microsoft.com/office/drawing/2014/main" id="{FCBFA674-DC58-422B-8963-09FD1B05ED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A42FE58-2C2A-433E-A3EF-B39ACF97315A}" type="slidenum">
              <a:rPr lang="id-ID" smtClean="0"/>
              <a:t>‹#›</a:t>
            </a:fld>
            <a:endParaRPr lang="id-ID"/>
          </a:p>
        </p:txBody>
      </p:sp>
    </p:spTree>
    <p:extLst>
      <p:ext uri="{BB962C8B-B14F-4D97-AF65-F5344CB8AC3E}">
        <p14:creationId xmlns:p14="http://schemas.microsoft.com/office/powerpoint/2010/main" val="36635657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d-ID" noProof="0"/>
          </a:p>
        </p:txBody>
      </p:sp>
      <p:sp>
        <p:nvSpPr>
          <p:cNvPr id="3" name="Tampungan Tanggal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8E6FE-7462-41B9-93AA-C863C0ADF1B6}" type="datetime1">
              <a:rPr lang="id-ID" smtClean="0"/>
              <a:pPr/>
              <a:t>27/10/2025</a:t>
            </a:fld>
            <a:endParaRPr lang="id-ID" dirty="0"/>
          </a:p>
        </p:txBody>
      </p:sp>
      <p:sp>
        <p:nvSpPr>
          <p:cNvPr id="4" name="Tampungan Gambar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id-ID" noProof="0"/>
          </a:p>
        </p:txBody>
      </p:sp>
      <p:sp>
        <p:nvSpPr>
          <p:cNvPr id="5" name="Tampungan Catatan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6" name="Tampungan Ka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d-ID" noProof="0"/>
          </a:p>
        </p:txBody>
      </p:sp>
      <p:sp>
        <p:nvSpPr>
          <p:cNvPr id="7" name="Tampungan Nomor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97DC217-DF71-1A49-B3EA-559F1F43B0FF}" type="slidenum">
              <a:rPr lang="id-ID" noProof="0" smtClean="0"/>
              <a:t>‹#›</a:t>
            </a:fld>
            <a:endParaRPr lang="id-ID" noProof="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rtlCol="0"/>
          <a:lstStyle/>
          <a:p>
            <a:pPr rtl="0"/>
            <a:endParaRPr lang="id-ID" noProof="0" dirty="0"/>
          </a:p>
        </p:txBody>
      </p:sp>
      <p:sp>
        <p:nvSpPr>
          <p:cNvPr id="4" name="Tampungan Nomor Slide 3"/>
          <p:cNvSpPr>
            <a:spLocks noGrp="1"/>
          </p:cNvSpPr>
          <p:nvPr>
            <p:ph type="sldNum" sz="quarter" idx="5"/>
          </p:nvPr>
        </p:nvSpPr>
        <p:spPr/>
        <p:txBody>
          <a:bodyPr rtlCol="0"/>
          <a:lstStyle/>
          <a:p>
            <a:pPr rtl="0"/>
            <a:fld id="{F97DC217-DF71-1A49-B3EA-559F1F43B0FF}" type="slidenum">
              <a:rPr lang="id-ID" smtClean="0"/>
              <a:t>1</a:t>
            </a:fld>
            <a:endParaRPr lang="id-ID"/>
          </a:p>
        </p:txBody>
      </p:sp>
    </p:spTree>
    <p:extLst>
      <p:ext uri="{BB962C8B-B14F-4D97-AF65-F5344CB8AC3E}">
        <p14:creationId xmlns:p14="http://schemas.microsoft.com/office/powerpoint/2010/main" val="427772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AAF3-0446-516E-DF7D-C23AA78E6B4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A0554C2-A61B-45BF-40F0-C3299DE7C3FE}"/>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4142E7B0-A0A8-B52E-33AA-BCE2E630424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FE6B07E-1787-3D26-F761-1C8CC4F2F110}"/>
              </a:ext>
            </a:extLst>
          </p:cNvPr>
          <p:cNvSpPr>
            <a:spLocks noGrp="1"/>
          </p:cNvSpPr>
          <p:nvPr>
            <p:ph type="sldNum" sz="quarter" idx="5"/>
          </p:nvPr>
        </p:nvSpPr>
        <p:spPr/>
        <p:txBody>
          <a:bodyPr/>
          <a:lstStyle/>
          <a:p>
            <a:pPr rtl="0"/>
            <a:fld id="{F97DC217-DF71-1A49-B3EA-559F1F43B0FF}" type="slidenum">
              <a:rPr lang="id-ID" smtClean="0"/>
              <a:t>2</a:t>
            </a:fld>
            <a:endParaRPr lang="id-ID"/>
          </a:p>
        </p:txBody>
      </p:sp>
    </p:spTree>
    <p:extLst>
      <p:ext uri="{BB962C8B-B14F-4D97-AF65-F5344CB8AC3E}">
        <p14:creationId xmlns:p14="http://schemas.microsoft.com/office/powerpoint/2010/main" val="4245274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3</a:t>
            </a:fld>
            <a:endParaRPr lang="id-ID"/>
          </a:p>
        </p:txBody>
      </p:sp>
    </p:spTree>
    <p:extLst>
      <p:ext uri="{BB962C8B-B14F-4D97-AF65-F5344CB8AC3E}">
        <p14:creationId xmlns:p14="http://schemas.microsoft.com/office/powerpoint/2010/main" val="843057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4</a:t>
            </a:fld>
            <a:endParaRPr lang="id-ID"/>
          </a:p>
        </p:txBody>
      </p:sp>
    </p:spTree>
    <p:extLst>
      <p:ext uri="{BB962C8B-B14F-4D97-AF65-F5344CB8AC3E}">
        <p14:creationId xmlns:p14="http://schemas.microsoft.com/office/powerpoint/2010/main" val="3293267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908C7-28C5-4134-98B6-1AF1CD0246F9}"/>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88429200-6288-A071-69DE-DBA448E1021A}"/>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889D7286-91CE-FC7F-620E-1903F81076B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4C99C8B-F241-7E67-466E-A1FB21FB8816}"/>
              </a:ext>
            </a:extLst>
          </p:cNvPr>
          <p:cNvSpPr>
            <a:spLocks noGrp="1"/>
          </p:cNvSpPr>
          <p:nvPr>
            <p:ph type="sldNum" sz="quarter" idx="5"/>
          </p:nvPr>
        </p:nvSpPr>
        <p:spPr/>
        <p:txBody>
          <a:bodyPr/>
          <a:lstStyle/>
          <a:p>
            <a:pPr rtl="0"/>
            <a:fld id="{F97DC217-DF71-1A49-B3EA-559F1F43B0FF}" type="slidenum">
              <a:rPr lang="id-ID" smtClean="0"/>
              <a:t>5</a:t>
            </a:fld>
            <a:endParaRPr lang="id-ID"/>
          </a:p>
        </p:txBody>
      </p:sp>
    </p:spTree>
    <p:extLst>
      <p:ext uri="{BB962C8B-B14F-4D97-AF65-F5344CB8AC3E}">
        <p14:creationId xmlns:p14="http://schemas.microsoft.com/office/powerpoint/2010/main" val="2040530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6</a:t>
            </a:fld>
            <a:endParaRPr lang="id-ID"/>
          </a:p>
        </p:txBody>
      </p:sp>
    </p:spTree>
    <p:extLst>
      <p:ext uri="{BB962C8B-B14F-4D97-AF65-F5344CB8AC3E}">
        <p14:creationId xmlns:p14="http://schemas.microsoft.com/office/powerpoint/2010/main" val="1309841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DED19-6554-6E0B-5B51-1450829882A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4F5C460D-6A70-534A-DD3D-E2670BBE3762}"/>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EB904C7-47F1-2AC0-C97B-73C72738AB0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7E69038-FF26-A1BD-2214-951ACFB26ECA}"/>
              </a:ext>
            </a:extLst>
          </p:cNvPr>
          <p:cNvSpPr>
            <a:spLocks noGrp="1"/>
          </p:cNvSpPr>
          <p:nvPr>
            <p:ph type="sldNum" sz="quarter" idx="5"/>
          </p:nvPr>
        </p:nvSpPr>
        <p:spPr/>
        <p:txBody>
          <a:bodyPr/>
          <a:lstStyle/>
          <a:p>
            <a:pPr rtl="0"/>
            <a:fld id="{F97DC217-DF71-1A49-B3EA-559F1F43B0FF}" type="slidenum">
              <a:rPr lang="id-ID" smtClean="0"/>
              <a:t>7</a:t>
            </a:fld>
            <a:endParaRPr lang="id-ID"/>
          </a:p>
        </p:txBody>
      </p:sp>
    </p:spTree>
    <p:extLst>
      <p:ext uri="{BB962C8B-B14F-4D97-AF65-F5344CB8AC3E}">
        <p14:creationId xmlns:p14="http://schemas.microsoft.com/office/powerpoint/2010/main" val="1018746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8</a:t>
            </a:fld>
            <a:endParaRPr lang="id-ID"/>
          </a:p>
        </p:txBody>
      </p:sp>
    </p:spTree>
    <p:extLst>
      <p:ext uri="{BB962C8B-B14F-4D97-AF65-F5344CB8AC3E}">
        <p14:creationId xmlns:p14="http://schemas.microsoft.com/office/powerpoint/2010/main" val="1555156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1BF22-1BB9-D048-1CFB-3C1DF02758D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9256DC50-EC76-B917-E3B3-3FAAD82BD9D4}"/>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C39FD7C8-C3D3-B8D0-81C6-D3ECF4FBAE1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5E08082-2FC5-A1EF-C69E-7059E3797046}"/>
              </a:ext>
            </a:extLst>
          </p:cNvPr>
          <p:cNvSpPr>
            <a:spLocks noGrp="1"/>
          </p:cNvSpPr>
          <p:nvPr>
            <p:ph type="sldNum" sz="quarter" idx="5"/>
          </p:nvPr>
        </p:nvSpPr>
        <p:spPr/>
        <p:txBody>
          <a:bodyPr/>
          <a:lstStyle/>
          <a:p>
            <a:pPr rtl="0"/>
            <a:fld id="{F97DC217-DF71-1A49-B3EA-559F1F43B0FF}" type="slidenum">
              <a:rPr lang="id-ID" smtClean="0"/>
              <a:t>9</a:t>
            </a:fld>
            <a:endParaRPr lang="id-ID"/>
          </a:p>
        </p:txBody>
      </p:sp>
    </p:spTree>
    <p:extLst>
      <p:ext uri="{BB962C8B-B14F-4D97-AF65-F5344CB8AC3E}">
        <p14:creationId xmlns:p14="http://schemas.microsoft.com/office/powerpoint/2010/main" val="3671457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10</a:t>
            </a:fld>
            <a:endParaRPr lang="id-ID"/>
          </a:p>
        </p:txBody>
      </p:sp>
    </p:spTree>
    <p:extLst>
      <p:ext uri="{BB962C8B-B14F-4D97-AF65-F5344CB8AC3E}">
        <p14:creationId xmlns:p14="http://schemas.microsoft.com/office/powerpoint/2010/main" val="1032157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11</a:t>
            </a:fld>
            <a:endParaRPr lang="id-ID"/>
          </a:p>
        </p:txBody>
      </p:sp>
    </p:spTree>
    <p:extLst>
      <p:ext uri="{BB962C8B-B14F-4D97-AF65-F5344CB8AC3E}">
        <p14:creationId xmlns:p14="http://schemas.microsoft.com/office/powerpoint/2010/main" val="4266338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12</a:t>
            </a:fld>
            <a:endParaRPr lang="id-ID"/>
          </a:p>
        </p:txBody>
      </p:sp>
    </p:spTree>
    <p:extLst>
      <p:ext uri="{BB962C8B-B14F-4D97-AF65-F5344CB8AC3E}">
        <p14:creationId xmlns:p14="http://schemas.microsoft.com/office/powerpoint/2010/main" val="795855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13</a:t>
            </a:fld>
            <a:endParaRPr lang="id-ID"/>
          </a:p>
        </p:txBody>
      </p:sp>
    </p:spTree>
    <p:extLst>
      <p:ext uri="{BB962C8B-B14F-4D97-AF65-F5344CB8AC3E}">
        <p14:creationId xmlns:p14="http://schemas.microsoft.com/office/powerpoint/2010/main" val="1503017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14</a:t>
            </a:fld>
            <a:endParaRPr lang="id-ID"/>
          </a:p>
        </p:txBody>
      </p:sp>
    </p:spTree>
    <p:extLst>
      <p:ext uri="{BB962C8B-B14F-4D97-AF65-F5344CB8AC3E}">
        <p14:creationId xmlns:p14="http://schemas.microsoft.com/office/powerpoint/2010/main" val="3477681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15</a:t>
            </a:fld>
            <a:endParaRPr lang="id-ID"/>
          </a:p>
        </p:txBody>
      </p:sp>
    </p:spTree>
    <p:extLst>
      <p:ext uri="{BB962C8B-B14F-4D97-AF65-F5344CB8AC3E}">
        <p14:creationId xmlns:p14="http://schemas.microsoft.com/office/powerpoint/2010/main" val="637688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5B642-E96E-F3AC-CE7C-2EC3AD50A8A9}"/>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CE6463BE-1CE6-F75F-2C5B-80BF03B9ECD6}"/>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57C810DF-4682-6C66-B78F-B74B62A7DDA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D56A2654-792D-196C-61C7-16D5960B8092}"/>
              </a:ext>
            </a:extLst>
          </p:cNvPr>
          <p:cNvSpPr>
            <a:spLocks noGrp="1"/>
          </p:cNvSpPr>
          <p:nvPr>
            <p:ph type="sldNum" sz="quarter" idx="5"/>
          </p:nvPr>
        </p:nvSpPr>
        <p:spPr/>
        <p:txBody>
          <a:bodyPr/>
          <a:lstStyle/>
          <a:p>
            <a:pPr rtl="0"/>
            <a:fld id="{F97DC217-DF71-1A49-B3EA-559F1F43B0FF}" type="slidenum">
              <a:rPr lang="id-ID" smtClean="0"/>
              <a:t>16</a:t>
            </a:fld>
            <a:endParaRPr lang="id-ID"/>
          </a:p>
        </p:txBody>
      </p:sp>
    </p:spTree>
    <p:extLst>
      <p:ext uri="{BB962C8B-B14F-4D97-AF65-F5344CB8AC3E}">
        <p14:creationId xmlns:p14="http://schemas.microsoft.com/office/powerpoint/2010/main" val="2241906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68BB2-C2E2-5CDD-02ED-807960964D8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5CDB08F-4333-D090-A782-54EECD1EAD9F}"/>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2AB3753-3793-7CB2-896B-6B56E84C6477}"/>
              </a:ext>
            </a:extLst>
          </p:cNvPr>
          <p:cNvSpPr>
            <a:spLocks noGrp="1"/>
          </p:cNvSpPr>
          <p:nvPr>
            <p:ph type="body" idx="1"/>
          </p:nvPr>
        </p:nvSpPr>
        <p:spPr/>
        <p:txBody>
          <a:bodyPr/>
          <a:lstStyle/>
          <a:p>
            <a:r>
              <a:rPr lang="id-ID" dirty="0"/>
              <a:t>Artinya, ia secara cerdas hanya fokus mengembangkan bagian dari pohon keputusan yang paling menjanjikan untuk meningkatkan akurasi, sehingga proses pelatihan menjadi jauh lebih cepat. </a:t>
            </a:r>
            <a:endParaRPr lang="en-GB" dirty="0"/>
          </a:p>
          <a:p>
            <a:endParaRPr lang="en-GB" noProof="0" dirty="0"/>
          </a:p>
          <a:p>
            <a:pPr marL="0" lvl="0" indent="0">
              <a:buFont typeface="Arial" panose="020B0604020202020204" pitchFamily="34" charset="0"/>
              <a:buNone/>
            </a:pPr>
            <a:r>
              <a:rPr lang="id-ID" sz="2400" b="1" dirty="0"/>
              <a:t>GOSS (</a:t>
            </a:r>
            <a:r>
              <a:rPr lang="id-ID" sz="2400" b="1" dirty="0" err="1"/>
              <a:t>Gradient-based</a:t>
            </a:r>
            <a:r>
              <a:rPr lang="id-ID" sz="2400" b="1" dirty="0"/>
              <a:t> One-</a:t>
            </a:r>
            <a:r>
              <a:rPr lang="id-ID" sz="2400" b="1" dirty="0" err="1"/>
              <a:t>Side</a:t>
            </a:r>
            <a:r>
              <a:rPr lang="id-ID" sz="2400" b="1" dirty="0"/>
              <a:t> Sampling):</a:t>
            </a:r>
            <a:r>
              <a:rPr lang="id-ID" sz="2400" dirty="0"/>
              <a:t> Memprioritaskan data yang "sulit" diprediksi, sehingga proses belajar lebih efisien.</a:t>
            </a:r>
            <a:endParaRPr lang="en-GB" sz="2400" dirty="0"/>
          </a:p>
          <a:p>
            <a:pPr marL="0" lvl="0" indent="0">
              <a:buFont typeface="Arial" panose="020B0604020202020204" pitchFamily="34" charset="0"/>
              <a:buNone/>
            </a:pPr>
            <a:r>
              <a:rPr lang="id-ID" sz="2400" b="1" dirty="0"/>
              <a:t>EFB (</a:t>
            </a:r>
            <a:r>
              <a:rPr lang="id-ID" sz="2400" b="1" dirty="0" err="1"/>
              <a:t>Exclusive</a:t>
            </a:r>
            <a:r>
              <a:rPr lang="id-ID" sz="2400" b="1" dirty="0"/>
              <a:t> </a:t>
            </a:r>
            <a:r>
              <a:rPr lang="id-ID" sz="2400" b="1" dirty="0" err="1"/>
              <a:t>Feature</a:t>
            </a:r>
            <a:r>
              <a:rPr lang="id-ID" sz="2400" b="1" dirty="0"/>
              <a:t> </a:t>
            </a:r>
            <a:r>
              <a:rPr lang="id-ID" sz="2400" b="1" dirty="0" err="1"/>
              <a:t>Bundling</a:t>
            </a:r>
            <a:r>
              <a:rPr lang="id-ID" sz="2400" b="1" dirty="0"/>
              <a:t>):</a:t>
            </a:r>
            <a:r>
              <a:rPr lang="id-ID" sz="2400" dirty="0"/>
              <a:t> Menggabungkan banyak fitur menjadi satu untuk menyederhanakan data tanpa kehilangan informasi penting. (Ke </a:t>
            </a:r>
            <a:r>
              <a:rPr lang="id-ID" sz="2400" dirty="0" err="1"/>
              <a:t>et</a:t>
            </a:r>
            <a:r>
              <a:rPr lang="id-ID" sz="2400" dirty="0"/>
              <a:t> </a:t>
            </a:r>
            <a:r>
              <a:rPr lang="id-ID" sz="2400" dirty="0" err="1"/>
              <a:t>al.</a:t>
            </a:r>
            <a:r>
              <a:rPr lang="id-ID" sz="2400" dirty="0"/>
              <a:t>, 2017).</a:t>
            </a:r>
          </a:p>
          <a:p>
            <a:endParaRPr lang="id-ID" noProof="0" dirty="0"/>
          </a:p>
        </p:txBody>
      </p:sp>
      <p:sp>
        <p:nvSpPr>
          <p:cNvPr id="4" name="Tampungan Nomor Slide 3">
            <a:extLst>
              <a:ext uri="{FF2B5EF4-FFF2-40B4-BE49-F238E27FC236}">
                <a16:creationId xmlns:a16="http://schemas.microsoft.com/office/drawing/2014/main" id="{B8EE5080-9A1B-4540-8099-FDB6E7D61EE7}"/>
              </a:ext>
            </a:extLst>
          </p:cNvPr>
          <p:cNvSpPr>
            <a:spLocks noGrp="1"/>
          </p:cNvSpPr>
          <p:nvPr>
            <p:ph type="sldNum" sz="quarter" idx="5"/>
          </p:nvPr>
        </p:nvSpPr>
        <p:spPr/>
        <p:txBody>
          <a:bodyPr/>
          <a:lstStyle/>
          <a:p>
            <a:pPr rtl="0"/>
            <a:fld id="{F97DC217-DF71-1A49-B3EA-559F1F43B0FF}" type="slidenum">
              <a:rPr lang="id-ID" smtClean="0"/>
              <a:t>17</a:t>
            </a:fld>
            <a:endParaRPr lang="id-ID"/>
          </a:p>
        </p:txBody>
      </p:sp>
    </p:spTree>
    <p:extLst>
      <p:ext uri="{BB962C8B-B14F-4D97-AF65-F5344CB8AC3E}">
        <p14:creationId xmlns:p14="http://schemas.microsoft.com/office/powerpoint/2010/main" val="31994778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CE7C0-8485-8FB6-E5B2-19CC6B45686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19CFBF1-15A7-5650-F008-D8C9767CB23A}"/>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31A8D515-7FEB-4CB3-92A8-ABE517A49D2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42551A57-F930-238C-7531-04329F3790D1}"/>
              </a:ext>
            </a:extLst>
          </p:cNvPr>
          <p:cNvSpPr>
            <a:spLocks noGrp="1"/>
          </p:cNvSpPr>
          <p:nvPr>
            <p:ph type="sldNum" sz="quarter" idx="5"/>
          </p:nvPr>
        </p:nvSpPr>
        <p:spPr/>
        <p:txBody>
          <a:bodyPr/>
          <a:lstStyle/>
          <a:p>
            <a:pPr rtl="0"/>
            <a:fld id="{F97DC217-DF71-1A49-B3EA-559F1F43B0FF}" type="slidenum">
              <a:rPr lang="id-ID" smtClean="0"/>
              <a:t>18</a:t>
            </a:fld>
            <a:endParaRPr lang="id-ID"/>
          </a:p>
        </p:txBody>
      </p:sp>
    </p:spTree>
    <p:extLst>
      <p:ext uri="{BB962C8B-B14F-4D97-AF65-F5344CB8AC3E}">
        <p14:creationId xmlns:p14="http://schemas.microsoft.com/office/powerpoint/2010/main" val="31920302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C3610-AE0C-E7E8-6875-AE49D5F06AEF}"/>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C4FAC29-166F-B881-F2B5-5CCA2D892024}"/>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B758528-43E1-EE64-53B8-A4CB3F638399}"/>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40B2A00-D867-5F54-D38D-3D9AEE1426CB}"/>
              </a:ext>
            </a:extLst>
          </p:cNvPr>
          <p:cNvSpPr>
            <a:spLocks noGrp="1"/>
          </p:cNvSpPr>
          <p:nvPr>
            <p:ph type="sldNum" sz="quarter" idx="5"/>
          </p:nvPr>
        </p:nvSpPr>
        <p:spPr/>
        <p:txBody>
          <a:bodyPr/>
          <a:lstStyle/>
          <a:p>
            <a:pPr rtl="0"/>
            <a:fld id="{F97DC217-DF71-1A49-B3EA-559F1F43B0FF}" type="slidenum">
              <a:rPr lang="id-ID" smtClean="0"/>
              <a:t>19</a:t>
            </a:fld>
            <a:endParaRPr lang="id-ID"/>
          </a:p>
        </p:txBody>
      </p:sp>
    </p:spTree>
    <p:extLst>
      <p:ext uri="{BB962C8B-B14F-4D97-AF65-F5344CB8AC3E}">
        <p14:creationId xmlns:p14="http://schemas.microsoft.com/office/powerpoint/2010/main" val="1970121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CDD3-D619-3003-737A-208C29D20E3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28815292-BE2F-B556-3E72-C8F09921B6CD}"/>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C8E3ECB8-9217-22FC-BCBA-69F1959117A9}"/>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65297C8-0039-112C-41E4-91778F40B8BA}"/>
              </a:ext>
            </a:extLst>
          </p:cNvPr>
          <p:cNvSpPr>
            <a:spLocks noGrp="1"/>
          </p:cNvSpPr>
          <p:nvPr>
            <p:ph type="sldNum" sz="quarter" idx="5"/>
          </p:nvPr>
        </p:nvSpPr>
        <p:spPr/>
        <p:txBody>
          <a:bodyPr/>
          <a:lstStyle/>
          <a:p>
            <a:pPr rtl="0"/>
            <a:fld id="{F97DC217-DF71-1A49-B3EA-559F1F43B0FF}" type="slidenum">
              <a:rPr lang="id-ID" smtClean="0"/>
              <a:t>20</a:t>
            </a:fld>
            <a:endParaRPr lang="id-ID"/>
          </a:p>
        </p:txBody>
      </p:sp>
    </p:spTree>
    <p:extLst>
      <p:ext uri="{BB962C8B-B14F-4D97-AF65-F5344CB8AC3E}">
        <p14:creationId xmlns:p14="http://schemas.microsoft.com/office/powerpoint/2010/main" val="1026372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21</a:t>
            </a:fld>
            <a:endParaRPr lang="id-ID"/>
          </a:p>
        </p:txBody>
      </p:sp>
    </p:spTree>
    <p:extLst>
      <p:ext uri="{BB962C8B-B14F-4D97-AF65-F5344CB8AC3E}">
        <p14:creationId xmlns:p14="http://schemas.microsoft.com/office/powerpoint/2010/main" val="1470767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D1D70-0EE9-9C20-B06A-E91ABA709CA2}"/>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808DCA60-BA37-5704-C129-92DE099A28CC}"/>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A219A069-7CD1-AAA2-17D9-25CDF032D63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26697DF-CCC5-BF8A-43FC-7446083B5373}"/>
              </a:ext>
            </a:extLst>
          </p:cNvPr>
          <p:cNvSpPr>
            <a:spLocks noGrp="1"/>
          </p:cNvSpPr>
          <p:nvPr>
            <p:ph type="sldNum" sz="quarter" idx="5"/>
          </p:nvPr>
        </p:nvSpPr>
        <p:spPr/>
        <p:txBody>
          <a:bodyPr/>
          <a:lstStyle/>
          <a:p>
            <a:pPr rtl="0"/>
            <a:fld id="{F97DC217-DF71-1A49-B3EA-559F1F43B0FF}" type="slidenum">
              <a:rPr lang="id-ID" smtClean="0"/>
              <a:t>22</a:t>
            </a:fld>
            <a:endParaRPr lang="id-ID"/>
          </a:p>
        </p:txBody>
      </p:sp>
    </p:spTree>
    <p:extLst>
      <p:ext uri="{BB962C8B-B14F-4D97-AF65-F5344CB8AC3E}">
        <p14:creationId xmlns:p14="http://schemas.microsoft.com/office/powerpoint/2010/main" val="2164924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23</a:t>
            </a:fld>
            <a:endParaRPr lang="id-ID"/>
          </a:p>
        </p:txBody>
      </p:sp>
    </p:spTree>
    <p:extLst>
      <p:ext uri="{BB962C8B-B14F-4D97-AF65-F5344CB8AC3E}">
        <p14:creationId xmlns:p14="http://schemas.microsoft.com/office/powerpoint/2010/main" val="7035961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24</a:t>
            </a:fld>
            <a:endParaRPr lang="id-ID"/>
          </a:p>
        </p:txBody>
      </p:sp>
    </p:spTree>
    <p:extLst>
      <p:ext uri="{BB962C8B-B14F-4D97-AF65-F5344CB8AC3E}">
        <p14:creationId xmlns:p14="http://schemas.microsoft.com/office/powerpoint/2010/main" val="4893427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5439-F528-C9F8-617A-3E7C9C1C2DC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BA294DF9-E5FF-4D74-7B2E-C7982680D599}"/>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94526192-A667-2915-69F7-819675CE4A9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52B468E-851E-6FE0-22FF-1C0E0CED9651}"/>
              </a:ext>
            </a:extLst>
          </p:cNvPr>
          <p:cNvSpPr>
            <a:spLocks noGrp="1"/>
          </p:cNvSpPr>
          <p:nvPr>
            <p:ph type="sldNum" sz="quarter" idx="5"/>
          </p:nvPr>
        </p:nvSpPr>
        <p:spPr/>
        <p:txBody>
          <a:bodyPr/>
          <a:lstStyle/>
          <a:p>
            <a:pPr rtl="0"/>
            <a:fld id="{F97DC217-DF71-1A49-B3EA-559F1F43B0FF}" type="slidenum">
              <a:rPr lang="id-ID" smtClean="0"/>
              <a:t>25</a:t>
            </a:fld>
            <a:endParaRPr lang="id-ID"/>
          </a:p>
        </p:txBody>
      </p:sp>
    </p:spTree>
    <p:extLst>
      <p:ext uri="{BB962C8B-B14F-4D97-AF65-F5344CB8AC3E}">
        <p14:creationId xmlns:p14="http://schemas.microsoft.com/office/powerpoint/2010/main" val="2603068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D89C-B690-A796-4E3C-6079A0FE00C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6B5E138-7104-B3DC-CAF2-E87F915CAC8A}"/>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DEB677B7-B677-C40C-6ADB-7A65369B712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A8ADE3DD-9DE8-53F4-24CF-C5A7C66E968C}"/>
              </a:ext>
            </a:extLst>
          </p:cNvPr>
          <p:cNvSpPr>
            <a:spLocks noGrp="1"/>
          </p:cNvSpPr>
          <p:nvPr>
            <p:ph type="sldNum" sz="quarter" idx="5"/>
          </p:nvPr>
        </p:nvSpPr>
        <p:spPr/>
        <p:txBody>
          <a:bodyPr/>
          <a:lstStyle/>
          <a:p>
            <a:pPr rtl="0"/>
            <a:fld id="{F97DC217-DF71-1A49-B3EA-559F1F43B0FF}" type="slidenum">
              <a:rPr lang="id-ID" smtClean="0"/>
              <a:t>26</a:t>
            </a:fld>
            <a:endParaRPr lang="id-ID"/>
          </a:p>
        </p:txBody>
      </p:sp>
    </p:spTree>
    <p:extLst>
      <p:ext uri="{BB962C8B-B14F-4D97-AF65-F5344CB8AC3E}">
        <p14:creationId xmlns:p14="http://schemas.microsoft.com/office/powerpoint/2010/main" val="26349288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90211-764B-4EAC-FF47-6516B1CC955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6F14309-87D3-0121-9556-F254FC28ED5C}"/>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8CD41A5C-D351-E5B7-C753-5C1B42BEA782}"/>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27DFFD7-B7D3-61EF-4338-FB4B7891A8E2}"/>
              </a:ext>
            </a:extLst>
          </p:cNvPr>
          <p:cNvSpPr>
            <a:spLocks noGrp="1"/>
          </p:cNvSpPr>
          <p:nvPr>
            <p:ph type="sldNum" sz="quarter" idx="5"/>
          </p:nvPr>
        </p:nvSpPr>
        <p:spPr/>
        <p:txBody>
          <a:bodyPr/>
          <a:lstStyle/>
          <a:p>
            <a:pPr rtl="0"/>
            <a:fld id="{F97DC217-DF71-1A49-B3EA-559F1F43B0FF}" type="slidenum">
              <a:rPr lang="id-ID" smtClean="0"/>
              <a:t>27</a:t>
            </a:fld>
            <a:endParaRPr lang="id-ID"/>
          </a:p>
        </p:txBody>
      </p:sp>
    </p:spTree>
    <p:extLst>
      <p:ext uri="{BB962C8B-B14F-4D97-AF65-F5344CB8AC3E}">
        <p14:creationId xmlns:p14="http://schemas.microsoft.com/office/powerpoint/2010/main" val="39927369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9BCE0-D336-47AD-F7C0-374032E4468E}"/>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C341FEB5-7B8B-71A9-8DE5-B86C4681D45B}"/>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98F0F74F-26DB-6779-D7EC-36ED761761E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28C77B3E-837A-BE78-4F82-A56D9E632FEF}"/>
              </a:ext>
            </a:extLst>
          </p:cNvPr>
          <p:cNvSpPr>
            <a:spLocks noGrp="1"/>
          </p:cNvSpPr>
          <p:nvPr>
            <p:ph type="sldNum" sz="quarter" idx="5"/>
          </p:nvPr>
        </p:nvSpPr>
        <p:spPr/>
        <p:txBody>
          <a:bodyPr/>
          <a:lstStyle/>
          <a:p>
            <a:pPr rtl="0"/>
            <a:fld id="{F97DC217-DF71-1A49-B3EA-559F1F43B0FF}" type="slidenum">
              <a:rPr lang="id-ID" smtClean="0"/>
              <a:t>28</a:t>
            </a:fld>
            <a:endParaRPr lang="id-ID"/>
          </a:p>
        </p:txBody>
      </p:sp>
    </p:spTree>
    <p:extLst>
      <p:ext uri="{BB962C8B-B14F-4D97-AF65-F5344CB8AC3E}">
        <p14:creationId xmlns:p14="http://schemas.microsoft.com/office/powerpoint/2010/main" val="39175286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72E0A-B47E-ADA2-7092-A7D88F03EAF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D33C963-3E42-4629-051A-091E21641120}"/>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52EEF541-9E86-4263-8966-E19C1D4C9FC0}"/>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2B9A8D8E-00C7-910D-0880-AABDD79E4AF3}"/>
              </a:ext>
            </a:extLst>
          </p:cNvPr>
          <p:cNvSpPr>
            <a:spLocks noGrp="1"/>
          </p:cNvSpPr>
          <p:nvPr>
            <p:ph type="sldNum" sz="quarter" idx="5"/>
          </p:nvPr>
        </p:nvSpPr>
        <p:spPr/>
        <p:txBody>
          <a:bodyPr/>
          <a:lstStyle/>
          <a:p>
            <a:pPr rtl="0"/>
            <a:fld id="{F97DC217-DF71-1A49-B3EA-559F1F43B0FF}" type="slidenum">
              <a:rPr lang="id-ID" smtClean="0"/>
              <a:t>29</a:t>
            </a:fld>
            <a:endParaRPr lang="id-ID"/>
          </a:p>
        </p:txBody>
      </p:sp>
    </p:spTree>
    <p:extLst>
      <p:ext uri="{BB962C8B-B14F-4D97-AF65-F5344CB8AC3E}">
        <p14:creationId xmlns:p14="http://schemas.microsoft.com/office/powerpoint/2010/main" val="7860656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5941-93D6-22D7-778A-7F9020D2F746}"/>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313BDA59-7232-7AF6-E107-73EDDCD14DA6}"/>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0D87C007-E26F-30E0-7EA1-992951E4410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CD7F52F-D68F-53CA-3834-6153DA965CA0}"/>
              </a:ext>
            </a:extLst>
          </p:cNvPr>
          <p:cNvSpPr>
            <a:spLocks noGrp="1"/>
          </p:cNvSpPr>
          <p:nvPr>
            <p:ph type="sldNum" sz="quarter" idx="5"/>
          </p:nvPr>
        </p:nvSpPr>
        <p:spPr/>
        <p:txBody>
          <a:bodyPr/>
          <a:lstStyle/>
          <a:p>
            <a:pPr rtl="0"/>
            <a:fld id="{F97DC217-DF71-1A49-B3EA-559F1F43B0FF}" type="slidenum">
              <a:rPr lang="id-ID" smtClean="0"/>
              <a:t>30</a:t>
            </a:fld>
            <a:endParaRPr lang="id-ID"/>
          </a:p>
        </p:txBody>
      </p:sp>
    </p:spTree>
    <p:extLst>
      <p:ext uri="{BB962C8B-B14F-4D97-AF65-F5344CB8AC3E}">
        <p14:creationId xmlns:p14="http://schemas.microsoft.com/office/powerpoint/2010/main" val="37190198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2528E-01A3-8932-F7D1-5561586E1D3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AD7C0F25-0882-5417-F0A3-1884916465C6}"/>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ACB3AAC4-B4C4-9F75-7545-66FF2AA70C5C}"/>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91AC4680-DE4E-5A73-AFB9-69DC21430456}"/>
              </a:ext>
            </a:extLst>
          </p:cNvPr>
          <p:cNvSpPr>
            <a:spLocks noGrp="1"/>
          </p:cNvSpPr>
          <p:nvPr>
            <p:ph type="sldNum" sz="quarter" idx="5"/>
          </p:nvPr>
        </p:nvSpPr>
        <p:spPr/>
        <p:txBody>
          <a:bodyPr/>
          <a:lstStyle/>
          <a:p>
            <a:pPr rtl="0"/>
            <a:fld id="{F97DC217-DF71-1A49-B3EA-559F1F43B0FF}" type="slidenum">
              <a:rPr lang="id-ID" smtClean="0"/>
              <a:t>31</a:t>
            </a:fld>
            <a:endParaRPr lang="id-ID"/>
          </a:p>
        </p:txBody>
      </p:sp>
    </p:spTree>
    <p:extLst>
      <p:ext uri="{BB962C8B-B14F-4D97-AF65-F5344CB8AC3E}">
        <p14:creationId xmlns:p14="http://schemas.microsoft.com/office/powerpoint/2010/main" val="1044268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119E-4305-014B-DE9E-D6917A338D3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5DCA40F-66AF-8481-8543-A849CDB2D73E}"/>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4272AE8A-16A2-27E8-04EC-6230D3DB04C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7A77A437-2786-2249-CF46-DC33E247C06E}"/>
              </a:ext>
            </a:extLst>
          </p:cNvPr>
          <p:cNvSpPr>
            <a:spLocks noGrp="1"/>
          </p:cNvSpPr>
          <p:nvPr>
            <p:ph type="sldNum" sz="quarter" idx="5"/>
          </p:nvPr>
        </p:nvSpPr>
        <p:spPr/>
        <p:txBody>
          <a:bodyPr/>
          <a:lstStyle/>
          <a:p>
            <a:pPr rtl="0"/>
            <a:fld id="{F97DC217-DF71-1A49-B3EA-559F1F43B0FF}" type="slidenum">
              <a:rPr lang="id-ID" smtClean="0"/>
              <a:t>32</a:t>
            </a:fld>
            <a:endParaRPr lang="id-ID"/>
          </a:p>
        </p:txBody>
      </p:sp>
    </p:spTree>
    <p:extLst>
      <p:ext uri="{BB962C8B-B14F-4D97-AF65-F5344CB8AC3E}">
        <p14:creationId xmlns:p14="http://schemas.microsoft.com/office/powerpoint/2010/main" val="15500669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439D-674D-C236-9633-5371730E780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9408B588-1FB4-FD9F-C2C6-4718EF3E5E13}"/>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DEE01510-8F6F-E6A0-5E53-495E65B8247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6C82CF88-91AD-5738-33C3-321E2F45F4C6}"/>
              </a:ext>
            </a:extLst>
          </p:cNvPr>
          <p:cNvSpPr>
            <a:spLocks noGrp="1"/>
          </p:cNvSpPr>
          <p:nvPr>
            <p:ph type="sldNum" sz="quarter" idx="5"/>
          </p:nvPr>
        </p:nvSpPr>
        <p:spPr/>
        <p:txBody>
          <a:bodyPr/>
          <a:lstStyle/>
          <a:p>
            <a:pPr rtl="0"/>
            <a:fld id="{F97DC217-DF71-1A49-B3EA-559F1F43B0FF}" type="slidenum">
              <a:rPr lang="id-ID" smtClean="0"/>
              <a:t>33</a:t>
            </a:fld>
            <a:endParaRPr lang="id-ID"/>
          </a:p>
        </p:txBody>
      </p:sp>
    </p:spTree>
    <p:extLst>
      <p:ext uri="{BB962C8B-B14F-4D97-AF65-F5344CB8AC3E}">
        <p14:creationId xmlns:p14="http://schemas.microsoft.com/office/powerpoint/2010/main" val="12105686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B9EE2-167E-D4C8-EC22-326E0995E4C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8CAEB46-7F40-C9D6-C46A-38634825FD41}"/>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07242E6-A002-FE96-6844-7D9AEF1494B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AA72506-3B12-B846-2590-F03825AD956E}"/>
              </a:ext>
            </a:extLst>
          </p:cNvPr>
          <p:cNvSpPr>
            <a:spLocks noGrp="1"/>
          </p:cNvSpPr>
          <p:nvPr>
            <p:ph type="sldNum" sz="quarter" idx="5"/>
          </p:nvPr>
        </p:nvSpPr>
        <p:spPr/>
        <p:txBody>
          <a:bodyPr/>
          <a:lstStyle/>
          <a:p>
            <a:pPr rtl="0"/>
            <a:fld id="{F97DC217-DF71-1A49-B3EA-559F1F43B0FF}" type="slidenum">
              <a:rPr lang="id-ID" smtClean="0"/>
              <a:t>34</a:t>
            </a:fld>
            <a:endParaRPr lang="id-ID"/>
          </a:p>
        </p:txBody>
      </p:sp>
    </p:spTree>
    <p:extLst>
      <p:ext uri="{BB962C8B-B14F-4D97-AF65-F5344CB8AC3E}">
        <p14:creationId xmlns:p14="http://schemas.microsoft.com/office/powerpoint/2010/main" val="40853459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FFF8E-7334-E664-1451-44867703DF1D}"/>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EBAB831-2069-4E20-A1C2-FEAC2D8E618A}"/>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CC93C6A6-F72C-4B5B-77E3-C03395C5E2E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3A4390D-8C93-C7FC-78E6-16C11273F5E3}"/>
              </a:ext>
            </a:extLst>
          </p:cNvPr>
          <p:cNvSpPr>
            <a:spLocks noGrp="1"/>
          </p:cNvSpPr>
          <p:nvPr>
            <p:ph type="sldNum" sz="quarter" idx="5"/>
          </p:nvPr>
        </p:nvSpPr>
        <p:spPr/>
        <p:txBody>
          <a:bodyPr/>
          <a:lstStyle/>
          <a:p>
            <a:pPr rtl="0"/>
            <a:fld id="{F97DC217-DF71-1A49-B3EA-559F1F43B0FF}" type="slidenum">
              <a:rPr lang="id-ID" smtClean="0"/>
              <a:t>35</a:t>
            </a:fld>
            <a:endParaRPr lang="id-ID"/>
          </a:p>
        </p:txBody>
      </p:sp>
    </p:spTree>
    <p:extLst>
      <p:ext uri="{BB962C8B-B14F-4D97-AF65-F5344CB8AC3E}">
        <p14:creationId xmlns:p14="http://schemas.microsoft.com/office/powerpoint/2010/main" val="18351677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AD8C5-4CF4-6749-E9FB-5408E634A2FC}"/>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E2448875-8F60-9C85-958F-489665C78802}"/>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901348A7-D2CD-5E25-4F5F-1DAEB9A964E8}"/>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15696AD-2420-8DAD-93B1-C535D6F52097}"/>
              </a:ext>
            </a:extLst>
          </p:cNvPr>
          <p:cNvSpPr>
            <a:spLocks noGrp="1"/>
          </p:cNvSpPr>
          <p:nvPr>
            <p:ph type="sldNum" sz="quarter" idx="5"/>
          </p:nvPr>
        </p:nvSpPr>
        <p:spPr/>
        <p:txBody>
          <a:bodyPr/>
          <a:lstStyle/>
          <a:p>
            <a:pPr rtl="0"/>
            <a:fld id="{F97DC217-DF71-1A49-B3EA-559F1F43B0FF}" type="slidenum">
              <a:rPr lang="id-ID" smtClean="0"/>
              <a:t>36</a:t>
            </a:fld>
            <a:endParaRPr lang="id-ID"/>
          </a:p>
        </p:txBody>
      </p:sp>
    </p:spTree>
    <p:extLst>
      <p:ext uri="{BB962C8B-B14F-4D97-AF65-F5344CB8AC3E}">
        <p14:creationId xmlns:p14="http://schemas.microsoft.com/office/powerpoint/2010/main" val="25151626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AF97-7D97-5DF0-31D2-CC82E45C04B6}"/>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DDB06406-8AE3-C2BD-1AC3-018C2D32C525}"/>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CC2614E9-C83E-7B6A-FF56-9E912B69A35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CFA049CF-B1AD-5D25-BE5E-779B045E3A71}"/>
              </a:ext>
            </a:extLst>
          </p:cNvPr>
          <p:cNvSpPr>
            <a:spLocks noGrp="1"/>
          </p:cNvSpPr>
          <p:nvPr>
            <p:ph type="sldNum" sz="quarter" idx="5"/>
          </p:nvPr>
        </p:nvSpPr>
        <p:spPr/>
        <p:txBody>
          <a:bodyPr/>
          <a:lstStyle/>
          <a:p>
            <a:pPr rtl="0"/>
            <a:fld id="{F97DC217-DF71-1A49-B3EA-559F1F43B0FF}" type="slidenum">
              <a:rPr lang="id-ID" smtClean="0"/>
              <a:t>37</a:t>
            </a:fld>
            <a:endParaRPr lang="id-ID"/>
          </a:p>
        </p:txBody>
      </p:sp>
    </p:spTree>
    <p:extLst>
      <p:ext uri="{BB962C8B-B14F-4D97-AF65-F5344CB8AC3E}">
        <p14:creationId xmlns:p14="http://schemas.microsoft.com/office/powerpoint/2010/main" val="2085826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D26C8-FD8A-C306-DC48-F2D169CC569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CF4EA69A-18CF-FC87-03EF-0E0726272AE6}"/>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5C9151C-A0BA-E6DF-5398-D68266CC464F}"/>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3F35CD2-BFCA-4289-0FF4-96459504F2C9}"/>
              </a:ext>
            </a:extLst>
          </p:cNvPr>
          <p:cNvSpPr>
            <a:spLocks noGrp="1"/>
          </p:cNvSpPr>
          <p:nvPr>
            <p:ph type="sldNum" sz="quarter" idx="5"/>
          </p:nvPr>
        </p:nvSpPr>
        <p:spPr/>
        <p:txBody>
          <a:bodyPr/>
          <a:lstStyle/>
          <a:p>
            <a:pPr rtl="0"/>
            <a:fld id="{F97DC217-DF71-1A49-B3EA-559F1F43B0FF}" type="slidenum">
              <a:rPr lang="id-ID" smtClean="0"/>
              <a:t>38</a:t>
            </a:fld>
            <a:endParaRPr lang="id-ID"/>
          </a:p>
        </p:txBody>
      </p:sp>
    </p:spTree>
    <p:extLst>
      <p:ext uri="{BB962C8B-B14F-4D97-AF65-F5344CB8AC3E}">
        <p14:creationId xmlns:p14="http://schemas.microsoft.com/office/powerpoint/2010/main" val="27118049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3C1A8-6EE9-5B54-A5E4-25B36182E9B1}"/>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12E7BC13-7735-1E0E-D7FB-C9210CF743E7}"/>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F877C148-41E4-3DC4-4E3D-1954CDEBEB7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4C42AD99-08F0-D27A-9795-64DB5FBEE859}"/>
              </a:ext>
            </a:extLst>
          </p:cNvPr>
          <p:cNvSpPr>
            <a:spLocks noGrp="1"/>
          </p:cNvSpPr>
          <p:nvPr>
            <p:ph type="sldNum" sz="quarter" idx="5"/>
          </p:nvPr>
        </p:nvSpPr>
        <p:spPr/>
        <p:txBody>
          <a:bodyPr/>
          <a:lstStyle/>
          <a:p>
            <a:pPr rtl="0"/>
            <a:fld id="{F97DC217-DF71-1A49-B3EA-559F1F43B0FF}" type="slidenum">
              <a:rPr lang="id-ID" smtClean="0"/>
              <a:t>39</a:t>
            </a:fld>
            <a:endParaRPr lang="id-ID"/>
          </a:p>
        </p:txBody>
      </p:sp>
    </p:spTree>
    <p:extLst>
      <p:ext uri="{BB962C8B-B14F-4D97-AF65-F5344CB8AC3E}">
        <p14:creationId xmlns:p14="http://schemas.microsoft.com/office/powerpoint/2010/main" val="168652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1B481-9955-5181-0D03-58EC08B5DAD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BFA161BD-6452-3C97-C91E-9341F0B5AA2E}"/>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53921B9F-B4A0-B453-4024-30E3071DEBCD}"/>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F01B012A-C5DB-6D2C-E0CD-C41B447F9749}"/>
              </a:ext>
            </a:extLst>
          </p:cNvPr>
          <p:cNvSpPr>
            <a:spLocks noGrp="1"/>
          </p:cNvSpPr>
          <p:nvPr>
            <p:ph type="sldNum" sz="quarter" idx="5"/>
          </p:nvPr>
        </p:nvSpPr>
        <p:spPr/>
        <p:txBody>
          <a:bodyPr/>
          <a:lstStyle/>
          <a:p>
            <a:pPr rtl="0"/>
            <a:fld id="{F97DC217-DF71-1A49-B3EA-559F1F43B0FF}" type="slidenum">
              <a:rPr lang="id-ID" smtClean="0"/>
              <a:t>40</a:t>
            </a:fld>
            <a:endParaRPr lang="id-ID"/>
          </a:p>
        </p:txBody>
      </p:sp>
    </p:spTree>
    <p:extLst>
      <p:ext uri="{BB962C8B-B14F-4D97-AF65-F5344CB8AC3E}">
        <p14:creationId xmlns:p14="http://schemas.microsoft.com/office/powerpoint/2010/main" val="37025675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C66E8-331F-3500-B58B-B8286E88200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91C5FE6-6A08-FC44-FBFD-5CA5AC40EDB5}"/>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EF736B2A-5E93-F5CC-7842-0D6ACD82410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0E78D92-CE9F-5C01-0C8F-137BF6AE02B2}"/>
              </a:ext>
            </a:extLst>
          </p:cNvPr>
          <p:cNvSpPr>
            <a:spLocks noGrp="1"/>
          </p:cNvSpPr>
          <p:nvPr>
            <p:ph type="sldNum" sz="quarter" idx="5"/>
          </p:nvPr>
        </p:nvSpPr>
        <p:spPr/>
        <p:txBody>
          <a:bodyPr/>
          <a:lstStyle/>
          <a:p>
            <a:pPr rtl="0"/>
            <a:fld id="{F97DC217-DF71-1A49-B3EA-559F1F43B0FF}" type="slidenum">
              <a:rPr lang="id-ID" smtClean="0"/>
              <a:t>41</a:t>
            </a:fld>
            <a:endParaRPr lang="id-ID"/>
          </a:p>
        </p:txBody>
      </p:sp>
    </p:spTree>
    <p:extLst>
      <p:ext uri="{BB962C8B-B14F-4D97-AF65-F5344CB8AC3E}">
        <p14:creationId xmlns:p14="http://schemas.microsoft.com/office/powerpoint/2010/main" val="41611473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03B4-6316-C102-28B7-9ADB255EC9C7}"/>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9C0BF52-47B2-E7BD-E86B-1FF8D53E4D4F}"/>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A2AAC926-FE1F-8617-9C70-B0414184125C}"/>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782E922-B454-2233-09B6-A44F9EA42665}"/>
              </a:ext>
            </a:extLst>
          </p:cNvPr>
          <p:cNvSpPr>
            <a:spLocks noGrp="1"/>
          </p:cNvSpPr>
          <p:nvPr>
            <p:ph type="sldNum" sz="quarter" idx="5"/>
          </p:nvPr>
        </p:nvSpPr>
        <p:spPr/>
        <p:txBody>
          <a:bodyPr/>
          <a:lstStyle/>
          <a:p>
            <a:pPr rtl="0"/>
            <a:fld id="{F97DC217-DF71-1A49-B3EA-559F1F43B0FF}" type="slidenum">
              <a:rPr lang="id-ID" smtClean="0"/>
              <a:t>42</a:t>
            </a:fld>
            <a:endParaRPr lang="id-ID"/>
          </a:p>
        </p:txBody>
      </p:sp>
    </p:spTree>
    <p:extLst>
      <p:ext uri="{BB962C8B-B14F-4D97-AF65-F5344CB8AC3E}">
        <p14:creationId xmlns:p14="http://schemas.microsoft.com/office/powerpoint/2010/main" val="25197612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AA36F-8F5F-CFDD-31F7-9137D49313A8}"/>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EFF86C6-4B65-6F3E-E927-608F341232A3}"/>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DDA4D57-870C-4707-2658-EB91E685663B}"/>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B7A168FC-C52D-C956-8E2F-87F3D4B9CE56}"/>
              </a:ext>
            </a:extLst>
          </p:cNvPr>
          <p:cNvSpPr>
            <a:spLocks noGrp="1"/>
          </p:cNvSpPr>
          <p:nvPr>
            <p:ph type="sldNum" sz="quarter" idx="5"/>
          </p:nvPr>
        </p:nvSpPr>
        <p:spPr/>
        <p:txBody>
          <a:bodyPr/>
          <a:lstStyle/>
          <a:p>
            <a:pPr rtl="0"/>
            <a:fld id="{F97DC217-DF71-1A49-B3EA-559F1F43B0FF}" type="slidenum">
              <a:rPr lang="id-ID" smtClean="0"/>
              <a:t>43</a:t>
            </a:fld>
            <a:endParaRPr lang="id-ID"/>
          </a:p>
        </p:txBody>
      </p:sp>
    </p:spTree>
    <p:extLst>
      <p:ext uri="{BB962C8B-B14F-4D97-AF65-F5344CB8AC3E}">
        <p14:creationId xmlns:p14="http://schemas.microsoft.com/office/powerpoint/2010/main" val="16988831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340DB-EE9E-9A90-4778-D60C17B8CA93}"/>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572379B-194F-E5F5-BCC4-F21A7764649C}"/>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89E95FE7-E790-DC5D-0A90-3D04BB5DBDB4}"/>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97DE9D11-7D05-B9D2-B356-F098222E1D04}"/>
              </a:ext>
            </a:extLst>
          </p:cNvPr>
          <p:cNvSpPr>
            <a:spLocks noGrp="1"/>
          </p:cNvSpPr>
          <p:nvPr>
            <p:ph type="sldNum" sz="quarter" idx="5"/>
          </p:nvPr>
        </p:nvSpPr>
        <p:spPr/>
        <p:txBody>
          <a:bodyPr/>
          <a:lstStyle/>
          <a:p>
            <a:pPr rtl="0"/>
            <a:fld id="{F97DC217-DF71-1A49-B3EA-559F1F43B0FF}" type="slidenum">
              <a:rPr lang="id-ID" smtClean="0"/>
              <a:t>44</a:t>
            </a:fld>
            <a:endParaRPr lang="id-ID"/>
          </a:p>
        </p:txBody>
      </p:sp>
    </p:spTree>
    <p:extLst>
      <p:ext uri="{BB962C8B-B14F-4D97-AF65-F5344CB8AC3E}">
        <p14:creationId xmlns:p14="http://schemas.microsoft.com/office/powerpoint/2010/main" val="20410992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FA241-315C-BFE1-228C-C626423CD47A}"/>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3615B18-9894-3F87-B777-8FA6D17BEF0F}"/>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4F81AF09-3E20-0B34-B4D8-A61E0C5205B3}"/>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81633049-C026-673E-7408-1D4719F7AD8B}"/>
              </a:ext>
            </a:extLst>
          </p:cNvPr>
          <p:cNvSpPr>
            <a:spLocks noGrp="1"/>
          </p:cNvSpPr>
          <p:nvPr>
            <p:ph type="sldNum" sz="quarter" idx="5"/>
          </p:nvPr>
        </p:nvSpPr>
        <p:spPr/>
        <p:txBody>
          <a:bodyPr/>
          <a:lstStyle/>
          <a:p>
            <a:pPr rtl="0"/>
            <a:fld id="{F97DC217-DF71-1A49-B3EA-559F1F43B0FF}" type="slidenum">
              <a:rPr lang="id-ID" smtClean="0"/>
              <a:t>45</a:t>
            </a:fld>
            <a:endParaRPr lang="id-ID"/>
          </a:p>
        </p:txBody>
      </p:sp>
    </p:spTree>
    <p:extLst>
      <p:ext uri="{BB962C8B-B14F-4D97-AF65-F5344CB8AC3E}">
        <p14:creationId xmlns:p14="http://schemas.microsoft.com/office/powerpoint/2010/main" val="11350328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16ABD-58D7-D3BF-5618-1F8C1854ADA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3F813811-677F-71EE-248A-88DD3CC3CDFD}"/>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C9C09096-B74A-0C24-08A2-E49920DB3871}"/>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89B0DAA-1B6F-8563-B3B1-A285E576ECE6}"/>
              </a:ext>
            </a:extLst>
          </p:cNvPr>
          <p:cNvSpPr>
            <a:spLocks noGrp="1"/>
          </p:cNvSpPr>
          <p:nvPr>
            <p:ph type="sldNum" sz="quarter" idx="5"/>
          </p:nvPr>
        </p:nvSpPr>
        <p:spPr/>
        <p:txBody>
          <a:bodyPr/>
          <a:lstStyle/>
          <a:p>
            <a:pPr rtl="0"/>
            <a:fld id="{F97DC217-DF71-1A49-B3EA-559F1F43B0FF}" type="slidenum">
              <a:rPr lang="id-ID" smtClean="0"/>
              <a:t>46</a:t>
            </a:fld>
            <a:endParaRPr lang="id-ID"/>
          </a:p>
        </p:txBody>
      </p:sp>
    </p:spTree>
    <p:extLst>
      <p:ext uri="{BB962C8B-B14F-4D97-AF65-F5344CB8AC3E}">
        <p14:creationId xmlns:p14="http://schemas.microsoft.com/office/powerpoint/2010/main" val="26597669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9385B-6C3A-0749-6CD8-24659A46EEEB}"/>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7581FE46-4D3F-50F8-F46F-4C507CD3172B}"/>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185F87B7-8EE2-C4B1-FBFC-E4FE252C197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162D929A-97F9-924B-0286-B684706E7F90}"/>
              </a:ext>
            </a:extLst>
          </p:cNvPr>
          <p:cNvSpPr>
            <a:spLocks noGrp="1"/>
          </p:cNvSpPr>
          <p:nvPr>
            <p:ph type="sldNum" sz="quarter" idx="5"/>
          </p:nvPr>
        </p:nvSpPr>
        <p:spPr/>
        <p:txBody>
          <a:bodyPr/>
          <a:lstStyle/>
          <a:p>
            <a:pPr rtl="0"/>
            <a:fld id="{F97DC217-DF71-1A49-B3EA-559F1F43B0FF}" type="slidenum">
              <a:rPr lang="id-ID" smtClean="0"/>
              <a:t>47</a:t>
            </a:fld>
            <a:endParaRPr lang="id-ID"/>
          </a:p>
        </p:txBody>
      </p:sp>
    </p:spTree>
    <p:extLst>
      <p:ext uri="{BB962C8B-B14F-4D97-AF65-F5344CB8AC3E}">
        <p14:creationId xmlns:p14="http://schemas.microsoft.com/office/powerpoint/2010/main" val="15418710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33543-0C9B-3744-D886-3993398AE1F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242AA319-AE3E-C011-A32C-AA2EA224BAD5}"/>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7EEA8738-0008-7843-783F-E7704BC2B18A}"/>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50EE35F1-E6EC-72AA-8C52-C826A1499915}"/>
              </a:ext>
            </a:extLst>
          </p:cNvPr>
          <p:cNvSpPr>
            <a:spLocks noGrp="1"/>
          </p:cNvSpPr>
          <p:nvPr>
            <p:ph type="sldNum" sz="quarter" idx="5"/>
          </p:nvPr>
        </p:nvSpPr>
        <p:spPr/>
        <p:txBody>
          <a:bodyPr/>
          <a:lstStyle/>
          <a:p>
            <a:pPr rtl="0"/>
            <a:fld id="{F97DC217-DF71-1A49-B3EA-559F1F43B0FF}" type="slidenum">
              <a:rPr lang="id-ID" smtClean="0"/>
              <a:t>48</a:t>
            </a:fld>
            <a:endParaRPr lang="id-ID"/>
          </a:p>
        </p:txBody>
      </p:sp>
    </p:spTree>
    <p:extLst>
      <p:ext uri="{BB962C8B-B14F-4D97-AF65-F5344CB8AC3E}">
        <p14:creationId xmlns:p14="http://schemas.microsoft.com/office/powerpoint/2010/main" val="6782160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B1B7-19BC-B078-D0AD-153A8C20BDE5}"/>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F967AFDD-86A9-52FD-C3F1-BD347CB69419}"/>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8EB11A8A-FC21-4260-8712-E9DD872F544E}"/>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0976C79B-646C-1AA8-0451-938F3D1F4322}"/>
              </a:ext>
            </a:extLst>
          </p:cNvPr>
          <p:cNvSpPr>
            <a:spLocks noGrp="1"/>
          </p:cNvSpPr>
          <p:nvPr>
            <p:ph type="sldNum" sz="quarter" idx="5"/>
          </p:nvPr>
        </p:nvSpPr>
        <p:spPr/>
        <p:txBody>
          <a:bodyPr/>
          <a:lstStyle/>
          <a:p>
            <a:pPr rtl="0"/>
            <a:fld id="{F97DC217-DF71-1A49-B3EA-559F1F43B0FF}" type="slidenum">
              <a:rPr lang="id-ID" smtClean="0"/>
              <a:t>52</a:t>
            </a:fld>
            <a:endParaRPr lang="id-ID"/>
          </a:p>
        </p:txBody>
      </p:sp>
    </p:spTree>
    <p:extLst>
      <p:ext uri="{BB962C8B-B14F-4D97-AF65-F5344CB8AC3E}">
        <p14:creationId xmlns:p14="http://schemas.microsoft.com/office/powerpoint/2010/main" val="34372769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63C12-B8A9-5704-5801-031285540AF0}"/>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D7A8C062-2B26-784C-3532-BFB9C00D03A6}"/>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EA89759B-3B6C-1977-303D-EC8B5941BE37}"/>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3FC755D6-1FEE-A6C0-8C21-829D04A6F10C}"/>
              </a:ext>
            </a:extLst>
          </p:cNvPr>
          <p:cNvSpPr>
            <a:spLocks noGrp="1"/>
          </p:cNvSpPr>
          <p:nvPr>
            <p:ph type="sldNum" sz="quarter" idx="5"/>
          </p:nvPr>
        </p:nvSpPr>
        <p:spPr/>
        <p:txBody>
          <a:bodyPr/>
          <a:lstStyle/>
          <a:p>
            <a:pPr rtl="0"/>
            <a:fld id="{F97DC217-DF71-1A49-B3EA-559F1F43B0FF}" type="slidenum">
              <a:rPr lang="id-ID" smtClean="0"/>
              <a:t>53</a:t>
            </a:fld>
            <a:endParaRPr lang="id-ID"/>
          </a:p>
        </p:txBody>
      </p:sp>
    </p:spTree>
    <p:extLst>
      <p:ext uri="{BB962C8B-B14F-4D97-AF65-F5344CB8AC3E}">
        <p14:creationId xmlns:p14="http://schemas.microsoft.com/office/powerpoint/2010/main" val="9854361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id-ID" noProof="0" dirty="0"/>
          </a:p>
        </p:txBody>
      </p:sp>
      <p:sp>
        <p:nvSpPr>
          <p:cNvPr id="4" name="Tampungan Nomor Slide 3"/>
          <p:cNvSpPr>
            <a:spLocks noGrp="1"/>
          </p:cNvSpPr>
          <p:nvPr>
            <p:ph type="sldNum" sz="quarter" idx="5"/>
          </p:nvPr>
        </p:nvSpPr>
        <p:spPr/>
        <p:txBody>
          <a:bodyPr/>
          <a:lstStyle/>
          <a:p>
            <a:pPr rtl="0"/>
            <a:fld id="{F97DC217-DF71-1A49-B3EA-559F1F43B0FF}" type="slidenum">
              <a:rPr lang="id-ID" smtClean="0"/>
              <a:t>55</a:t>
            </a:fld>
            <a:endParaRPr lang="id-ID"/>
          </a:p>
        </p:txBody>
      </p:sp>
    </p:spTree>
    <p:extLst>
      <p:ext uri="{BB962C8B-B14F-4D97-AF65-F5344CB8AC3E}">
        <p14:creationId xmlns:p14="http://schemas.microsoft.com/office/powerpoint/2010/main" val="39355634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38139-B33F-116D-79A1-7A8B7FB58674}"/>
            </a:ext>
          </a:extLst>
        </p:cNvPr>
        <p:cNvGrpSpPr/>
        <p:nvPr/>
      </p:nvGrpSpPr>
      <p:grpSpPr>
        <a:xfrm>
          <a:off x="0" y="0"/>
          <a:ext cx="0" cy="0"/>
          <a:chOff x="0" y="0"/>
          <a:chExt cx="0" cy="0"/>
        </a:xfrm>
      </p:grpSpPr>
      <p:sp>
        <p:nvSpPr>
          <p:cNvPr id="2" name="Tampungan Gambar Slide 1">
            <a:extLst>
              <a:ext uri="{FF2B5EF4-FFF2-40B4-BE49-F238E27FC236}">
                <a16:creationId xmlns:a16="http://schemas.microsoft.com/office/drawing/2014/main" id="{647A4260-AFD0-CC6E-9804-2A77653AA66B}"/>
              </a:ext>
            </a:extLst>
          </p:cNvPr>
          <p:cNvSpPr>
            <a:spLocks noGrp="1" noRot="1" noChangeAspect="1"/>
          </p:cNvSpPr>
          <p:nvPr>
            <p:ph type="sldImg"/>
          </p:nvPr>
        </p:nvSpPr>
        <p:spPr/>
      </p:sp>
      <p:sp>
        <p:nvSpPr>
          <p:cNvPr id="3" name="Tampungan Catatan 2">
            <a:extLst>
              <a:ext uri="{FF2B5EF4-FFF2-40B4-BE49-F238E27FC236}">
                <a16:creationId xmlns:a16="http://schemas.microsoft.com/office/drawing/2014/main" id="{55D0F28E-92D9-8519-B782-081CD6E9EE26}"/>
              </a:ext>
            </a:extLst>
          </p:cNvPr>
          <p:cNvSpPr>
            <a:spLocks noGrp="1"/>
          </p:cNvSpPr>
          <p:nvPr>
            <p:ph type="body" idx="1"/>
          </p:nvPr>
        </p:nvSpPr>
        <p:spPr/>
        <p:txBody>
          <a:bodyPr/>
          <a:lstStyle/>
          <a:p>
            <a:endParaRPr lang="id-ID" noProof="0" dirty="0"/>
          </a:p>
        </p:txBody>
      </p:sp>
      <p:sp>
        <p:nvSpPr>
          <p:cNvPr id="4" name="Tampungan Nomor Slide 3">
            <a:extLst>
              <a:ext uri="{FF2B5EF4-FFF2-40B4-BE49-F238E27FC236}">
                <a16:creationId xmlns:a16="http://schemas.microsoft.com/office/drawing/2014/main" id="{C16E6CED-1E45-5082-FB0B-4E74F36E4351}"/>
              </a:ext>
            </a:extLst>
          </p:cNvPr>
          <p:cNvSpPr>
            <a:spLocks noGrp="1"/>
          </p:cNvSpPr>
          <p:nvPr>
            <p:ph type="sldNum" sz="quarter" idx="5"/>
          </p:nvPr>
        </p:nvSpPr>
        <p:spPr/>
        <p:txBody>
          <a:bodyPr/>
          <a:lstStyle/>
          <a:p>
            <a:pPr rtl="0"/>
            <a:fld id="{F97DC217-DF71-1A49-B3EA-559F1F43B0FF}" type="slidenum">
              <a:rPr lang="id-ID" smtClean="0"/>
              <a:t>56</a:t>
            </a:fld>
            <a:endParaRPr lang="id-ID"/>
          </a:p>
        </p:txBody>
      </p:sp>
    </p:spTree>
    <p:extLst>
      <p:ext uri="{BB962C8B-B14F-4D97-AF65-F5344CB8AC3E}">
        <p14:creationId xmlns:p14="http://schemas.microsoft.com/office/powerpoint/2010/main" val="3494468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3" y="1122363"/>
            <a:ext cx="7096933" cy="2387600"/>
          </a:xfrm>
        </p:spPr>
        <p:txBody>
          <a:bodyPr rtlCol="0" anchor="b">
            <a:noAutofit/>
          </a:bodyPr>
          <a:lstStyle>
            <a:lvl1pPr algn="l">
              <a:defRPr sz="6000" b="1">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9500507" cy="806675"/>
          </a:xfrm>
        </p:spPr>
        <p:txBody>
          <a:bodyPr rtlCol="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sp>
        <p:nvSpPr>
          <p:cNvPr id="4" name="Persegi 3">
            <a:extLst>
              <a:ext uri="{FF2B5EF4-FFF2-40B4-BE49-F238E27FC236}">
                <a16:creationId xmlns:a16="http://schemas.microsoft.com/office/drawing/2014/main" id="{9AC79249-FDC0-364D-A734-AE1DE1605D28}"/>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11" name="Bentuk bebas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9" name="Bentuk bebas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6" name="Gr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2" name="Bentuk bebas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8" name="Bentuk bebas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17467"/>
            <a:ext cx="9779182" cy="3366815"/>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6" name="Bentuk bebas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51A9B3F0-40B4-402B-BD3D-2ECBD63B1A7A}" type="datetime1">
              <a:rPr lang="id-ID" noProof="0" smtClean="0"/>
              <a:t>27/10/2025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Bagian">
    <p:bg>
      <p:bgPr>
        <a:solidFill>
          <a:schemeClr val="accent2"/>
        </a:solidFill>
        <a:effectLst/>
      </p:bgPr>
    </p:bg>
    <p:spTree>
      <p:nvGrpSpPr>
        <p:cNvPr id="1" name=""/>
        <p:cNvGrpSpPr/>
        <p:nvPr/>
      </p:nvGrpSpPr>
      <p:grpSpPr>
        <a:xfrm>
          <a:off x="0" y="0"/>
          <a:ext cx="0" cy="0"/>
          <a:chOff x="0" y="0"/>
          <a:chExt cx="0" cy="0"/>
        </a:xfrm>
      </p:grpSpPr>
      <p:sp>
        <p:nvSpPr>
          <p:cNvPr id="7" name="Persegi panjang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12" name="Bentuk bebas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4" name="Bentuk bebas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5" name="Bentuk bebas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3" name="Judul 1">
            <a:extLst>
              <a:ext uri="{FF2B5EF4-FFF2-40B4-BE49-F238E27FC236}">
                <a16:creationId xmlns:a16="http://schemas.microsoft.com/office/drawing/2014/main" id="{5E932F0D-7FC3-634B-932C-3625C16C8DE2}"/>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Teks 2">
            <a:extLst>
              <a:ext uri="{FF2B5EF4-FFF2-40B4-BE49-F238E27FC236}">
                <a16:creationId xmlns:a16="http://schemas.microsoft.com/office/drawing/2014/main" id="{2E65DE34-CDB7-41F7-A95A-592B99558C69}"/>
              </a:ext>
            </a:extLst>
          </p:cNvPr>
          <p:cNvSpPr>
            <a:spLocks noGrp="1"/>
          </p:cNvSpPr>
          <p:nvPr>
            <p:ph type="body" idx="1" hasCustomPrompt="1"/>
          </p:nvPr>
        </p:nvSpPr>
        <p:spPr>
          <a:xfrm>
            <a:off x="1167492" y="2653167"/>
            <a:ext cx="9779183" cy="3436483"/>
          </a:xfrm>
        </p:spPr>
        <p:txBody>
          <a:bodyPr rtlCol="0">
            <a:no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id-ID" noProof="0"/>
              <a:t>Klik untuk mengedit gaya teks Master</a:t>
            </a:r>
          </a:p>
        </p:txBody>
      </p:sp>
      <p:sp>
        <p:nvSpPr>
          <p:cNvPr id="4" name="Tampungan Tanggal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a:solidFill>
                  <a:schemeClr val="accent2"/>
                </a:solidFill>
                <a:latin typeface="+mn-lt"/>
              </a:defRPr>
            </a:lvl1pPr>
          </a:lstStyle>
          <a:p>
            <a:pPr rtl="0"/>
            <a:fld id="{C66938A1-13E2-4EB3-A9CB-9E58C4A52052}" type="datetime1">
              <a:rPr lang="id-ID" noProof="0" smtClean="0"/>
              <a:t>27/10/2025</a:t>
            </a:fld>
            <a:endParaRPr lang="id-ID" noProof="0"/>
          </a:p>
        </p:txBody>
      </p:sp>
      <p:sp>
        <p:nvSpPr>
          <p:cNvPr id="5" name="Tampungan Kaki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a:solidFill>
                  <a:schemeClr val="accent2"/>
                </a:solidFill>
                <a:latin typeface="+mn-lt"/>
              </a:defRPr>
            </a:lvl1pPr>
          </a:lstStyle>
          <a:p>
            <a:pPr rtl="0"/>
            <a:r>
              <a:rPr lang="id-ID" noProof="0"/>
              <a:t>JUDUL PRESENTASI</a:t>
            </a:r>
          </a:p>
        </p:txBody>
      </p:sp>
      <p:sp>
        <p:nvSpPr>
          <p:cNvPr id="6" name="Tampungan Nomor Slid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Judul bagian">
    <p:spTree>
      <p:nvGrpSpPr>
        <p:cNvPr id="1" name=""/>
        <p:cNvGrpSpPr/>
        <p:nvPr/>
      </p:nvGrpSpPr>
      <p:grpSpPr>
        <a:xfrm>
          <a:off x="0" y="0"/>
          <a:ext cx="0" cy="0"/>
          <a:chOff x="0" y="0"/>
          <a:chExt cx="0" cy="0"/>
        </a:xfrm>
      </p:grpSpPr>
      <p:sp>
        <p:nvSpPr>
          <p:cNvPr id="23" name="Bentuk bebas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4" y="1059400"/>
            <a:ext cx="6245912" cy="2387600"/>
          </a:xfrm>
        </p:spPr>
        <p:txBody>
          <a:bodyPr rtlCol="0" anchor="b">
            <a:noAutofit/>
          </a:bodyPr>
          <a:lstStyle>
            <a:lvl1pPr algn="l">
              <a:defRPr sz="6000" b="1">
                <a:solidFill>
                  <a:schemeClr val="bg1"/>
                </a:solidFill>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4" y="3539075"/>
            <a:ext cx="6245912" cy="1406101"/>
          </a:xfrm>
        </p:spPr>
        <p:txBody>
          <a:bodyPr rtlCol="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grpSp>
        <p:nvGrpSpPr>
          <p:cNvPr id="6" name="Gr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17" name="Bentuk bebas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8" name="Bentuk bebas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Grafik">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pPr rtl="0"/>
            <a:fld id="{8E39C280-D1CE-4C14-BB73-A42EFC7AA47C}" type="datetime1">
              <a:rPr lang="id-ID" noProof="0" smtClean="0"/>
              <a:t>27/10/2025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36978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agan 2">
    <p:bg>
      <p:bgPr>
        <a:solidFill>
          <a:schemeClr val="accent2"/>
        </a:solidFill>
        <a:effectLst/>
      </p:bgPr>
    </p:bg>
    <p:spTree>
      <p:nvGrpSpPr>
        <p:cNvPr id="1" name=""/>
        <p:cNvGrpSpPr/>
        <p:nvPr/>
      </p:nvGrpSpPr>
      <p:grpSpPr>
        <a:xfrm>
          <a:off x="0" y="0"/>
          <a:ext cx="0" cy="0"/>
          <a:chOff x="0" y="0"/>
          <a:chExt cx="0" cy="0"/>
        </a:xfrm>
      </p:grpSpPr>
      <p:grpSp>
        <p:nvGrpSpPr>
          <p:cNvPr id="9" name="Grup 8">
            <a:extLst>
              <a:ext uri="{FF2B5EF4-FFF2-40B4-BE49-F238E27FC236}">
                <a16:creationId xmlns:a16="http://schemas.microsoft.com/office/drawing/2014/main" id="{ABA2A58C-57B7-834C-8F5C-3299322411B1}"/>
              </a:ext>
            </a:extLst>
          </p:cNvPr>
          <p:cNvGrpSpPr/>
          <p:nvPr userDrawn="1"/>
        </p:nvGrpSpPr>
        <p:grpSpPr>
          <a:xfrm rot="16200000">
            <a:off x="10772262" y="152641"/>
            <a:ext cx="1572380" cy="1267097"/>
            <a:chOff x="7413403" y="4976359"/>
            <a:chExt cx="2334986" cy="1881641"/>
          </a:xfrm>
        </p:grpSpPr>
        <p:sp>
          <p:nvSpPr>
            <p:cNvPr id="13" name="Bentuk bebas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4" name="Bentuk bebas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3"/>
            <a:ext cx="9779182" cy="3366813"/>
          </a:xfrm>
        </p:spPr>
        <p:txBody>
          <a:bodyPr rtlCol="0">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7CF46B1F-6981-4F1A-BBFE-32021A818C89}" type="datetime1">
              <a:rPr lang="id-ID" noProof="0" smtClean="0"/>
              <a:t>27/10/2025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3190945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utipan">
    <p:bg>
      <p:bgPr>
        <a:solidFill>
          <a:schemeClr val="accent1"/>
        </a:solidFill>
        <a:effectLst/>
      </p:bgPr>
    </p:bg>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0B5ED18-7A07-47F1-8056-CD86B076AFE2}"/>
              </a:ext>
            </a:extLst>
          </p:cNvPr>
          <p:cNvSpPr>
            <a:spLocks noGrp="1"/>
          </p:cNvSpPr>
          <p:nvPr>
            <p:ph type="title"/>
          </p:nvPr>
        </p:nvSpPr>
        <p:spPr>
          <a:xfrm>
            <a:off x="1798721" y="1684338"/>
            <a:ext cx="8594558" cy="2810460"/>
          </a:xfrm>
        </p:spPr>
        <p:txBody>
          <a:bodyPr rtlCol="0">
            <a:noAutofit/>
          </a:bodyPr>
          <a:lstStyle>
            <a:lvl1pPr algn="ctr">
              <a:lnSpc>
                <a:spcPct val="100000"/>
              </a:lnSpc>
              <a:defRPr sz="4600">
                <a:solidFill>
                  <a:schemeClr val="bg1"/>
                </a:solidFill>
                <a:latin typeface="+mj-lt"/>
              </a:defRPr>
            </a:lvl1pPr>
          </a:lstStyle>
          <a:p>
            <a:pPr rtl="0"/>
            <a:r>
              <a:rPr lang="en-US" noProof="0"/>
              <a:t>Click to edit Master title style</a:t>
            </a:r>
            <a:endParaRPr lang="id-ID" noProof="0"/>
          </a:p>
        </p:txBody>
      </p:sp>
      <p:sp>
        <p:nvSpPr>
          <p:cNvPr id="8" name="Tampungan Teks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a:off x="381000" y="519405"/>
            <a:ext cx="1364297" cy="1094521"/>
          </a:xfrm>
        </p:spPr>
        <p:txBody>
          <a:bodyPr rtlCol="0">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id-ID" noProof="0"/>
              <a:t>“</a:t>
            </a:r>
          </a:p>
        </p:txBody>
      </p:sp>
      <p:sp>
        <p:nvSpPr>
          <p:cNvPr id="10" name="Tampungan Teks 9">
            <a:extLst>
              <a:ext uri="{FF2B5EF4-FFF2-40B4-BE49-F238E27FC236}">
                <a16:creationId xmlns:a16="http://schemas.microsoft.com/office/drawing/2014/main" id="{322D6C2B-78AC-DD47-9289-067C968B06C1}"/>
              </a:ext>
            </a:extLst>
          </p:cNvPr>
          <p:cNvSpPr>
            <a:spLocks noGrp="1"/>
          </p:cNvSpPr>
          <p:nvPr>
            <p:ph type="body" sz="quarter" idx="14" hasCustomPrompt="1"/>
          </p:nvPr>
        </p:nvSpPr>
        <p:spPr>
          <a:xfrm>
            <a:off x="6881813" y="4494213"/>
            <a:ext cx="3511550" cy="679450"/>
          </a:xfrm>
        </p:spPr>
        <p:txBody>
          <a:bodyPr rtlCol="0">
            <a:no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rtl="0"/>
            <a:r>
              <a:rPr lang="id-ID" noProof="0"/>
              <a:t>Klik untuk mengedit gaya teks Master</a:t>
            </a:r>
          </a:p>
        </p:txBody>
      </p:sp>
      <p:sp>
        <p:nvSpPr>
          <p:cNvPr id="9" name="Tampungan Teks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a:off x="10609104" y="3399692"/>
            <a:ext cx="1364297" cy="1094521"/>
          </a:xfrm>
        </p:spPr>
        <p:txBody>
          <a:bodyPr rtlCol="0">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id-ID" noProof="0"/>
              <a:t>”</a:t>
            </a:r>
          </a:p>
        </p:txBody>
      </p:sp>
      <p:sp>
        <p:nvSpPr>
          <p:cNvPr id="3" name="Tampungan Tanggal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noAutofit/>
          </a:bodyPr>
          <a:lstStyle>
            <a:lvl1pPr>
              <a:defRPr>
                <a:solidFill>
                  <a:schemeClr val="accent2"/>
                </a:solidFill>
                <a:latin typeface="+mn-lt"/>
              </a:defRPr>
            </a:lvl1pPr>
          </a:lstStyle>
          <a:p>
            <a:pPr rtl="0"/>
            <a:fld id="{84E9CC79-66B9-422C-A06E-4D4DCD64D4AF}" type="datetime1">
              <a:rPr lang="id-ID" noProof="0" smtClean="0"/>
              <a:t>27/10/2025</a:t>
            </a:fld>
            <a:endParaRPr lang="id-ID" noProof="0"/>
          </a:p>
        </p:txBody>
      </p:sp>
      <p:sp>
        <p:nvSpPr>
          <p:cNvPr id="4" name="Tampungan Kaki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noAutofit/>
          </a:bodyPr>
          <a:lstStyle>
            <a:lvl1pPr>
              <a:defRPr>
                <a:solidFill>
                  <a:schemeClr val="accent2"/>
                </a:solidFill>
                <a:latin typeface="+mn-lt"/>
              </a:defRPr>
            </a:lvl1pPr>
          </a:lstStyle>
          <a:p>
            <a:pPr rtl="0"/>
            <a:r>
              <a:rPr lang="id-ID" noProof="0"/>
              <a:t>JUDUL PRESENTASI</a:t>
            </a:r>
          </a:p>
        </p:txBody>
      </p:sp>
      <p:sp>
        <p:nvSpPr>
          <p:cNvPr id="5" name="Tampungan Nomor Slide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noAutofit/>
          </a:bodyPr>
          <a:lstStyle>
            <a:lvl1pPr>
              <a:defRPr>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1476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
    <p:spTree>
      <p:nvGrpSpPr>
        <p:cNvPr id="1" name=""/>
        <p:cNvGrpSpPr/>
        <p:nvPr/>
      </p:nvGrpSpPr>
      <p:grpSpPr>
        <a:xfrm>
          <a:off x="0" y="0"/>
          <a:ext cx="0" cy="0"/>
          <a:chOff x="0" y="0"/>
          <a:chExt cx="0" cy="0"/>
        </a:xfrm>
      </p:grpSpPr>
      <p:sp>
        <p:nvSpPr>
          <p:cNvPr id="30" name="Persegi panjang 29">
            <a:extLst>
              <a:ext uri="{FF2B5EF4-FFF2-40B4-BE49-F238E27FC236}">
                <a16:creationId xmlns:a16="http://schemas.microsoft.com/office/drawing/2014/main" id="{28C225EC-F6EF-1144-834A-F0B91974AA41}"/>
              </a:ext>
            </a:extLst>
          </p:cNvPr>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sp>
        <p:nvSpPr>
          <p:cNvPr id="31" name="Judul 1">
            <a:extLst>
              <a:ext uri="{FF2B5EF4-FFF2-40B4-BE49-F238E27FC236}">
                <a16:creationId xmlns:a16="http://schemas.microsoft.com/office/drawing/2014/main" id="{1E40CEAF-B1BB-174E-A798-3BA60D9C0458}"/>
              </a:ext>
            </a:extLst>
          </p:cNvPr>
          <p:cNvSpPr>
            <a:spLocks noGrp="1"/>
          </p:cNvSpPr>
          <p:nvPr>
            <p:ph type="title"/>
          </p:nvPr>
        </p:nvSpPr>
        <p:spPr>
          <a:xfrm>
            <a:off x="750430" y="381000"/>
            <a:ext cx="8401624" cy="1325563"/>
          </a:xfrm>
        </p:spPr>
        <p:txBody>
          <a:bodyPr lIns="0" rtlCol="0" anchor="b">
            <a:noAutofit/>
          </a:bodyPr>
          <a:lstStyle>
            <a:lvl1pPr>
              <a:defRPr sz="4800" b="1">
                <a:latin typeface="+mj-lt"/>
              </a:defRPr>
            </a:lvl1pPr>
          </a:lstStyle>
          <a:p>
            <a:pPr rtl="0"/>
            <a:r>
              <a:rPr lang="en-US" noProof="0"/>
              <a:t>Click to edit Master title style</a:t>
            </a:r>
            <a:endParaRPr lang="id-ID" noProof="0"/>
          </a:p>
        </p:txBody>
      </p:sp>
      <p:sp>
        <p:nvSpPr>
          <p:cNvPr id="6" name="Tampungan Gamba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227758"/>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0" name="Tampungan Teks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2123351" y="2426400"/>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1" name="Tampungan Teks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2123350" y="2811646"/>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7" name="Tampungan Gambar 23">
            <a:extLst>
              <a:ext uri="{FF2B5EF4-FFF2-40B4-BE49-F238E27FC236}">
                <a16:creationId xmlns:a16="http://schemas.microsoft.com/office/drawing/2014/main" id="{9ABA5222-6FD6-405B-8AC8-18022C36590F}"/>
              </a:ext>
            </a:extLst>
          </p:cNvPr>
          <p:cNvSpPr>
            <a:spLocks noGrp="1"/>
          </p:cNvSpPr>
          <p:nvPr>
            <p:ph type="pic" sz="quarter" idx="14"/>
          </p:nvPr>
        </p:nvSpPr>
        <p:spPr>
          <a:xfrm>
            <a:off x="5495813" y="2227758"/>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2" name="Tampungan Teks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6870817" y="242256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3" name="Tampungan Teks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6870816" y="280781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8" name="Tampungan Gambar 23">
            <a:extLst>
              <a:ext uri="{FF2B5EF4-FFF2-40B4-BE49-F238E27FC236}">
                <a16:creationId xmlns:a16="http://schemas.microsoft.com/office/drawing/2014/main" id="{124DE785-775F-4AE4-94B3-FA728188EBA5}"/>
              </a:ext>
            </a:extLst>
          </p:cNvPr>
          <p:cNvSpPr>
            <a:spLocks noGrp="1"/>
          </p:cNvSpPr>
          <p:nvPr>
            <p:ph type="pic" sz="quarter" idx="15"/>
          </p:nvPr>
        </p:nvSpPr>
        <p:spPr>
          <a:xfrm>
            <a:off x="750429" y="4254273"/>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4" name="Tampungan Teks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2123351"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5" name="Tampungan Teks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2123350"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9" name="Tampungan Gambar 23">
            <a:extLst>
              <a:ext uri="{FF2B5EF4-FFF2-40B4-BE49-F238E27FC236}">
                <a16:creationId xmlns:a16="http://schemas.microsoft.com/office/drawing/2014/main" id="{F5694B35-7776-4DB9-9EB7-3AF076EC357D}"/>
              </a:ext>
            </a:extLst>
          </p:cNvPr>
          <p:cNvSpPr>
            <a:spLocks noGrp="1"/>
          </p:cNvSpPr>
          <p:nvPr>
            <p:ph type="pic" sz="quarter" idx="16"/>
          </p:nvPr>
        </p:nvSpPr>
        <p:spPr>
          <a:xfrm>
            <a:off x="5495813" y="4254273"/>
            <a:ext cx="1200374" cy="1201242"/>
          </a:xfrm>
        </p:spPr>
        <p:txBody>
          <a:bodyPr rtlCol="0">
            <a:noAutofit/>
          </a:bodyPr>
          <a:lstStyle>
            <a:lvl1pPr marL="0" indent="0">
              <a:buNone/>
              <a:defRPr sz="1400">
                <a:solidFill>
                  <a:schemeClr val="tx1"/>
                </a:solidFill>
                <a:latin typeface="+mn-lt"/>
              </a:defRPr>
            </a:lvl1pPr>
          </a:lstStyle>
          <a:p>
            <a:pPr rtl="0"/>
            <a:r>
              <a:rPr lang="en-US" noProof="0"/>
              <a:t>Click icon to add picture</a:t>
            </a:r>
            <a:endParaRPr lang="id-ID" noProof="0"/>
          </a:p>
        </p:txBody>
      </p:sp>
      <p:sp>
        <p:nvSpPr>
          <p:cNvPr id="16" name="Tampungan Teks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6870817"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17" name="Tampungan Teks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6870816"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 name="Tampungan Tanggal 2">
            <a:extLst>
              <a:ext uri="{FF2B5EF4-FFF2-40B4-BE49-F238E27FC236}">
                <a16:creationId xmlns:a16="http://schemas.microsoft.com/office/drawing/2014/main" id="{A0C71211-4520-46A1-9487-4AE49C3239EF}"/>
              </a:ext>
            </a:extLst>
          </p:cNvPr>
          <p:cNvSpPr>
            <a:spLocks noGrp="1"/>
          </p:cNvSpPr>
          <p:nvPr>
            <p:ph type="dt" sz="half" idx="10"/>
          </p:nvPr>
        </p:nvSpPr>
        <p:spPr>
          <a:xfrm>
            <a:off x="381000" y="6356350"/>
            <a:ext cx="1569803" cy="365125"/>
          </a:xfrm>
        </p:spPr>
        <p:txBody>
          <a:bodyPr rtlCol="0">
            <a:noAutofit/>
          </a:bodyPr>
          <a:lstStyle>
            <a:lvl1pPr>
              <a:defRPr>
                <a:solidFill>
                  <a:schemeClr val="accent3"/>
                </a:solidFill>
                <a:latin typeface="+mn-lt"/>
              </a:defRPr>
            </a:lvl1pPr>
          </a:lstStyle>
          <a:p>
            <a:pPr rtl="0"/>
            <a:fld id="{7B48DF3E-AD03-4E2F-9529-7FF1401E86D2}" type="datetime1">
              <a:rPr lang="id-ID" noProof="0" smtClean="0"/>
              <a:t>27/10/2025</a:t>
            </a:fld>
            <a:endParaRPr lang="id-ID" noProof="0"/>
          </a:p>
        </p:txBody>
      </p:sp>
      <p:sp>
        <p:nvSpPr>
          <p:cNvPr id="4" name="Tampungan Kaki 3">
            <a:extLst>
              <a:ext uri="{FF2B5EF4-FFF2-40B4-BE49-F238E27FC236}">
                <a16:creationId xmlns:a16="http://schemas.microsoft.com/office/drawing/2014/main" id="{96356206-85FD-45F5-A1F7-128DB34C860F}"/>
              </a:ext>
            </a:extLst>
          </p:cNvPr>
          <p:cNvSpPr>
            <a:spLocks noGrp="1"/>
          </p:cNvSpPr>
          <p:nvPr>
            <p:ph type="ftr" sz="quarter" idx="11"/>
          </p:nvPr>
        </p:nvSpPr>
        <p:spPr>
          <a:xfrm>
            <a:off x="2871106" y="6356350"/>
            <a:ext cx="4114800" cy="365125"/>
          </a:xfrm>
        </p:spPr>
        <p:txBody>
          <a:bodyPr rtlCol="0">
            <a:noAutofit/>
          </a:bodyPr>
          <a:lstStyle>
            <a:lvl1pPr>
              <a:defRPr>
                <a:solidFill>
                  <a:schemeClr val="accent3"/>
                </a:solidFill>
                <a:latin typeface="+mn-lt"/>
              </a:defRPr>
            </a:lvl1pPr>
          </a:lstStyle>
          <a:p>
            <a:pPr rtl="0"/>
            <a:r>
              <a:rPr lang="id-ID" noProof="0"/>
              <a:t>JUDUL PRESENTASI</a:t>
            </a:r>
          </a:p>
        </p:txBody>
      </p:sp>
      <p:sp>
        <p:nvSpPr>
          <p:cNvPr id="5" name="Tampungan Nomor Slide 4">
            <a:extLst>
              <a:ext uri="{FF2B5EF4-FFF2-40B4-BE49-F238E27FC236}">
                <a16:creationId xmlns:a16="http://schemas.microsoft.com/office/drawing/2014/main" id="{0203763F-C8CD-4BCB-9A0A-B10F000BC1DB}"/>
              </a:ext>
            </a:extLst>
          </p:cNvPr>
          <p:cNvSpPr>
            <a:spLocks noGrp="1"/>
          </p:cNvSpPr>
          <p:nvPr>
            <p:ph type="sldNum" sz="quarter" idx="12"/>
          </p:nvPr>
        </p:nvSpPr>
        <p:spPr>
          <a:xfrm>
            <a:off x="8332334" y="6356350"/>
            <a:ext cx="1167495" cy="365125"/>
          </a:xfrm>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
        <p:nvSpPr>
          <p:cNvPr id="19" name="Bentuk bebas 18">
            <a:extLst>
              <a:ext uri="{FF2B5EF4-FFF2-40B4-BE49-F238E27FC236}">
                <a16:creationId xmlns:a16="http://schemas.microsoft.com/office/drawing/2014/main" id="{AAB3BC7E-B34F-EF47-B125-1574C5484E22}"/>
              </a:ext>
            </a:extLst>
          </p:cNvPr>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1" name="Bentuk bebas 20">
            <a:extLst>
              <a:ext uri="{FF2B5EF4-FFF2-40B4-BE49-F238E27FC236}">
                <a16:creationId xmlns:a16="http://schemas.microsoft.com/office/drawing/2014/main" id="{7CBC82D0-4F72-C649-8B7F-D4B087957B6C}"/>
              </a:ext>
            </a:extLst>
          </p:cNvPr>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5" name="Bentuk bebas 24">
            <a:extLst>
              <a:ext uri="{FF2B5EF4-FFF2-40B4-BE49-F238E27FC236}">
                <a16:creationId xmlns:a16="http://schemas.microsoft.com/office/drawing/2014/main" id="{9383F23A-D872-2A4C-B386-A9D269BE694D}"/>
              </a:ext>
            </a:extLst>
          </p:cNvPr>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6" name="Oval 25">
            <a:extLst>
              <a:ext uri="{FF2B5EF4-FFF2-40B4-BE49-F238E27FC236}">
                <a16:creationId xmlns:a16="http://schemas.microsoft.com/office/drawing/2014/main" id="{9221FFDB-AAE2-5943-97A1-82D66AE05DB4}"/>
              </a:ext>
            </a:extLst>
          </p:cNvPr>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id-ID" noProof="0"/>
          </a:p>
        </p:txBody>
      </p:sp>
      <p:sp>
        <p:nvSpPr>
          <p:cNvPr id="27" name="Bentuk bebas 26">
            <a:extLst>
              <a:ext uri="{FF2B5EF4-FFF2-40B4-BE49-F238E27FC236}">
                <a16:creationId xmlns:a16="http://schemas.microsoft.com/office/drawing/2014/main" id="{2E58EEF7-63CA-A845-BAC4-9D3BE05918B5}"/>
              </a:ext>
            </a:extLst>
          </p:cNvPr>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8" name="Bentuk bebas 27">
            <a:extLst>
              <a:ext uri="{FF2B5EF4-FFF2-40B4-BE49-F238E27FC236}">
                <a16:creationId xmlns:a16="http://schemas.microsoft.com/office/drawing/2014/main" id="{757A4624-D8ED-2E4B-AF8C-00DFA6A72D5F}"/>
              </a:ext>
            </a:extLst>
          </p:cNvPr>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9" name="Bentuk bebas 28">
            <a:extLst>
              <a:ext uri="{FF2B5EF4-FFF2-40B4-BE49-F238E27FC236}">
                <a16:creationId xmlns:a16="http://schemas.microsoft.com/office/drawing/2014/main" id="{DF312EF8-91BE-5946-BE31-8CFE107A2FEA}"/>
              </a:ext>
            </a:extLst>
          </p:cNvPr>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luruh tim">
    <p:bg>
      <p:bgPr>
        <a:solidFill>
          <a:schemeClr val="accent2"/>
        </a:solidFill>
        <a:effectLst/>
      </p:bgPr>
    </p:bg>
    <p:spTree>
      <p:nvGrpSpPr>
        <p:cNvPr id="1" name=""/>
        <p:cNvGrpSpPr/>
        <p:nvPr/>
      </p:nvGrpSpPr>
      <p:grpSpPr>
        <a:xfrm>
          <a:off x="0" y="0"/>
          <a:ext cx="0" cy="0"/>
          <a:chOff x="0" y="0"/>
          <a:chExt cx="0" cy="0"/>
        </a:xfrm>
      </p:grpSpPr>
      <p:sp>
        <p:nvSpPr>
          <p:cNvPr id="54" name="Judul 1">
            <a:extLst>
              <a:ext uri="{FF2B5EF4-FFF2-40B4-BE49-F238E27FC236}">
                <a16:creationId xmlns:a16="http://schemas.microsoft.com/office/drawing/2014/main" id="{6825B690-1AD7-4243-AC42-D2CF19B7B02C}"/>
              </a:ext>
            </a:extLst>
          </p:cNvPr>
          <p:cNvSpPr>
            <a:spLocks noGrp="1"/>
          </p:cNvSpPr>
          <p:nvPr>
            <p:ph type="title"/>
          </p:nvPr>
        </p:nvSpPr>
        <p:spPr>
          <a:xfrm>
            <a:off x="750430" y="381000"/>
            <a:ext cx="10678142" cy="1325563"/>
          </a:xfrm>
        </p:spPr>
        <p:txBody>
          <a:bodyPr lIns="0" rtlCol="0" anchor="b">
            <a:noAutofit/>
          </a:bodyPr>
          <a:lstStyle>
            <a:lvl1pPr>
              <a:defRPr sz="4800" b="1">
                <a:latin typeface="+mj-lt"/>
              </a:defRPr>
            </a:lvl1pPr>
          </a:lstStyle>
          <a:p>
            <a:pPr rtl="0"/>
            <a:r>
              <a:rPr lang="en-US" noProof="0"/>
              <a:t>Click to edit Master title style</a:t>
            </a:r>
            <a:endParaRPr lang="id-ID" noProof="0"/>
          </a:p>
        </p:txBody>
      </p:sp>
      <p:sp>
        <p:nvSpPr>
          <p:cNvPr id="6" name="Tampungan Gamba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1" name="Tampungan Teks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a:off x="750430"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2" name="Tampungan Teks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a:off x="750429"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3" name="Tampungan Gambar 23">
            <a:extLst>
              <a:ext uri="{FF2B5EF4-FFF2-40B4-BE49-F238E27FC236}">
                <a16:creationId xmlns:a16="http://schemas.microsoft.com/office/drawing/2014/main" id="{FA9FEBB0-45F1-DF45-89C4-B343F8B20BA0}"/>
              </a:ext>
            </a:extLst>
          </p:cNvPr>
          <p:cNvSpPr>
            <a:spLocks noGrp="1"/>
          </p:cNvSpPr>
          <p:nvPr>
            <p:ph type="pic" sz="quarter" idx="28"/>
          </p:nvPr>
        </p:nvSpPr>
        <p:spPr>
          <a:xfrm>
            <a:off x="3549397"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4" name="Tampungan Teks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a:off x="354939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5" name="Tampungan Teks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a:off x="354939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6" name="Tampungan Gambar 23">
            <a:extLst>
              <a:ext uri="{FF2B5EF4-FFF2-40B4-BE49-F238E27FC236}">
                <a16:creationId xmlns:a16="http://schemas.microsoft.com/office/drawing/2014/main" id="{8BA62E8C-79E6-D245-B706-FFB1E051B2D6}"/>
              </a:ext>
            </a:extLst>
          </p:cNvPr>
          <p:cNvSpPr>
            <a:spLocks noGrp="1"/>
          </p:cNvSpPr>
          <p:nvPr>
            <p:ph type="pic" sz="quarter" idx="31"/>
          </p:nvPr>
        </p:nvSpPr>
        <p:spPr>
          <a:xfrm>
            <a:off x="6348367"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37" name="Tampungan Teks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a:off x="634836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38" name="Tampungan Teks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a:off x="634836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39" name="Tampungan Gambar 23">
            <a:extLst>
              <a:ext uri="{FF2B5EF4-FFF2-40B4-BE49-F238E27FC236}">
                <a16:creationId xmlns:a16="http://schemas.microsoft.com/office/drawing/2014/main" id="{3D78BE06-1FC7-3C43-BD15-F4137B564B58}"/>
              </a:ext>
            </a:extLst>
          </p:cNvPr>
          <p:cNvSpPr>
            <a:spLocks noGrp="1"/>
          </p:cNvSpPr>
          <p:nvPr>
            <p:ph type="pic" sz="quarter" idx="34"/>
          </p:nvPr>
        </p:nvSpPr>
        <p:spPr>
          <a:xfrm>
            <a:off x="9147335" y="2068734"/>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0" name="Tampungan Teks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a:off x="9147336"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1" name="Tampungan Teks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a:off x="9147335"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2" name="Tampungan Gambar 23">
            <a:extLst>
              <a:ext uri="{FF2B5EF4-FFF2-40B4-BE49-F238E27FC236}">
                <a16:creationId xmlns:a16="http://schemas.microsoft.com/office/drawing/2014/main" id="{6DD7CCE4-AD48-B64F-909E-F88961FBDFC5}"/>
              </a:ext>
            </a:extLst>
          </p:cNvPr>
          <p:cNvSpPr>
            <a:spLocks noGrp="1"/>
          </p:cNvSpPr>
          <p:nvPr>
            <p:ph type="pic" sz="quarter" idx="37"/>
          </p:nvPr>
        </p:nvSpPr>
        <p:spPr>
          <a:xfrm>
            <a:off x="750429"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3" name="Tampungan Teks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a:off x="750430"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4" name="Tampungan Teks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a:off x="750429"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5" name="Tampungan Gambar 23">
            <a:extLst>
              <a:ext uri="{FF2B5EF4-FFF2-40B4-BE49-F238E27FC236}">
                <a16:creationId xmlns:a16="http://schemas.microsoft.com/office/drawing/2014/main" id="{24B34D6D-4F7E-3942-B8D7-9970BDE53C10}"/>
              </a:ext>
            </a:extLst>
          </p:cNvPr>
          <p:cNvSpPr>
            <a:spLocks noGrp="1"/>
          </p:cNvSpPr>
          <p:nvPr>
            <p:ph type="pic" sz="quarter" idx="40"/>
          </p:nvPr>
        </p:nvSpPr>
        <p:spPr>
          <a:xfrm>
            <a:off x="3549397"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6" name="Tampungan Teks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a:off x="354939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47" name="Tampungan Teks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a:off x="354939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48" name="Tampungan Gambar 23">
            <a:extLst>
              <a:ext uri="{FF2B5EF4-FFF2-40B4-BE49-F238E27FC236}">
                <a16:creationId xmlns:a16="http://schemas.microsoft.com/office/drawing/2014/main" id="{EB4488EE-E854-724E-95AE-B9943EE249EA}"/>
              </a:ext>
            </a:extLst>
          </p:cNvPr>
          <p:cNvSpPr>
            <a:spLocks noGrp="1"/>
          </p:cNvSpPr>
          <p:nvPr>
            <p:ph type="pic" sz="quarter" idx="43"/>
          </p:nvPr>
        </p:nvSpPr>
        <p:spPr>
          <a:xfrm>
            <a:off x="6348367"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49" name="Tampungan Teks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a:off x="634836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50" name="Tampungan Teks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a:off x="634836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51" name="Tampungan Gambar 23">
            <a:extLst>
              <a:ext uri="{FF2B5EF4-FFF2-40B4-BE49-F238E27FC236}">
                <a16:creationId xmlns:a16="http://schemas.microsoft.com/office/drawing/2014/main" id="{7BBADCE0-02E8-3249-8CBA-17D3783DFE70}"/>
              </a:ext>
            </a:extLst>
          </p:cNvPr>
          <p:cNvSpPr>
            <a:spLocks noGrp="1"/>
          </p:cNvSpPr>
          <p:nvPr>
            <p:ph type="pic" sz="quarter" idx="46"/>
          </p:nvPr>
        </p:nvSpPr>
        <p:spPr>
          <a:xfrm>
            <a:off x="9147335" y="4118551"/>
            <a:ext cx="904987" cy="905641"/>
          </a:xfrm>
        </p:spPr>
        <p:txBody>
          <a:bodyPr rtlCol="0">
            <a:noAutofit/>
          </a:bodyPr>
          <a:lstStyle>
            <a:lvl1pPr marL="0" indent="0">
              <a:buNone/>
              <a:defRPr sz="1400">
                <a:solidFill>
                  <a:schemeClr val="tx1"/>
                </a:solidFill>
              </a:defRPr>
            </a:lvl1pPr>
          </a:lstStyle>
          <a:p>
            <a:pPr rtl="0"/>
            <a:r>
              <a:rPr lang="en-US" noProof="0"/>
              <a:t>Click icon to add picture</a:t>
            </a:r>
            <a:endParaRPr lang="id-ID" noProof="0"/>
          </a:p>
        </p:txBody>
      </p:sp>
      <p:sp>
        <p:nvSpPr>
          <p:cNvPr id="52" name="Tampungan Teks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a:off x="9147336"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rtl="0"/>
            <a:r>
              <a:rPr lang="id-ID" noProof="0"/>
              <a:t>Nama</a:t>
            </a:r>
          </a:p>
        </p:txBody>
      </p:sp>
      <p:sp>
        <p:nvSpPr>
          <p:cNvPr id="53" name="Tampungan Teks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a:off x="9147335"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mn-lt"/>
              </a:defRPr>
            </a:lvl1pPr>
          </a:lstStyle>
          <a:p>
            <a:pPr lvl="0" rtl="0"/>
            <a:r>
              <a:rPr lang="id-ID" noProof="0"/>
              <a:t>Judul</a:t>
            </a:r>
          </a:p>
        </p:txBody>
      </p:sp>
      <p:sp>
        <p:nvSpPr>
          <p:cNvPr id="18" name="Tampungan Tanggal 17">
            <a:extLst>
              <a:ext uri="{FF2B5EF4-FFF2-40B4-BE49-F238E27FC236}">
                <a16:creationId xmlns:a16="http://schemas.microsoft.com/office/drawing/2014/main" id="{30445668-2DC5-E84C-8B16-922BC95F13F2}"/>
              </a:ext>
            </a:extLst>
          </p:cNvPr>
          <p:cNvSpPr>
            <a:spLocks noGrp="1"/>
          </p:cNvSpPr>
          <p:nvPr>
            <p:ph type="dt" sz="half" idx="25"/>
          </p:nvPr>
        </p:nvSpPr>
        <p:spPr/>
        <p:txBody>
          <a:bodyPr rtlCol="0">
            <a:noAutofit/>
          </a:bodyPr>
          <a:lstStyle>
            <a:lvl1pPr>
              <a:defRPr>
                <a:solidFill>
                  <a:schemeClr val="accent3"/>
                </a:solidFill>
                <a:latin typeface="+mn-lt"/>
              </a:defRPr>
            </a:lvl1pPr>
          </a:lstStyle>
          <a:p>
            <a:pPr rtl="0"/>
            <a:fld id="{0313E8A0-0BEB-4298-AEE4-B7CCF6490583}" type="datetime1">
              <a:rPr lang="id-ID" noProof="0" smtClean="0"/>
              <a:t>27/10/2025</a:t>
            </a:fld>
            <a:endParaRPr lang="id-ID" noProof="0"/>
          </a:p>
        </p:txBody>
      </p:sp>
      <p:sp>
        <p:nvSpPr>
          <p:cNvPr id="22" name="Tampungan Kaki 21">
            <a:extLst>
              <a:ext uri="{FF2B5EF4-FFF2-40B4-BE49-F238E27FC236}">
                <a16:creationId xmlns:a16="http://schemas.microsoft.com/office/drawing/2014/main" id="{D9227732-A878-814C-8621-64ED1B2CCF9F}"/>
              </a:ext>
            </a:extLst>
          </p:cNvPr>
          <p:cNvSpPr>
            <a:spLocks noGrp="1"/>
          </p:cNvSpPr>
          <p:nvPr>
            <p:ph type="ftr" sz="quarter" idx="26"/>
          </p:nvPr>
        </p:nvSpPr>
        <p:spPr/>
        <p:txBody>
          <a:bodyPr rtlCol="0">
            <a:noAutofit/>
          </a:bodyPr>
          <a:lstStyle>
            <a:lvl1pPr>
              <a:defRPr>
                <a:solidFill>
                  <a:schemeClr val="accent3"/>
                </a:solidFill>
                <a:latin typeface="+mn-lt"/>
              </a:defRPr>
            </a:lvl1pPr>
          </a:lstStyle>
          <a:p>
            <a:pPr rtl="0"/>
            <a:r>
              <a:rPr lang="id-ID" noProof="0"/>
              <a:t>JUDUL PRESENTASI</a:t>
            </a:r>
          </a:p>
        </p:txBody>
      </p:sp>
      <p:sp>
        <p:nvSpPr>
          <p:cNvPr id="23" name="Tampungan Nomor Slide 22">
            <a:extLst>
              <a:ext uri="{FF2B5EF4-FFF2-40B4-BE49-F238E27FC236}">
                <a16:creationId xmlns:a16="http://schemas.microsoft.com/office/drawing/2014/main" id="{CE9F02AC-6DFB-0C47-BC8E-4B0594007F33}"/>
              </a:ext>
            </a:extLst>
          </p:cNvPr>
          <p:cNvSpPr>
            <a:spLocks noGrp="1"/>
          </p:cNvSpPr>
          <p:nvPr>
            <p:ph type="sldNum" sz="quarter" idx="27"/>
          </p:nvPr>
        </p:nvSpPr>
        <p:spPr/>
        <p:txBody>
          <a:bodyPr rtlCol="0">
            <a:noAutofit/>
          </a:bodyPr>
          <a:lstStyle>
            <a:lvl1pPr>
              <a:defRPr>
                <a:solidFill>
                  <a:schemeClr val="accent3"/>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00572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Garis waktu">
    <p:bg>
      <p:bgPr>
        <a:solidFill>
          <a:schemeClr val="accent1"/>
        </a:solidFill>
        <a:effectLst/>
      </p:bgPr>
    </p:bg>
    <p:spTree>
      <p:nvGrpSpPr>
        <p:cNvPr id="1" name=""/>
        <p:cNvGrpSpPr/>
        <p:nvPr/>
      </p:nvGrpSpPr>
      <p:grpSpPr>
        <a:xfrm>
          <a:off x="0" y="0"/>
          <a:ext cx="0" cy="0"/>
          <a:chOff x="0" y="0"/>
          <a:chExt cx="0" cy="0"/>
        </a:xfrm>
      </p:grpSpPr>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solidFill>
                  <a:schemeClr val="bg1"/>
                </a:solidFill>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rtlCol="0">
            <a:noAutofit/>
          </a:bodyPr>
          <a:lstStyle>
            <a:lvl1pPr marL="0" indent="0">
              <a:buNone/>
              <a:defRPr>
                <a:solidFill>
                  <a:schemeClr val="bg1"/>
                </a:solidFill>
                <a:latin typeface="+mn-lt"/>
              </a:defRPr>
            </a:lvl1pPr>
            <a:lvl2pPr marL="457200" indent="0">
              <a:buNone/>
              <a:defRPr>
                <a:solidFill>
                  <a:schemeClr val="bg1"/>
                </a:solidFill>
                <a:latin typeface="+mn-lt"/>
              </a:defRPr>
            </a:lvl2pPr>
            <a:lvl3pPr marL="914400" indent="0">
              <a:buNone/>
              <a:defRPr>
                <a:solidFill>
                  <a:schemeClr val="bg1"/>
                </a:solidFill>
                <a:latin typeface="+mn-lt"/>
              </a:defRPr>
            </a:lvl3pPr>
            <a:lvl4pPr marL="1371600" indent="0">
              <a:buNone/>
              <a:defRPr>
                <a:solidFill>
                  <a:schemeClr val="bg1"/>
                </a:solidFill>
                <a:latin typeface="+mn-lt"/>
              </a:defRPr>
            </a:lvl4pPr>
            <a:lvl5pPr marL="1828800" indent="0">
              <a:buNone/>
              <a:defRPr>
                <a:solidFill>
                  <a:schemeClr val="bg1"/>
                </a:solidFill>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5FB06667-F309-4D31-9192-FA935AFD6E2C}" type="datetime1">
              <a:rPr lang="id-ID" noProof="0" smtClean="0"/>
              <a:t>27/10/2025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56927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 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6" name="Bentuk bebas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864F080E-00EF-45FB-879B-543FC5219789}" type="datetime1">
              <a:rPr lang="id-ID" noProof="0" smtClean="0"/>
              <a:t>27/10/2025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
        <p:nvSpPr>
          <p:cNvPr id="13" name="Tampungan Konten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4" name="Tampungan Konten 2">
            <a:extLst>
              <a:ext uri="{FF2B5EF4-FFF2-40B4-BE49-F238E27FC236}">
                <a16:creationId xmlns:a16="http://schemas.microsoft.com/office/drawing/2014/main" id="{0B33DABA-7BF5-1147-BA5E-63B92F220E51}"/>
              </a:ext>
            </a:extLst>
          </p:cNvPr>
          <p:cNvSpPr>
            <a:spLocks noGrp="1"/>
          </p:cNvSpPr>
          <p:nvPr>
            <p:ph idx="11" hasCustomPrompt="1"/>
          </p:nvPr>
        </p:nvSpPr>
        <p:spPr>
          <a:xfrm>
            <a:off x="1167493"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5" name="Tampungan Konten 2">
            <a:extLst>
              <a:ext uri="{FF2B5EF4-FFF2-40B4-BE49-F238E27FC236}">
                <a16:creationId xmlns:a16="http://schemas.microsoft.com/office/drawing/2014/main" id="{1B05BEE9-8BC0-EC44-B913-DB6426DF2EA7}"/>
              </a:ext>
            </a:extLst>
          </p:cNvPr>
          <p:cNvSpPr>
            <a:spLocks noGrp="1"/>
          </p:cNvSpPr>
          <p:nvPr>
            <p:ph idx="12" hasCustomPrompt="1"/>
          </p:nvPr>
        </p:nvSpPr>
        <p:spPr>
          <a:xfrm>
            <a:off x="6283235"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Tree>
    <p:extLst>
      <p:ext uri="{BB962C8B-B14F-4D97-AF65-F5344CB8AC3E}">
        <p14:creationId xmlns:p14="http://schemas.microsoft.com/office/powerpoint/2010/main" val="2131912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3 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US" noProof="0"/>
              <a:t>Click to edit Master title style</a:t>
            </a:r>
            <a:endParaRPr lang="id-ID" noProof="0"/>
          </a:p>
        </p:txBody>
      </p:sp>
      <p:sp>
        <p:nvSpPr>
          <p:cNvPr id="3" name="Tampungan Konten 2">
            <a:extLst>
              <a:ext uri="{FF2B5EF4-FFF2-40B4-BE49-F238E27FC236}">
                <a16:creationId xmlns:a16="http://schemas.microsoft.com/office/drawing/2014/main" id="{8A6FC6F2-80B4-49A7-9448-33FE2DF0E967}"/>
              </a:ext>
            </a:extLst>
          </p:cNvPr>
          <p:cNvSpPr>
            <a:spLocks noGrp="1"/>
          </p:cNvSpPr>
          <p:nvPr>
            <p:ph idx="1" hasCustomPrompt="1"/>
          </p:nvPr>
        </p:nvSpPr>
        <p:spPr>
          <a:xfrm>
            <a:off x="1167491" y="2526318"/>
            <a:ext cx="3218688"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Bentuk bebas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5" name="Bentuk bebas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6" name="Bentuk bebas 5">
            <a:extLst>
              <a:ext uri="{FF2B5EF4-FFF2-40B4-BE49-F238E27FC236}">
                <a16:creationId xmlns:a16="http://schemas.microsoft.com/office/drawing/2014/main" id="{D11C9832-A021-954E-A34F-2988D1189AE9}"/>
              </a:ext>
            </a:extLst>
          </p:cNvPr>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nvGrpSpPr>
          <p:cNvPr id="9" name="Gr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Bentuk bebas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sp>
          <p:nvSpPr>
            <p:cNvPr id="8" name="Bentuk bebas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latin typeface="+mn-lt"/>
              </a:endParaRPr>
            </a:p>
          </p:txBody>
        </p:sp>
      </p:grpSp>
      <p:sp>
        <p:nvSpPr>
          <p:cNvPr id="10" name="Tampungan Tanggal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pPr rtl="0"/>
            <a:fld id="{FED39403-5B82-4458-B314-3455B2B980C6}" type="datetime1">
              <a:rPr lang="id-ID" noProof="0" smtClean="0"/>
              <a:t>27/10/2025</a:t>
            </a:fld>
            <a:endParaRPr lang="id-ID" noProof="0"/>
          </a:p>
        </p:txBody>
      </p:sp>
      <p:sp>
        <p:nvSpPr>
          <p:cNvPr id="11" name="Tampungan Kaki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r>
              <a:rPr lang="id-ID" noProof="0"/>
              <a:t>JUDUL PRESENTASI</a:t>
            </a:r>
          </a:p>
        </p:txBody>
      </p:sp>
      <p:sp>
        <p:nvSpPr>
          <p:cNvPr id="13" name="Tampungan Konten 2">
            <a:extLst>
              <a:ext uri="{FF2B5EF4-FFF2-40B4-BE49-F238E27FC236}">
                <a16:creationId xmlns:a16="http://schemas.microsoft.com/office/drawing/2014/main" id="{94CA559C-3355-DE44-ACF9-BDB6083C4225}"/>
              </a:ext>
            </a:extLst>
          </p:cNvPr>
          <p:cNvSpPr>
            <a:spLocks noGrp="1"/>
          </p:cNvSpPr>
          <p:nvPr>
            <p:ph idx="10" hasCustomPrompt="1"/>
          </p:nvPr>
        </p:nvSpPr>
        <p:spPr>
          <a:xfrm>
            <a:off x="4683787" y="2526318"/>
            <a:ext cx="3173279"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4" name="Tampungan Konten 2">
            <a:extLst>
              <a:ext uri="{FF2B5EF4-FFF2-40B4-BE49-F238E27FC236}">
                <a16:creationId xmlns:a16="http://schemas.microsoft.com/office/drawing/2014/main" id="{0B33DABA-7BF5-1147-BA5E-63B92F220E51}"/>
              </a:ext>
            </a:extLst>
          </p:cNvPr>
          <p:cNvSpPr>
            <a:spLocks noGrp="1"/>
          </p:cNvSpPr>
          <p:nvPr>
            <p:ph idx="11" hasCustomPrompt="1"/>
          </p:nvPr>
        </p:nvSpPr>
        <p:spPr>
          <a:xfrm>
            <a:off x="1167493"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5" name="Tampungan Konten 2">
            <a:extLst>
              <a:ext uri="{FF2B5EF4-FFF2-40B4-BE49-F238E27FC236}">
                <a16:creationId xmlns:a16="http://schemas.microsoft.com/office/drawing/2014/main" id="{1B05BEE9-8BC0-EC44-B913-DB6426DF2EA7}"/>
              </a:ext>
            </a:extLst>
          </p:cNvPr>
          <p:cNvSpPr>
            <a:spLocks noGrp="1"/>
          </p:cNvSpPr>
          <p:nvPr>
            <p:ph idx="12" hasCustomPrompt="1"/>
          </p:nvPr>
        </p:nvSpPr>
        <p:spPr>
          <a:xfrm>
            <a:off x="4683788"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6" name="Tampungan Konten 2">
            <a:extLst>
              <a:ext uri="{FF2B5EF4-FFF2-40B4-BE49-F238E27FC236}">
                <a16:creationId xmlns:a16="http://schemas.microsoft.com/office/drawing/2014/main" id="{43D62993-A055-DF4F-9286-4FFE3A5C7FD7}"/>
              </a:ext>
            </a:extLst>
          </p:cNvPr>
          <p:cNvSpPr>
            <a:spLocks noGrp="1"/>
          </p:cNvSpPr>
          <p:nvPr>
            <p:ph idx="13" hasCustomPrompt="1"/>
          </p:nvPr>
        </p:nvSpPr>
        <p:spPr>
          <a:xfrm>
            <a:off x="8200082" y="2526318"/>
            <a:ext cx="3173279"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7" name="Tampungan Konten 2">
            <a:extLst>
              <a:ext uri="{FF2B5EF4-FFF2-40B4-BE49-F238E27FC236}">
                <a16:creationId xmlns:a16="http://schemas.microsoft.com/office/drawing/2014/main" id="{A896DA2E-4448-254C-86D1-9E16E63CC6A0}"/>
              </a:ext>
            </a:extLst>
          </p:cNvPr>
          <p:cNvSpPr>
            <a:spLocks noGrp="1"/>
          </p:cNvSpPr>
          <p:nvPr>
            <p:ph idx="14" hasCustomPrompt="1"/>
          </p:nvPr>
        </p:nvSpPr>
        <p:spPr>
          <a:xfrm>
            <a:off x="8200083" y="2003804"/>
            <a:ext cx="3173278"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12" name="Tampungan Nomor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275697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lide Akhir">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94248F2-5264-4601-AA0B-6C092F77F2DD}"/>
              </a:ext>
            </a:extLst>
          </p:cNvPr>
          <p:cNvSpPr>
            <a:spLocks noGrp="1"/>
          </p:cNvSpPr>
          <p:nvPr>
            <p:ph type="ctrTitle"/>
          </p:nvPr>
        </p:nvSpPr>
        <p:spPr>
          <a:xfrm>
            <a:off x="1167494" y="1122363"/>
            <a:ext cx="6220278" cy="2387600"/>
          </a:xfrm>
        </p:spPr>
        <p:txBody>
          <a:bodyPr rtlCol="0" anchor="b">
            <a:noAutofit/>
          </a:bodyPr>
          <a:lstStyle>
            <a:lvl1pPr algn="l">
              <a:defRPr sz="6000" b="1">
                <a:latin typeface="+mj-lt"/>
              </a:defRPr>
            </a:lvl1pPr>
          </a:lstStyle>
          <a:p>
            <a:pPr rtl="0"/>
            <a:r>
              <a:rPr lang="en-US" noProof="0"/>
              <a:t>Click to edit Master title style</a:t>
            </a:r>
            <a:endParaRPr lang="id-ID" noProof="0"/>
          </a:p>
        </p:txBody>
      </p:sp>
      <p:sp>
        <p:nvSpPr>
          <p:cNvPr id="3" name="Subjudul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6220277" cy="2247219"/>
          </a:xfrm>
        </p:spPr>
        <p:txBody>
          <a:bodyPr rtlCol="0">
            <a:no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id-ID" noProof="0"/>
          </a:p>
        </p:txBody>
      </p:sp>
      <p:sp>
        <p:nvSpPr>
          <p:cNvPr id="4" name="Persegi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d-ID" noProof="0"/>
          </a:p>
        </p:txBody>
      </p:sp>
      <p:grpSp>
        <p:nvGrpSpPr>
          <p:cNvPr id="6" name="Gr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Bentuk bebas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6" name="Bentuk bebas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grpSp>
      <p:sp>
        <p:nvSpPr>
          <p:cNvPr id="22" name="Bentuk bebas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
        <p:nvSpPr>
          <p:cNvPr id="17" name="Bentuk bebas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id-ID" noProof="0"/>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Judul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pPr rtl="0"/>
            <a:r>
              <a:rPr lang="id-ID" noProof="0"/>
              <a:t>Klik untuk mengedit gaya judul Master</a:t>
            </a:r>
          </a:p>
        </p:txBody>
      </p:sp>
      <p:sp>
        <p:nvSpPr>
          <p:cNvPr id="3" name="Tampungan Teks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rtl="0"/>
            <a:r>
              <a:rPr lang="id-ID" noProof="0"/>
              <a:t>Klik untuk mengedit gaya teks Master</a:t>
            </a:r>
          </a:p>
          <a:p>
            <a:pPr lvl="1" rtl="0"/>
            <a:r>
              <a:rPr lang="id-ID" noProof="0"/>
              <a:t>Tingkat kedua</a:t>
            </a:r>
          </a:p>
          <a:p>
            <a:pPr lvl="2" rtl="0"/>
            <a:r>
              <a:rPr lang="id-ID" noProof="0"/>
              <a:t>Tingkat ketiga</a:t>
            </a:r>
          </a:p>
          <a:p>
            <a:pPr lvl="3" rtl="0"/>
            <a:r>
              <a:rPr lang="id-ID" noProof="0"/>
              <a:t>Tingkat keempat</a:t>
            </a:r>
          </a:p>
          <a:p>
            <a:pPr lvl="4" rtl="0"/>
            <a:r>
              <a:rPr lang="id-ID" noProof="0"/>
              <a:t>Tingkat kelima</a:t>
            </a:r>
          </a:p>
        </p:txBody>
      </p:sp>
      <p:sp>
        <p:nvSpPr>
          <p:cNvPr id="4" name="Tampungan Tanggal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pPr rtl="0"/>
            <a:fld id="{C829E6E2-2665-481C-9621-3949D48D67CF}" type="datetime1">
              <a:rPr lang="id-ID" noProof="0" smtClean="0"/>
              <a:t>27/10/2025</a:t>
            </a:fld>
            <a:endParaRPr lang="id-ID" noProof="0"/>
          </a:p>
        </p:txBody>
      </p:sp>
      <p:sp>
        <p:nvSpPr>
          <p:cNvPr id="5" name="Tampungan Kaki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pPr rtl="0"/>
            <a:r>
              <a:rPr lang="id-ID" noProof="0"/>
              <a:t>JUDUL PRESENTASI</a:t>
            </a:r>
          </a:p>
        </p:txBody>
      </p:sp>
      <p:sp>
        <p:nvSpPr>
          <p:cNvPr id="6" name="Tampungan Nomor Slide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pPr rtl="0"/>
            <a:fld id="{294A09A9-5501-47C1-A89A-A340965A2BE2}" type="slidenum">
              <a:rPr lang="id-ID" noProof="0" smtClean="0"/>
              <a:pPr/>
              <a:t>‹#›</a:t>
            </a:fld>
            <a:endParaRPr lang="id-ID" noProof="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60" r:id="rId5"/>
    <p:sldLayoutId id="2147483661" r:id="rId6"/>
    <p:sldLayoutId id="2147483654" r:id="rId7"/>
    <p:sldLayoutId id="2147483658" r:id="rId8"/>
    <p:sldLayoutId id="2147483662" r:id="rId9"/>
    <p:sldLayoutId id="2147483663" r:id="rId10"/>
    <p:sldLayoutId id="2147483664" r:id="rId11"/>
    <p:sldLayoutId id="2147483665" r:id="rId12"/>
    <p:sldLayoutId id="2147483666"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120.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6.xml"/><Relationship Id="rId5" Type="http://schemas.openxmlformats.org/officeDocument/2006/relationships/image" Target="../media/image140.png"/><Relationship Id="rId4" Type="http://schemas.openxmlformats.org/officeDocument/2006/relationships/image" Target="../media/image13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1DF3D98-3C30-4CFC-8643-C81E829C8C25}"/>
              </a:ext>
            </a:extLst>
          </p:cNvPr>
          <p:cNvSpPr>
            <a:spLocks noGrp="1"/>
          </p:cNvSpPr>
          <p:nvPr>
            <p:ph type="ctrTitle"/>
          </p:nvPr>
        </p:nvSpPr>
        <p:spPr>
          <a:xfrm>
            <a:off x="1167493" y="1122363"/>
            <a:ext cx="7462157" cy="2387600"/>
          </a:xfrm>
        </p:spPr>
        <p:txBody>
          <a:bodyPr rtlCol="0"/>
          <a:lstStyle/>
          <a:p>
            <a:pPr>
              <a:lnSpc>
                <a:spcPts val="2800"/>
              </a:lnSpc>
            </a:pPr>
            <a:r>
              <a:rPr lang="id-ID" sz="2800" dirty="0"/>
              <a:t>PENERAPAN </a:t>
            </a:r>
            <a:r>
              <a:rPr lang="id-ID" sz="2800" i="1" dirty="0"/>
              <a:t>LIGHT</a:t>
            </a:r>
            <a:r>
              <a:rPr lang="id-ID" sz="2800" dirty="0"/>
              <a:t> </a:t>
            </a:r>
            <a:r>
              <a:rPr lang="id-ID" sz="2800" i="1" dirty="0"/>
              <a:t>GRADIENT</a:t>
            </a:r>
            <a:r>
              <a:rPr lang="id-ID" sz="2800" dirty="0"/>
              <a:t> </a:t>
            </a:r>
            <a:r>
              <a:rPr lang="id-ID" sz="2800" i="1" dirty="0"/>
              <a:t>BOOSTING</a:t>
            </a:r>
            <a:r>
              <a:rPr lang="id-ID" sz="2800" dirty="0"/>
              <a:t> </a:t>
            </a:r>
            <a:r>
              <a:rPr lang="id-ID" sz="2800" i="1" dirty="0"/>
              <a:t>MACHINE</a:t>
            </a:r>
            <a:r>
              <a:rPr lang="id-ID" sz="2800" dirty="0"/>
              <a:t> (LIGHTGBM) UNTUK PREDIKSI NILAI </a:t>
            </a:r>
            <a:r>
              <a:rPr lang="id-ID" sz="2800" i="1" dirty="0"/>
              <a:t>EXPECTED</a:t>
            </a:r>
            <a:r>
              <a:rPr lang="id-ID" sz="2800" dirty="0"/>
              <a:t> </a:t>
            </a:r>
            <a:r>
              <a:rPr lang="id-ID" sz="2800" i="1" dirty="0"/>
              <a:t>GOALS</a:t>
            </a:r>
            <a:r>
              <a:rPr lang="id-ID" sz="2800" dirty="0"/>
              <a:t> (</a:t>
            </a:r>
            <a:r>
              <a:rPr lang="en-GB" sz="2800" dirty="0"/>
              <a:t>x</a:t>
            </a:r>
            <a:r>
              <a:rPr lang="id-ID" sz="2800" dirty="0"/>
              <a:t>G) DALAM ANALISIS SEPAK BOLA</a:t>
            </a:r>
          </a:p>
        </p:txBody>
      </p:sp>
      <p:sp>
        <p:nvSpPr>
          <p:cNvPr id="3" name="Subjudul 2">
            <a:extLst>
              <a:ext uri="{FF2B5EF4-FFF2-40B4-BE49-F238E27FC236}">
                <a16:creationId xmlns:a16="http://schemas.microsoft.com/office/drawing/2014/main" id="{A068D447-28D3-4F5F-B2DC-FD67E9015868}"/>
              </a:ext>
            </a:extLst>
          </p:cNvPr>
          <p:cNvSpPr>
            <a:spLocks noGrp="1"/>
          </p:cNvSpPr>
          <p:nvPr>
            <p:ph type="subTitle" idx="1"/>
          </p:nvPr>
        </p:nvSpPr>
        <p:spPr>
          <a:xfrm>
            <a:off x="1167494" y="3602038"/>
            <a:ext cx="3218770" cy="806675"/>
          </a:xfrm>
        </p:spPr>
        <p:txBody>
          <a:bodyPr rtlCol="0"/>
          <a:lstStyle/>
          <a:p>
            <a:pPr rtl="0">
              <a:lnSpc>
                <a:spcPts val="2000"/>
              </a:lnSpc>
              <a:spcBef>
                <a:spcPts val="0"/>
              </a:spcBef>
            </a:pPr>
            <a:r>
              <a:rPr lang="en-GB" sz="2400" dirty="0"/>
              <a:t>Fadhil Raihan Akbar</a:t>
            </a:r>
          </a:p>
          <a:p>
            <a:pPr rtl="0">
              <a:lnSpc>
                <a:spcPts val="2000"/>
              </a:lnSpc>
              <a:spcBef>
                <a:spcPts val="0"/>
              </a:spcBef>
            </a:pPr>
            <a:r>
              <a:rPr lang="en-GB" sz="2400" b="1" dirty="0"/>
              <a:t>NIM</a:t>
            </a:r>
            <a:r>
              <a:rPr lang="en-GB" sz="2400" dirty="0"/>
              <a:t>. </a:t>
            </a:r>
            <a:r>
              <a:rPr lang="en-GB" sz="2400" b="1" dirty="0"/>
              <a:t>11210930000101</a:t>
            </a:r>
            <a:endParaRPr lang="id-ID" sz="2400" b="1" dirty="0"/>
          </a:p>
        </p:txBody>
      </p:sp>
      <p:pic>
        <p:nvPicPr>
          <p:cNvPr id="5" name="Picture 4">
            <a:extLst>
              <a:ext uri="{FF2B5EF4-FFF2-40B4-BE49-F238E27FC236}">
                <a16:creationId xmlns:a16="http://schemas.microsoft.com/office/drawing/2014/main" id="{F178C27A-9CF5-401F-6C11-BF50CFD967A0}"/>
              </a:ext>
            </a:extLst>
          </p:cNvPr>
          <p:cNvPicPr>
            <a:picLocks noChangeAspect="1"/>
          </p:cNvPicPr>
          <p:nvPr/>
        </p:nvPicPr>
        <p:blipFill>
          <a:blip r:embed="rId3"/>
          <a:stretch>
            <a:fillRect/>
          </a:stretch>
        </p:blipFill>
        <p:spPr>
          <a:xfrm>
            <a:off x="1296080" y="200025"/>
            <a:ext cx="1366515" cy="1628775"/>
          </a:xfrm>
          <a:prstGeom prst="rect">
            <a:avLst/>
          </a:prstGeom>
        </p:spPr>
      </p:pic>
      <p:sp>
        <p:nvSpPr>
          <p:cNvPr id="6" name="Subjudul 2">
            <a:extLst>
              <a:ext uri="{FF2B5EF4-FFF2-40B4-BE49-F238E27FC236}">
                <a16:creationId xmlns:a16="http://schemas.microsoft.com/office/drawing/2014/main" id="{20CD1806-F875-C7FF-986B-7D69010152E6}"/>
              </a:ext>
            </a:extLst>
          </p:cNvPr>
          <p:cNvSpPr txBox="1">
            <a:spLocks/>
          </p:cNvSpPr>
          <p:nvPr/>
        </p:nvSpPr>
        <p:spPr>
          <a:xfrm>
            <a:off x="2434319" y="5197476"/>
            <a:ext cx="3218770" cy="8066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ts val="2000"/>
              </a:lnSpc>
              <a:spcBef>
                <a:spcPts val="0"/>
              </a:spcBef>
            </a:pPr>
            <a:r>
              <a:rPr lang="en-GB" sz="2400" dirty="0"/>
              <a:t>Dosen </a:t>
            </a:r>
            <a:r>
              <a:rPr lang="en-GB" sz="2400" dirty="0" err="1"/>
              <a:t>Pembimbing</a:t>
            </a:r>
            <a:r>
              <a:rPr lang="en-GB" sz="2400" dirty="0"/>
              <a:t> 1</a:t>
            </a:r>
          </a:p>
          <a:p>
            <a:pPr algn="ctr">
              <a:lnSpc>
                <a:spcPts val="2400"/>
              </a:lnSpc>
              <a:spcBef>
                <a:spcPts val="0"/>
              </a:spcBef>
            </a:pPr>
            <a:r>
              <a:rPr lang="id-ID" sz="2400" b="1" dirty="0"/>
              <a:t>Dr. Qurrotul Aini, MT.</a:t>
            </a:r>
          </a:p>
        </p:txBody>
      </p:sp>
      <p:sp>
        <p:nvSpPr>
          <p:cNvPr id="7" name="Subjudul 2">
            <a:extLst>
              <a:ext uri="{FF2B5EF4-FFF2-40B4-BE49-F238E27FC236}">
                <a16:creationId xmlns:a16="http://schemas.microsoft.com/office/drawing/2014/main" id="{EF80EB8D-B372-78F0-0E25-E88BC2403917}"/>
              </a:ext>
            </a:extLst>
          </p:cNvPr>
          <p:cNvSpPr txBox="1">
            <a:spLocks/>
          </p:cNvSpPr>
          <p:nvPr/>
        </p:nvSpPr>
        <p:spPr>
          <a:xfrm>
            <a:off x="6586538" y="5197476"/>
            <a:ext cx="4086224" cy="8066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ts val="2000"/>
              </a:lnSpc>
              <a:spcBef>
                <a:spcPts val="0"/>
              </a:spcBef>
            </a:pPr>
            <a:r>
              <a:rPr lang="en-GB" sz="2400" dirty="0"/>
              <a:t>Dosen </a:t>
            </a:r>
            <a:r>
              <a:rPr lang="en-GB" sz="2400" dirty="0" err="1"/>
              <a:t>Pembimbing</a:t>
            </a:r>
            <a:r>
              <a:rPr lang="en-GB" sz="2400" dirty="0"/>
              <a:t> 2</a:t>
            </a:r>
          </a:p>
          <a:p>
            <a:pPr algn="ctr">
              <a:lnSpc>
                <a:spcPts val="2400"/>
              </a:lnSpc>
              <a:spcBef>
                <a:spcPts val="0"/>
              </a:spcBef>
            </a:pPr>
            <a:r>
              <a:rPr lang="id-ID" sz="2400" b="1" dirty="0" err="1"/>
              <a:t>Nida'ul</a:t>
            </a:r>
            <a:r>
              <a:rPr lang="id-ID" sz="2400" b="1" dirty="0"/>
              <a:t> Hasanati, S.T.,MMSI.</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7D148-4E9F-218D-0CAE-EFC01133DE4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7B15747-D2A1-592F-EA5B-B41F5AAF2A8A}"/>
              </a:ext>
            </a:extLst>
          </p:cNvPr>
          <p:cNvSpPr>
            <a:spLocks noGrp="1"/>
          </p:cNvSpPr>
          <p:nvPr>
            <p:ph type="title"/>
          </p:nvPr>
        </p:nvSpPr>
        <p:spPr>
          <a:xfrm>
            <a:off x="1167492" y="381000"/>
            <a:ext cx="9779183" cy="1325563"/>
          </a:xfrm>
        </p:spPr>
        <p:txBody>
          <a:bodyPr rtlCol="0"/>
          <a:lstStyle/>
          <a:p>
            <a:pPr rtl="0"/>
            <a:r>
              <a:rPr lang="en-GB" dirty="0"/>
              <a:t>Al-</a:t>
            </a:r>
            <a:r>
              <a:rPr lang="en-GB" dirty="0" err="1"/>
              <a:t>Alaq</a:t>
            </a:r>
            <a:r>
              <a:rPr lang="en-GB" dirty="0"/>
              <a:t> 1-5</a:t>
            </a:r>
            <a:endParaRPr lang="id-ID" dirty="0"/>
          </a:p>
        </p:txBody>
      </p:sp>
      <p:sp>
        <p:nvSpPr>
          <p:cNvPr id="4" name="Tampungan Konten 3">
            <a:extLst>
              <a:ext uri="{FF2B5EF4-FFF2-40B4-BE49-F238E27FC236}">
                <a16:creationId xmlns:a16="http://schemas.microsoft.com/office/drawing/2014/main" id="{735DD3C0-4274-8316-486D-64F0F6768A22}"/>
              </a:ext>
            </a:extLst>
          </p:cNvPr>
          <p:cNvSpPr>
            <a:spLocks noGrp="1"/>
          </p:cNvSpPr>
          <p:nvPr>
            <p:ph idx="1"/>
          </p:nvPr>
        </p:nvSpPr>
        <p:spPr>
          <a:xfrm>
            <a:off x="1167492" y="2020529"/>
            <a:ext cx="9157607" cy="3347884"/>
          </a:xfrm>
        </p:spPr>
        <p:txBody>
          <a:bodyPr vert="horz" lIns="91440" tIns="45720" rIns="91440" bIns="45720" rtlCol="0" anchor="t">
            <a:normAutofit fontScale="85000" lnSpcReduction="10000"/>
          </a:bodyPr>
          <a:lstStyle/>
          <a:p>
            <a:pPr algn="r"/>
            <a:r>
              <a:rPr lang="ar-AE" sz="4800" dirty="0"/>
              <a:t>ٱقْرَأْ بِٱسْمِ رَبِّكَ ٱلَّذِى خَلَقَ ١خَلَقَ ٱلْإِنسَـٰنَ مِنْ عَلَقٍ ٢ٱقْرَأْ وَرَبُّكَ ٱلْأَكْرَمُ ٣ٱلَّذِى عَلَّمَ بِٱلْقَلَمِ ٤عَلَّمَ ٱلْإِنسَـٰنَ مَا لَمْ يَعْلَمْ </a:t>
            </a:r>
            <a:r>
              <a:rPr lang="ar-AE" sz="3200" dirty="0"/>
              <a:t>٥</a:t>
            </a:r>
            <a:endParaRPr lang="en-GB" sz="3200" dirty="0"/>
          </a:p>
          <a:p>
            <a:r>
              <a:rPr lang="en-GB" sz="3200" dirty="0"/>
              <a:t>1. </a:t>
            </a:r>
            <a:r>
              <a:rPr lang="en-GB" sz="3200" dirty="0" err="1"/>
              <a:t>Bacalah</a:t>
            </a:r>
            <a:r>
              <a:rPr lang="en-GB" sz="3200" dirty="0"/>
              <a:t> </a:t>
            </a:r>
            <a:r>
              <a:rPr lang="en-GB" sz="3200" dirty="0" err="1"/>
              <a:t>dengan</a:t>
            </a:r>
            <a:r>
              <a:rPr lang="en-GB" sz="3200" dirty="0"/>
              <a:t> (</a:t>
            </a:r>
            <a:r>
              <a:rPr lang="en-GB" sz="3200" dirty="0" err="1"/>
              <a:t>menyebut</a:t>
            </a:r>
            <a:r>
              <a:rPr lang="en-GB" sz="3200" dirty="0"/>
              <a:t>) nama </a:t>
            </a:r>
            <a:r>
              <a:rPr lang="en-GB" sz="3200" dirty="0" err="1"/>
              <a:t>Tuhanmu</a:t>
            </a:r>
            <a:r>
              <a:rPr lang="en-GB" sz="3200" dirty="0"/>
              <a:t> yang </a:t>
            </a:r>
            <a:r>
              <a:rPr lang="en-GB" sz="3200" dirty="0" err="1"/>
              <a:t>menciptakan</a:t>
            </a:r>
            <a:r>
              <a:rPr lang="en-GB" sz="3200" dirty="0"/>
              <a:t> 2. </a:t>
            </a:r>
            <a:r>
              <a:rPr lang="pt-BR" sz="3200" dirty="0"/>
              <a:t>Dia telah menciptakan manusia dari segumpal darah 3. Bacalah, dan Tuhanmulah Yang Mahamulia 4. Yang mengajar (manusia) dengan pena 5. Dia mengajarkan manusia apa yang tidak diketahuinya.</a:t>
            </a:r>
            <a:endParaRPr lang="ar-AE" sz="3200" dirty="0"/>
          </a:p>
        </p:txBody>
      </p:sp>
      <p:sp>
        <p:nvSpPr>
          <p:cNvPr id="9" name="Tampungan Nomor Slide 8">
            <a:extLst>
              <a:ext uri="{FF2B5EF4-FFF2-40B4-BE49-F238E27FC236}">
                <a16:creationId xmlns:a16="http://schemas.microsoft.com/office/drawing/2014/main" id="{D67054B4-F7B9-3AEE-8A0C-375D9ADED946}"/>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a:t>
            </a:fld>
            <a:endParaRPr lang="id-ID"/>
          </a:p>
        </p:txBody>
      </p:sp>
    </p:spTree>
    <p:extLst>
      <p:ext uri="{BB962C8B-B14F-4D97-AF65-F5344CB8AC3E}">
        <p14:creationId xmlns:p14="http://schemas.microsoft.com/office/powerpoint/2010/main" val="4192597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rtlCol="0"/>
          <a:lstStyle/>
          <a:p>
            <a:pPr rtl="0"/>
            <a:r>
              <a:rPr lang="en-GB" dirty="0"/>
              <a:t>Agenda </a:t>
            </a:r>
            <a:r>
              <a:rPr lang="en-GB" dirty="0" err="1"/>
              <a:t>Presentasi</a:t>
            </a:r>
            <a:endParaRPr lang="id-ID" dirty="0"/>
          </a:p>
        </p:txBody>
      </p:sp>
      <p:sp>
        <p:nvSpPr>
          <p:cNvPr id="3" name="Tampungan Konten 2">
            <a:extLst>
              <a:ext uri="{FF2B5EF4-FFF2-40B4-BE49-F238E27FC236}">
                <a16:creationId xmlns:a16="http://schemas.microsoft.com/office/drawing/2014/main" id="{95B371F2-DBA5-415A-82C8-651F587B857A}"/>
              </a:ext>
            </a:extLst>
          </p:cNvPr>
          <p:cNvSpPr>
            <a:spLocks noGrp="1"/>
          </p:cNvSpPr>
          <p:nvPr>
            <p:ph type="body" idx="1"/>
          </p:nvPr>
        </p:nvSpPr>
        <p:spPr>
          <a:xfrm>
            <a:off x="1167492" y="2653167"/>
            <a:ext cx="9779183" cy="3436483"/>
          </a:xfrm>
        </p:spPr>
        <p:txBody>
          <a:bodyPr vert="horz" lIns="91440" tIns="45720" rIns="91440" bIns="45720" rtlCol="0" anchor="t">
            <a:normAutofit fontScale="92500" lnSpcReduction="10000"/>
          </a:bodyPr>
          <a:lstStyle/>
          <a:p>
            <a:pPr marL="457200" indent="-457200">
              <a:buFont typeface="+mj-lt"/>
              <a:buAutoNum type="arabicPeriod"/>
            </a:pPr>
            <a:r>
              <a:rPr lang="en-GB" sz="2800" b="1" dirty="0"/>
              <a:t>PENDAHULUAN</a:t>
            </a:r>
          </a:p>
          <a:p>
            <a:pPr marL="457200" indent="-457200">
              <a:buFont typeface="+mj-lt"/>
              <a:buAutoNum type="arabicPeriod"/>
            </a:pPr>
            <a:r>
              <a:rPr lang="en-GB" sz="2800" b="1" dirty="0"/>
              <a:t>TINJAUAN PUSTAKA</a:t>
            </a:r>
          </a:p>
          <a:p>
            <a:pPr marL="457200" indent="-457200">
              <a:buFont typeface="+mj-lt"/>
              <a:buAutoNum type="arabicPeriod"/>
            </a:pPr>
            <a:r>
              <a:rPr lang="en-GB" sz="2800" b="1" dirty="0"/>
              <a:t>METODOLOGI PENELITIAN</a:t>
            </a:r>
          </a:p>
          <a:p>
            <a:pPr marL="457200" indent="-457200">
              <a:buFont typeface="+mj-lt"/>
              <a:buAutoNum type="arabicPeriod"/>
            </a:pPr>
            <a:r>
              <a:rPr lang="en-GB" sz="2800" b="1" dirty="0"/>
              <a:t>HASIL DAN PEMBAHASAN</a:t>
            </a:r>
          </a:p>
          <a:p>
            <a:pPr marL="457200" indent="-457200">
              <a:buFont typeface="+mj-lt"/>
              <a:buAutoNum type="arabicPeriod"/>
            </a:pPr>
            <a:r>
              <a:rPr lang="en-GB" sz="2800" b="1" dirty="0"/>
              <a:t>PENUTUP</a:t>
            </a:r>
          </a:p>
        </p:txBody>
      </p:sp>
      <p:sp>
        <p:nvSpPr>
          <p:cNvPr id="6" name="Tampungan Nomor Slide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3</a:t>
            </a:fld>
            <a:endParaRPr lang="id-ID"/>
          </a:p>
        </p:txBody>
      </p:sp>
    </p:spTree>
    <p:extLst>
      <p:ext uri="{BB962C8B-B14F-4D97-AF65-F5344CB8AC3E}">
        <p14:creationId xmlns:p14="http://schemas.microsoft.com/office/powerpoint/2010/main" val="163979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3AF65A7-995A-9F45-891C-82D9B9D40801}"/>
              </a:ext>
            </a:extLst>
          </p:cNvPr>
          <p:cNvSpPr>
            <a:spLocks noGrp="1"/>
          </p:cNvSpPr>
          <p:nvPr>
            <p:ph type="title"/>
          </p:nvPr>
        </p:nvSpPr>
        <p:spPr>
          <a:xfrm>
            <a:off x="3366114" y="1729567"/>
            <a:ext cx="5459771" cy="2810460"/>
          </a:xfrm>
        </p:spPr>
        <p:txBody>
          <a:bodyPr rtlCol="0">
            <a:normAutofit/>
          </a:bodyPr>
          <a:lstStyle/>
          <a:p>
            <a:pPr rtl="0"/>
            <a:r>
              <a:rPr lang="en-GB" sz="4800" dirty="0"/>
              <a:t>PENDAHULUAN</a:t>
            </a:r>
            <a:endParaRPr lang="id-ID" sz="4800" dirty="0"/>
          </a:p>
        </p:txBody>
      </p:sp>
      <p:sp>
        <p:nvSpPr>
          <p:cNvPr id="3" name="Tampungan Tanggal 2">
            <a:extLst>
              <a:ext uri="{FF2B5EF4-FFF2-40B4-BE49-F238E27FC236}">
                <a16:creationId xmlns:a16="http://schemas.microsoft.com/office/drawing/2014/main" id="{8D3F7063-A64B-CB42-8BBF-BF52424269A8}"/>
              </a:ext>
            </a:extLst>
          </p:cNvPr>
          <p:cNvSpPr>
            <a:spLocks noGrp="1"/>
          </p:cNvSpPr>
          <p:nvPr>
            <p:ph type="dt" sz="half" idx="10"/>
          </p:nvPr>
        </p:nvSpPr>
        <p:spPr/>
        <p:txBody>
          <a:bodyPr rtlCol="0"/>
          <a:lstStyle/>
          <a:p>
            <a:pPr rtl="0"/>
            <a:fld id="{A808DD98-197B-46F5-A6AA-BDA332D7E685}" type="datetime1">
              <a:rPr lang="id-ID" smtClean="0"/>
              <a:t>27/10/2025</a:t>
            </a:fld>
            <a:endParaRPr lang="id-ID"/>
          </a:p>
        </p:txBody>
      </p:sp>
      <p:sp>
        <p:nvSpPr>
          <p:cNvPr id="5" name="Tampungan Nomor Slide 4">
            <a:extLst>
              <a:ext uri="{FF2B5EF4-FFF2-40B4-BE49-F238E27FC236}">
                <a16:creationId xmlns:a16="http://schemas.microsoft.com/office/drawing/2014/main" id="{7003A5E2-8F37-D546-BCD9-24A2037BB54D}"/>
              </a:ext>
            </a:extLst>
          </p:cNvPr>
          <p:cNvSpPr>
            <a:spLocks noGrp="1"/>
          </p:cNvSpPr>
          <p:nvPr>
            <p:ph type="sldNum" sz="quarter" idx="12"/>
          </p:nvPr>
        </p:nvSpPr>
        <p:spPr/>
        <p:txBody>
          <a:bodyPr rtlCol="0"/>
          <a:lstStyle/>
          <a:p>
            <a:pPr rtl="0"/>
            <a:fld id="{294A09A9-5501-47C1-A89A-A340965A2BE2}" type="slidenum">
              <a:rPr lang="id-ID" smtClean="0"/>
              <a:pPr rtl="0"/>
              <a:t>4</a:t>
            </a:fld>
            <a:endParaRPr lang="id-ID"/>
          </a:p>
        </p:txBody>
      </p:sp>
    </p:spTree>
    <p:extLst>
      <p:ext uri="{BB962C8B-B14F-4D97-AF65-F5344CB8AC3E}">
        <p14:creationId xmlns:p14="http://schemas.microsoft.com/office/powerpoint/2010/main" val="2639983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51A22-4259-1094-CC64-61CC4CF539F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E2AE2A3-FE13-169F-B0F0-1256BBAA6768}"/>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2AD2762D-9C48-81CF-CFF0-1A42FFAB9B9F}"/>
              </a:ext>
            </a:extLst>
          </p:cNvPr>
          <p:cNvSpPr>
            <a:spLocks noGrp="1"/>
          </p:cNvSpPr>
          <p:nvPr>
            <p:ph type="body" idx="1"/>
          </p:nvPr>
        </p:nvSpPr>
        <p:spPr>
          <a:xfrm>
            <a:off x="1167492" y="2653167"/>
            <a:ext cx="9779183" cy="3436483"/>
          </a:xfrm>
        </p:spPr>
        <p:txBody>
          <a:bodyPr vert="horz" lIns="91440" tIns="45720" rIns="91440" bIns="45720" rtlCol="0" anchor="t">
            <a:normAutofit fontScale="85000" lnSpcReduction="20000"/>
          </a:bodyPr>
          <a:lstStyle/>
          <a:p>
            <a:pPr marL="342900" indent="-342900">
              <a:buFont typeface="Arial" panose="020B0604020202020204" pitchFamily="34" charset="0"/>
              <a:buChar char="•"/>
            </a:pPr>
            <a:r>
              <a:rPr lang="id-ID" dirty="0"/>
              <a:t>Sepak bola modern telah bertransformasi menjadi industri global di mana analisis data</a:t>
            </a:r>
            <a:r>
              <a:rPr lang="en-GB" dirty="0"/>
              <a:t> (data-driven)</a:t>
            </a:r>
            <a:r>
              <a:rPr lang="id-ID" dirty="0"/>
              <a:t> menjadi kunci untuk meraih keunggulan kompetitif. Dalam konteks ini, metrik analitis seperti </a:t>
            </a:r>
            <a:r>
              <a:rPr lang="id-ID" i="1" dirty="0" err="1"/>
              <a:t>Expected</a:t>
            </a:r>
            <a:r>
              <a:rPr lang="id-ID" i="1" dirty="0"/>
              <a:t> </a:t>
            </a:r>
            <a:r>
              <a:rPr lang="id-ID" i="1" dirty="0" err="1"/>
              <a:t>Goals</a:t>
            </a:r>
            <a:r>
              <a:rPr lang="id-ID" dirty="0"/>
              <a:t> (</a:t>
            </a:r>
            <a:r>
              <a:rPr lang="id-ID" dirty="0" err="1"/>
              <a:t>xG</a:t>
            </a:r>
            <a:r>
              <a:rPr lang="id-ID" dirty="0"/>
              <a:t>) menjadi fundamental.</a:t>
            </a:r>
            <a:endParaRPr lang="en-GB" dirty="0"/>
          </a:p>
          <a:p>
            <a:pPr marL="342900" indent="-342900">
              <a:buFont typeface="Arial" panose="020B0604020202020204" pitchFamily="34" charset="0"/>
              <a:buChar char="•"/>
            </a:pPr>
            <a:r>
              <a:rPr lang="id-ID" dirty="0"/>
              <a:t>Secara sederhana, </a:t>
            </a:r>
            <a:r>
              <a:rPr lang="id-ID" dirty="0" err="1"/>
              <a:t>xG</a:t>
            </a:r>
            <a:r>
              <a:rPr lang="id-ID" dirty="0"/>
              <a:t> adalah skor yang mengukur kualitas sebuah peluang, dengan nilai </a:t>
            </a:r>
            <a:r>
              <a:rPr lang="id-ID" b="1" dirty="0"/>
              <a:t>dari</a:t>
            </a:r>
            <a:r>
              <a:rPr lang="id-ID" dirty="0"/>
              <a:t> 0 (tidak mungkin gol) </a:t>
            </a:r>
            <a:r>
              <a:rPr lang="id-ID" b="1" dirty="0"/>
              <a:t>hingga</a:t>
            </a:r>
            <a:r>
              <a:rPr lang="id-ID" dirty="0"/>
              <a:t> 1 (pasti gol). Skor ini dihitung dengan menganalisis ribuan data tembakan sejenis untuk menjawab pertanyaan: </a:t>
            </a:r>
            <a:r>
              <a:rPr lang="id-ID" i="1" dirty="0"/>
              <a:t>"Seberapa besar kemungkinan tembakan dari posisi dan situasi ini menjadi gol?"</a:t>
            </a:r>
            <a:r>
              <a:rPr lang="id-ID" dirty="0"/>
              <a:t> (</a:t>
            </a:r>
            <a:r>
              <a:rPr lang="id-ID" dirty="0" err="1"/>
              <a:t>Rathke</a:t>
            </a:r>
            <a:r>
              <a:rPr lang="id-ID" dirty="0"/>
              <a:t>, 2017; </a:t>
            </a:r>
            <a:r>
              <a:rPr lang="id-ID" dirty="0" err="1"/>
              <a:t>Eggels</a:t>
            </a:r>
            <a:r>
              <a:rPr lang="id-ID" dirty="0"/>
              <a:t>, 2016).</a:t>
            </a:r>
            <a:endParaRPr lang="en-GB" dirty="0"/>
          </a:p>
        </p:txBody>
      </p:sp>
      <p:sp>
        <p:nvSpPr>
          <p:cNvPr id="6" name="Tampungan Nomor Slide 5">
            <a:extLst>
              <a:ext uri="{FF2B5EF4-FFF2-40B4-BE49-F238E27FC236}">
                <a16:creationId xmlns:a16="http://schemas.microsoft.com/office/drawing/2014/main" id="{5698DF03-8674-39BD-80D8-50B5F9158BBA}"/>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5</a:t>
            </a:fld>
            <a:endParaRPr lang="id-ID"/>
          </a:p>
        </p:txBody>
      </p:sp>
    </p:spTree>
    <p:extLst>
      <p:ext uri="{BB962C8B-B14F-4D97-AF65-F5344CB8AC3E}">
        <p14:creationId xmlns:p14="http://schemas.microsoft.com/office/powerpoint/2010/main" val="3907771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rtlCol="0"/>
          <a:lstStyle/>
          <a:p>
            <a:pPr rtl="0"/>
            <a:r>
              <a:rPr lang="en-GB" dirty="0"/>
              <a:t>Latar </a:t>
            </a:r>
            <a:r>
              <a:rPr lang="en-GB" dirty="0" err="1"/>
              <a:t>Belakang</a:t>
            </a:r>
            <a:endParaRPr lang="id-ID" dirty="0"/>
          </a:p>
        </p:txBody>
      </p:sp>
      <p:sp>
        <p:nvSpPr>
          <p:cNvPr id="3" name="Tampungan Konten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526990"/>
          </a:xfrm>
        </p:spPr>
        <p:txBody>
          <a:bodyPr vert="horz" lIns="91440" tIns="45720" rIns="91440" bIns="45720" rtlCol="0" anchor="t">
            <a:normAutofit/>
          </a:bodyPr>
          <a:lstStyle/>
          <a:p>
            <a:pPr marL="342900" indent="-342900">
              <a:buFont typeface="Arial" panose="020B0604020202020204" pitchFamily="34" charset="0"/>
              <a:buChar char="•"/>
            </a:pPr>
            <a:r>
              <a:rPr lang="id-ID" sz="2000" dirty="0"/>
              <a:t>Tantangan utama dalam pemodelan </a:t>
            </a:r>
            <a:r>
              <a:rPr lang="id-ID" sz="2000" dirty="0" err="1"/>
              <a:t>xG</a:t>
            </a:r>
            <a:r>
              <a:rPr lang="id-ID" sz="2000" dirty="0"/>
              <a:t> adalah sifat data sepak bola yang sangat kompleks dan </a:t>
            </a:r>
            <a:r>
              <a:rPr lang="id-ID" sz="2000" b="1" dirty="0"/>
              <a:t>non-linear</a:t>
            </a:r>
            <a:r>
              <a:rPr lang="id-ID" sz="2000" dirty="0"/>
              <a:t>. Model linear (misalnya, Regresi Logistik) terbukti tidak memadai, sementara model non-linear yang lebih akurat </a:t>
            </a:r>
            <a:r>
              <a:rPr lang="id-ID" sz="2000" dirty="0" err="1"/>
              <a:t>seringkali</a:t>
            </a:r>
            <a:r>
              <a:rPr lang="id-ID" sz="2000" dirty="0"/>
              <a:t> mengorbankan </a:t>
            </a:r>
            <a:r>
              <a:rPr lang="id-ID" sz="2000" b="1" dirty="0"/>
              <a:t>efisiensi komputasi</a:t>
            </a:r>
            <a:r>
              <a:rPr lang="id-ID" sz="2000" dirty="0"/>
              <a:t> secara signifikan, menjadikannya lambat dan berat. (</a:t>
            </a:r>
            <a:r>
              <a:rPr lang="id-ID" sz="2000" dirty="0" err="1"/>
              <a:t>Anzer</a:t>
            </a:r>
            <a:r>
              <a:rPr lang="id-ID" sz="2000" dirty="0"/>
              <a:t> &amp; </a:t>
            </a:r>
            <a:r>
              <a:rPr lang="id-ID" sz="2000" dirty="0" err="1"/>
              <a:t>Bauer</a:t>
            </a:r>
            <a:r>
              <a:rPr lang="id-ID" sz="2000" dirty="0"/>
              <a:t>, 2021; </a:t>
            </a:r>
            <a:r>
              <a:rPr lang="id-ID" sz="2000" dirty="0" err="1"/>
              <a:t>Méndez</a:t>
            </a:r>
            <a:r>
              <a:rPr lang="id-ID" sz="2000" dirty="0"/>
              <a:t> </a:t>
            </a:r>
            <a:r>
              <a:rPr lang="id-ID" sz="2000" dirty="0" err="1"/>
              <a:t>et</a:t>
            </a:r>
            <a:r>
              <a:rPr lang="id-ID" sz="2000" dirty="0"/>
              <a:t> </a:t>
            </a:r>
            <a:r>
              <a:rPr lang="id-ID" sz="2000" dirty="0" err="1"/>
              <a:t>al.</a:t>
            </a:r>
            <a:r>
              <a:rPr lang="id-ID" sz="2000" dirty="0"/>
              <a:t>, 2023; </a:t>
            </a:r>
            <a:r>
              <a:rPr lang="id-ID" sz="2000" dirty="0" err="1"/>
              <a:t>Hewitt</a:t>
            </a:r>
            <a:r>
              <a:rPr lang="id-ID" sz="2000" dirty="0"/>
              <a:t> &amp; </a:t>
            </a:r>
            <a:r>
              <a:rPr lang="id-ID" sz="2000" dirty="0" err="1"/>
              <a:t>Karakuş</a:t>
            </a:r>
            <a:r>
              <a:rPr lang="id-ID" sz="2000" dirty="0"/>
              <a:t>, 2023).</a:t>
            </a:r>
            <a:endParaRPr lang="en-GB" sz="2000" dirty="0"/>
          </a:p>
          <a:p>
            <a:pPr marL="342900" indent="-342900">
              <a:buFont typeface="Arial" panose="020B0604020202020204" pitchFamily="34" charset="0"/>
              <a:buChar char="•"/>
            </a:pPr>
            <a:r>
              <a:rPr lang="id-ID" sz="2000" b="1" dirty="0" err="1"/>
              <a:t>LightGBM</a:t>
            </a:r>
            <a:r>
              <a:rPr lang="id-ID" sz="2000" dirty="0"/>
              <a:t> diajukan sebagai solusi ideal. Sebagai model yang berbasis </a:t>
            </a:r>
            <a:r>
              <a:rPr lang="id-ID" sz="2000" i="1" dirty="0" err="1"/>
              <a:t>decision</a:t>
            </a:r>
            <a:r>
              <a:rPr lang="id-ID" sz="2000" i="1" dirty="0"/>
              <a:t> </a:t>
            </a:r>
            <a:r>
              <a:rPr lang="id-ID" sz="2000" i="1" dirty="0" err="1"/>
              <a:t>tree</a:t>
            </a:r>
            <a:r>
              <a:rPr lang="id-ID" sz="2000" dirty="0"/>
              <a:t>, ia secara inheren bersifat </a:t>
            </a:r>
            <a:r>
              <a:rPr lang="id-ID" sz="2000" b="1" dirty="0"/>
              <a:t>non-linear</a:t>
            </a:r>
            <a:r>
              <a:rPr lang="id-ID" sz="2000" dirty="0"/>
              <a:t> karena kemampuannya </a:t>
            </a:r>
            <a:r>
              <a:rPr lang="id-ID" sz="2000" dirty="0" err="1"/>
              <a:t>mempartisi</a:t>
            </a:r>
            <a:r>
              <a:rPr lang="id-ID" sz="2000" dirty="0"/>
              <a:t> data ke dalam segmen-segmen kompleks, sehingga mampu menangkap hubungan antar variabel yang tidak lurus. Keunggulannya adalah kombinasi antara </a:t>
            </a:r>
            <a:r>
              <a:rPr lang="id-ID" sz="2000" b="1" dirty="0"/>
              <a:t>akurasi tinggi</a:t>
            </a:r>
            <a:r>
              <a:rPr lang="id-ID" sz="2000" dirty="0"/>
              <a:t> dan </a:t>
            </a:r>
            <a:r>
              <a:rPr lang="id-ID" sz="2000" b="1" dirty="0"/>
              <a:t>efisiensi luar biasa</a:t>
            </a:r>
            <a:r>
              <a:rPr lang="id-ID" sz="2000" dirty="0"/>
              <a:t>, dengan waktu pelatihan terbukti </a:t>
            </a:r>
            <a:r>
              <a:rPr lang="id-ID" sz="2000" b="1" dirty="0"/>
              <a:t>lebih dari 10 kali lebih cepat</a:t>
            </a:r>
            <a:r>
              <a:rPr lang="id-ID" sz="2000" dirty="0"/>
              <a:t> dibandingkan implementasi </a:t>
            </a:r>
            <a:r>
              <a:rPr lang="id-ID" sz="2000" i="1" dirty="0" err="1"/>
              <a:t>boosting</a:t>
            </a:r>
            <a:r>
              <a:rPr lang="id-ID" sz="2000" dirty="0"/>
              <a:t> populer lainnya. (Ke </a:t>
            </a:r>
            <a:r>
              <a:rPr lang="id-ID" sz="2000" dirty="0" err="1"/>
              <a:t>et</a:t>
            </a:r>
            <a:r>
              <a:rPr lang="id-ID" sz="2000" dirty="0"/>
              <a:t> </a:t>
            </a:r>
            <a:r>
              <a:rPr lang="id-ID" sz="2000" dirty="0" err="1"/>
              <a:t>al.</a:t>
            </a:r>
            <a:r>
              <a:rPr lang="id-ID" sz="2000" dirty="0"/>
              <a:t>, 2017; </a:t>
            </a:r>
            <a:r>
              <a:rPr lang="id-ID" sz="2000" dirty="0" err="1"/>
              <a:t>Florek</a:t>
            </a:r>
            <a:r>
              <a:rPr lang="id-ID" sz="2000" dirty="0"/>
              <a:t> &amp; </a:t>
            </a:r>
            <a:r>
              <a:rPr lang="id-ID" sz="2000" dirty="0" err="1"/>
              <a:t>Zagdański</a:t>
            </a:r>
            <a:r>
              <a:rPr lang="id-ID" sz="2000" dirty="0"/>
              <a:t>, 2023).</a:t>
            </a:r>
          </a:p>
        </p:txBody>
      </p:sp>
      <p:sp>
        <p:nvSpPr>
          <p:cNvPr id="4" name="Tampungan Tanggal 3">
            <a:extLst>
              <a:ext uri="{FF2B5EF4-FFF2-40B4-BE49-F238E27FC236}">
                <a16:creationId xmlns:a16="http://schemas.microsoft.com/office/drawing/2014/main" id="{5739303D-13C0-6A41-947A-F998CC47B32E}"/>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27/10/2025</a:t>
            </a:fld>
            <a:endParaRPr lang="id-ID"/>
          </a:p>
        </p:txBody>
      </p:sp>
      <p:sp>
        <p:nvSpPr>
          <p:cNvPr id="6" name="Tampungan Nomor Slide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6</a:t>
            </a:fld>
            <a:endParaRPr lang="id-ID"/>
          </a:p>
        </p:txBody>
      </p:sp>
    </p:spTree>
    <p:extLst>
      <p:ext uri="{BB962C8B-B14F-4D97-AF65-F5344CB8AC3E}">
        <p14:creationId xmlns:p14="http://schemas.microsoft.com/office/powerpoint/2010/main" val="1325608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1C1B3-EA43-380C-A30B-62986EFE7690}"/>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0F4E0BC-D929-D038-0131-4935F009E1B0}"/>
              </a:ext>
            </a:extLst>
          </p:cNvPr>
          <p:cNvSpPr>
            <a:spLocks noGrp="1"/>
          </p:cNvSpPr>
          <p:nvPr>
            <p:ph type="title"/>
          </p:nvPr>
        </p:nvSpPr>
        <p:spPr>
          <a:xfrm>
            <a:off x="1167492" y="381000"/>
            <a:ext cx="9779183" cy="1325563"/>
          </a:xfrm>
        </p:spPr>
        <p:txBody>
          <a:bodyPr rtlCol="0"/>
          <a:lstStyle/>
          <a:p>
            <a:pPr rtl="0"/>
            <a:r>
              <a:rPr lang="en-GB" dirty="0" err="1"/>
              <a:t>Identifikasi</a:t>
            </a:r>
            <a:r>
              <a:rPr lang="en-GB" dirty="0"/>
              <a:t> </a:t>
            </a:r>
            <a:r>
              <a:rPr lang="en-GB" dirty="0" err="1"/>
              <a:t>Masalah</a:t>
            </a:r>
            <a:endParaRPr lang="id-ID" dirty="0"/>
          </a:p>
        </p:txBody>
      </p:sp>
      <p:sp>
        <p:nvSpPr>
          <p:cNvPr id="4" name="Tampungan Konten 3">
            <a:extLst>
              <a:ext uri="{FF2B5EF4-FFF2-40B4-BE49-F238E27FC236}">
                <a16:creationId xmlns:a16="http://schemas.microsoft.com/office/drawing/2014/main" id="{9D760D44-7E7A-26B5-6C89-92FAB0CD7182}"/>
              </a:ext>
            </a:extLst>
          </p:cNvPr>
          <p:cNvSpPr>
            <a:spLocks noGrp="1"/>
          </p:cNvSpPr>
          <p:nvPr>
            <p:ph idx="1"/>
          </p:nvPr>
        </p:nvSpPr>
        <p:spPr>
          <a:xfrm>
            <a:off x="1167492" y="2020529"/>
            <a:ext cx="9157607" cy="3347884"/>
          </a:xfrm>
        </p:spPr>
        <p:txBody>
          <a:bodyPr vert="horz" lIns="91440" tIns="45720" rIns="91440" bIns="45720" rtlCol="0" anchor="t">
            <a:normAutofit/>
          </a:bodyPr>
          <a:lstStyle/>
          <a:p>
            <a:pPr marL="342900" indent="-342900">
              <a:buFont typeface="Arial" panose="020B0604020202020204" pitchFamily="34" charset="0"/>
              <a:buChar char="•"/>
            </a:pPr>
            <a:r>
              <a:rPr lang="id-ID" sz="3200" dirty="0"/>
              <a:t>Model yang umum digunakan (seperti Regresi Logistik) kesulitan menangkap </a:t>
            </a:r>
            <a:r>
              <a:rPr lang="id-ID" sz="3200" b="1" dirty="0"/>
              <a:t>pola data yang kompleks (non-linear)</a:t>
            </a:r>
            <a:r>
              <a:rPr lang="id-ID" sz="3200" dirty="0"/>
              <a:t> dalam sepak bola.</a:t>
            </a:r>
          </a:p>
          <a:p>
            <a:pPr marL="342900" indent="-342900">
              <a:buFont typeface="Arial" panose="020B0604020202020204" pitchFamily="34" charset="0"/>
              <a:buChar char="•"/>
            </a:pPr>
            <a:r>
              <a:rPr lang="en-GB" sz="3200" dirty="0" err="1"/>
              <a:t>Namun</a:t>
            </a:r>
            <a:r>
              <a:rPr lang="en-GB" sz="3200" dirty="0"/>
              <a:t>, a</a:t>
            </a:r>
            <a:r>
              <a:rPr lang="id-ID" sz="3200" dirty="0" err="1"/>
              <a:t>lgoritma</a:t>
            </a:r>
            <a:r>
              <a:rPr lang="id-ID" sz="3200" dirty="0"/>
              <a:t> yang lebih </a:t>
            </a:r>
            <a:r>
              <a:rPr lang="en-GB" sz="3200" dirty="0" err="1"/>
              <a:t>baik</a:t>
            </a:r>
            <a:r>
              <a:rPr lang="en-GB" sz="3200" dirty="0"/>
              <a:t> </a:t>
            </a:r>
            <a:r>
              <a:rPr lang="en-GB" sz="3200" dirty="0" err="1"/>
              <a:t>menangkap</a:t>
            </a:r>
            <a:r>
              <a:rPr lang="en-GB" sz="3200" dirty="0"/>
              <a:t> </a:t>
            </a:r>
            <a:r>
              <a:rPr lang="en-GB" sz="3200" dirty="0" err="1"/>
              <a:t>pola</a:t>
            </a:r>
            <a:r>
              <a:rPr lang="en-GB" sz="3200" dirty="0"/>
              <a:t> data non-linear</a:t>
            </a:r>
            <a:r>
              <a:rPr lang="id-ID" sz="3200" dirty="0"/>
              <a:t> </a:t>
            </a:r>
            <a:r>
              <a:rPr lang="id-ID" sz="3200" dirty="0" err="1"/>
              <a:t>seringkali</a:t>
            </a:r>
            <a:r>
              <a:rPr lang="id-ID" sz="3200" dirty="0"/>
              <a:t> </a:t>
            </a:r>
            <a:r>
              <a:rPr lang="id-ID" sz="3200" b="1" dirty="0"/>
              <a:t>tidak efisien</a:t>
            </a:r>
            <a:r>
              <a:rPr lang="id-ID" sz="3200" dirty="0"/>
              <a:t> dan </a:t>
            </a:r>
            <a:r>
              <a:rPr lang="id-ID" sz="3200" b="1" dirty="0"/>
              <a:t>lambat</a:t>
            </a:r>
            <a:r>
              <a:rPr lang="id-ID" sz="3200" dirty="0"/>
              <a:t> saat dihadapkan pada volume data yang besar.</a:t>
            </a:r>
          </a:p>
        </p:txBody>
      </p:sp>
      <p:sp>
        <p:nvSpPr>
          <p:cNvPr id="9" name="Tampungan Nomor Slide 8">
            <a:extLst>
              <a:ext uri="{FF2B5EF4-FFF2-40B4-BE49-F238E27FC236}">
                <a16:creationId xmlns:a16="http://schemas.microsoft.com/office/drawing/2014/main" id="{5540E92C-7DD9-66B5-6A13-9DE217B996E2}"/>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7</a:t>
            </a:fld>
            <a:endParaRPr lang="id-ID"/>
          </a:p>
        </p:txBody>
      </p:sp>
    </p:spTree>
    <p:extLst>
      <p:ext uri="{BB962C8B-B14F-4D97-AF65-F5344CB8AC3E}">
        <p14:creationId xmlns:p14="http://schemas.microsoft.com/office/powerpoint/2010/main" val="2447019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ampungan Kaki 4">
            <a:extLst>
              <a:ext uri="{FF2B5EF4-FFF2-40B4-BE49-F238E27FC236}">
                <a16:creationId xmlns:a16="http://schemas.microsoft.com/office/drawing/2014/main" id="{AA926C73-F226-914E-AC56-BF3172765F9F}"/>
              </a:ext>
            </a:extLst>
          </p:cNvPr>
          <p:cNvSpPr>
            <a:spLocks noGrp="1"/>
          </p:cNvSpPr>
          <p:nvPr>
            <p:ph type="ftr" sz="quarter" idx="3"/>
          </p:nvPr>
        </p:nvSpPr>
        <p:spPr>
          <a:xfrm>
            <a:off x="3580129" y="5898134"/>
            <a:ext cx="5652318" cy="365125"/>
          </a:xfrm>
        </p:spPr>
        <p:txBody>
          <a:bodyPr rtlCol="0"/>
          <a:lstStyle/>
          <a:p>
            <a:r>
              <a:rPr lang="en-GB" sz="1800" dirty="0"/>
              <a:t>Tabel </a:t>
            </a:r>
            <a:r>
              <a:rPr lang="id-ID" sz="1800" dirty="0"/>
              <a:t>Keterbatasan Model Linear</a:t>
            </a:r>
            <a:r>
              <a:rPr lang="en-GB" sz="1800" dirty="0"/>
              <a:t> </a:t>
            </a:r>
            <a:r>
              <a:rPr lang="id-ID" sz="1800" dirty="0"/>
              <a:t>(</a:t>
            </a:r>
            <a:r>
              <a:rPr lang="id-ID" sz="1800" dirty="0" err="1"/>
              <a:t>Méndez</a:t>
            </a:r>
            <a:r>
              <a:rPr lang="id-ID" sz="1800" dirty="0"/>
              <a:t> </a:t>
            </a:r>
            <a:r>
              <a:rPr lang="id-ID" sz="1800" dirty="0" err="1"/>
              <a:t>et</a:t>
            </a:r>
            <a:r>
              <a:rPr lang="id-ID" sz="1800" dirty="0"/>
              <a:t> </a:t>
            </a:r>
            <a:r>
              <a:rPr lang="id-ID" sz="1800" dirty="0" err="1"/>
              <a:t>al.</a:t>
            </a:r>
            <a:r>
              <a:rPr lang="id-ID" sz="1800" dirty="0"/>
              <a:t> 2023)</a:t>
            </a:r>
          </a:p>
        </p:txBody>
      </p:sp>
      <p:sp>
        <p:nvSpPr>
          <p:cNvPr id="7" name="Tampungan Nomor Slide 6">
            <a:extLst>
              <a:ext uri="{FF2B5EF4-FFF2-40B4-BE49-F238E27FC236}">
                <a16:creationId xmlns:a16="http://schemas.microsoft.com/office/drawing/2014/main" id="{50A86E01-62BB-5145-A6C3-515717DD327C}"/>
              </a:ext>
            </a:extLst>
          </p:cNvPr>
          <p:cNvSpPr>
            <a:spLocks noGrp="1"/>
          </p:cNvSpPr>
          <p:nvPr>
            <p:ph type="sldNum" sz="quarter" idx="4"/>
          </p:nvPr>
        </p:nvSpPr>
        <p:spPr/>
        <p:txBody>
          <a:bodyPr rtlCol="0"/>
          <a:lstStyle/>
          <a:p>
            <a:pPr rtl="0"/>
            <a:fld id="{294A09A9-5501-47C1-A89A-A340965A2BE2}" type="slidenum">
              <a:rPr lang="id-ID" smtClean="0"/>
              <a:pPr rtl="0"/>
              <a:t>8</a:t>
            </a:fld>
            <a:endParaRPr lang="id-ID" dirty="0"/>
          </a:p>
        </p:txBody>
      </p:sp>
      <p:graphicFrame>
        <p:nvGraphicFramePr>
          <p:cNvPr id="10" name="Table 9">
            <a:extLst>
              <a:ext uri="{FF2B5EF4-FFF2-40B4-BE49-F238E27FC236}">
                <a16:creationId xmlns:a16="http://schemas.microsoft.com/office/drawing/2014/main" id="{0E396080-5464-AC2C-5D4B-6DF67CF1A299}"/>
              </a:ext>
            </a:extLst>
          </p:cNvPr>
          <p:cNvGraphicFramePr>
            <a:graphicFrameLocks noGrp="1"/>
          </p:cNvGraphicFramePr>
          <p:nvPr>
            <p:extLst>
              <p:ext uri="{D42A27DB-BD31-4B8C-83A1-F6EECF244321}">
                <p14:modId xmlns:p14="http://schemas.microsoft.com/office/powerpoint/2010/main" val="3348498498"/>
              </p:ext>
            </p:extLst>
          </p:nvPr>
        </p:nvGraphicFramePr>
        <p:xfrm>
          <a:off x="1091381" y="1120878"/>
          <a:ext cx="10128162" cy="4684165"/>
        </p:xfrm>
        <a:graphic>
          <a:graphicData uri="http://schemas.openxmlformats.org/drawingml/2006/table">
            <a:tbl>
              <a:tblPr firstRow="1" firstCol="1" bandRow="1">
                <a:tableStyleId>{5C22544A-7EE6-4342-B048-85BDC9FD1C3A}</a:tableStyleId>
              </a:tblPr>
              <a:tblGrid>
                <a:gridCol w="3376054">
                  <a:extLst>
                    <a:ext uri="{9D8B030D-6E8A-4147-A177-3AD203B41FA5}">
                      <a16:colId xmlns:a16="http://schemas.microsoft.com/office/drawing/2014/main" val="3209082739"/>
                    </a:ext>
                  </a:extLst>
                </a:gridCol>
                <a:gridCol w="3376054">
                  <a:extLst>
                    <a:ext uri="{9D8B030D-6E8A-4147-A177-3AD203B41FA5}">
                      <a16:colId xmlns:a16="http://schemas.microsoft.com/office/drawing/2014/main" val="1888921284"/>
                    </a:ext>
                  </a:extLst>
                </a:gridCol>
                <a:gridCol w="3376054">
                  <a:extLst>
                    <a:ext uri="{9D8B030D-6E8A-4147-A177-3AD203B41FA5}">
                      <a16:colId xmlns:a16="http://schemas.microsoft.com/office/drawing/2014/main" val="4077521047"/>
                    </a:ext>
                  </a:extLst>
                </a:gridCol>
              </a:tblGrid>
              <a:tr h="1009261">
                <a:tc>
                  <a:txBody>
                    <a:bodyPr/>
                    <a:lstStyle/>
                    <a:p>
                      <a:pPr algn="l">
                        <a:lnSpc>
                          <a:spcPct val="150000"/>
                        </a:lnSpc>
                        <a:buNone/>
                      </a:pPr>
                      <a:r>
                        <a:rPr lang="id-ID" sz="2000" dirty="0"/>
                        <a:t>Metrik Evaluasi</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Model Non-Linear (MLP)</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Model Linear (Regresi Logistik)</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96113673"/>
                  </a:ext>
                </a:extLst>
              </a:tr>
              <a:tr h="918726">
                <a:tc>
                  <a:txBody>
                    <a:bodyPr/>
                    <a:lstStyle/>
                    <a:p>
                      <a:pPr algn="l">
                        <a:lnSpc>
                          <a:spcPct val="150000"/>
                        </a:lnSpc>
                        <a:buNone/>
                      </a:pPr>
                      <a:r>
                        <a:rPr lang="id-ID" sz="2000" dirty="0"/>
                        <a:t>ROC AUC</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0.87</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0.82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71363258"/>
                  </a:ext>
                </a:extLst>
              </a:tr>
              <a:tr h="918726">
                <a:tc>
                  <a:txBody>
                    <a:bodyPr/>
                    <a:lstStyle/>
                    <a:p>
                      <a:pPr algn="l">
                        <a:lnSpc>
                          <a:spcPct val="150000"/>
                        </a:lnSpc>
                        <a:buNone/>
                      </a:pPr>
                      <a:r>
                        <a:rPr lang="id-ID" sz="2000" dirty="0" err="1"/>
                        <a:t>Brier</a:t>
                      </a:r>
                      <a:r>
                        <a:rPr lang="id-ID" sz="2000" dirty="0"/>
                        <a:t> </a:t>
                      </a:r>
                      <a:r>
                        <a:rPr lang="id-ID" sz="2000" dirty="0" err="1"/>
                        <a:t>Score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0.076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0.081</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84725224"/>
                  </a:ext>
                </a:extLst>
              </a:tr>
              <a:tr h="918726">
                <a:tc>
                  <a:txBody>
                    <a:bodyPr/>
                    <a:lstStyle/>
                    <a:p>
                      <a:pPr algn="l">
                        <a:lnSpc>
                          <a:spcPct val="150000"/>
                        </a:lnSpc>
                        <a:buNone/>
                      </a:pPr>
                      <a:r>
                        <a:rPr lang="id-ID" sz="2000" dirty="0"/>
                        <a:t>Log-</a:t>
                      </a:r>
                      <a:r>
                        <a:rPr lang="id-ID" sz="2000" dirty="0" err="1"/>
                        <a:t>Loss</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0.262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0.280</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96177661"/>
                  </a:ext>
                </a:extLst>
              </a:tr>
              <a:tr h="918726">
                <a:tc>
                  <a:txBody>
                    <a:bodyPr/>
                    <a:lstStyle/>
                    <a:p>
                      <a:pPr algn="l">
                        <a:lnSpc>
                          <a:spcPct val="150000"/>
                        </a:lnSpc>
                        <a:buNone/>
                      </a:pPr>
                      <a:r>
                        <a:rPr lang="id-ID" sz="2000" dirty="0"/>
                        <a:t>F1-Score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0.41</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dirty="0"/>
                        <a:t>0.34</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14560729"/>
                  </a:ext>
                </a:extLst>
              </a:tr>
            </a:tbl>
          </a:graphicData>
        </a:graphic>
      </p:graphicFrame>
    </p:spTree>
    <p:extLst>
      <p:ext uri="{BB962C8B-B14F-4D97-AF65-F5344CB8AC3E}">
        <p14:creationId xmlns:p14="http://schemas.microsoft.com/office/powerpoint/2010/main" val="1527386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8338-ECBF-989D-1638-94790D36BCD1}"/>
            </a:ext>
          </a:extLst>
        </p:cNvPr>
        <p:cNvGrpSpPr/>
        <p:nvPr/>
      </p:nvGrpSpPr>
      <p:grpSpPr>
        <a:xfrm>
          <a:off x="0" y="0"/>
          <a:ext cx="0" cy="0"/>
          <a:chOff x="0" y="0"/>
          <a:chExt cx="0" cy="0"/>
        </a:xfrm>
      </p:grpSpPr>
      <p:sp>
        <p:nvSpPr>
          <p:cNvPr id="5" name="Tampungan Kaki 4">
            <a:extLst>
              <a:ext uri="{FF2B5EF4-FFF2-40B4-BE49-F238E27FC236}">
                <a16:creationId xmlns:a16="http://schemas.microsoft.com/office/drawing/2014/main" id="{4C71EDAF-8447-660F-CF54-A308225702BA}"/>
              </a:ext>
            </a:extLst>
          </p:cNvPr>
          <p:cNvSpPr>
            <a:spLocks noGrp="1"/>
          </p:cNvSpPr>
          <p:nvPr>
            <p:ph type="ftr" sz="quarter" idx="3"/>
          </p:nvPr>
        </p:nvSpPr>
        <p:spPr>
          <a:xfrm>
            <a:off x="2815771" y="5898134"/>
            <a:ext cx="6749143" cy="365125"/>
          </a:xfrm>
        </p:spPr>
        <p:txBody>
          <a:bodyPr rtlCol="0"/>
          <a:lstStyle/>
          <a:p>
            <a:r>
              <a:rPr lang="en-GB" sz="1800" dirty="0"/>
              <a:t>Tabel </a:t>
            </a:r>
            <a:r>
              <a:rPr lang="en-GB" sz="1800" dirty="0" err="1"/>
              <a:t>Perbandingan</a:t>
            </a:r>
            <a:r>
              <a:rPr lang="en-GB" sz="1800" dirty="0"/>
              <a:t> Waktu </a:t>
            </a:r>
            <a:r>
              <a:rPr lang="en-GB" sz="1800" dirty="0" err="1"/>
              <a:t>Pelatihan</a:t>
            </a:r>
            <a:r>
              <a:rPr lang="en-GB" sz="1800" dirty="0"/>
              <a:t> </a:t>
            </a:r>
            <a:r>
              <a:rPr lang="id-ID" sz="1800" dirty="0"/>
              <a:t>(</a:t>
            </a:r>
            <a:r>
              <a:rPr lang="id-ID" sz="1800" dirty="0" err="1"/>
              <a:t>Florek</a:t>
            </a:r>
            <a:r>
              <a:rPr lang="id-ID" sz="1800" dirty="0"/>
              <a:t> &amp; </a:t>
            </a:r>
            <a:r>
              <a:rPr lang="id-ID" sz="1800" dirty="0" err="1"/>
              <a:t>Zagdański</a:t>
            </a:r>
            <a:r>
              <a:rPr lang="id-ID" sz="1800" dirty="0"/>
              <a:t>, 2023)</a:t>
            </a:r>
          </a:p>
        </p:txBody>
      </p:sp>
      <p:sp>
        <p:nvSpPr>
          <p:cNvPr id="7" name="Tampungan Nomor Slide 6">
            <a:extLst>
              <a:ext uri="{FF2B5EF4-FFF2-40B4-BE49-F238E27FC236}">
                <a16:creationId xmlns:a16="http://schemas.microsoft.com/office/drawing/2014/main" id="{A2A488E4-DFD5-DE4F-C6CE-75A6EFEE2D2D}"/>
              </a:ext>
            </a:extLst>
          </p:cNvPr>
          <p:cNvSpPr>
            <a:spLocks noGrp="1"/>
          </p:cNvSpPr>
          <p:nvPr>
            <p:ph type="sldNum" sz="quarter" idx="4"/>
          </p:nvPr>
        </p:nvSpPr>
        <p:spPr/>
        <p:txBody>
          <a:bodyPr rtlCol="0"/>
          <a:lstStyle/>
          <a:p>
            <a:pPr rtl="0"/>
            <a:fld id="{294A09A9-5501-47C1-A89A-A340965A2BE2}" type="slidenum">
              <a:rPr lang="id-ID" smtClean="0"/>
              <a:pPr rtl="0"/>
              <a:t>9</a:t>
            </a:fld>
            <a:endParaRPr lang="id-ID" dirty="0"/>
          </a:p>
        </p:txBody>
      </p:sp>
      <p:graphicFrame>
        <p:nvGraphicFramePr>
          <p:cNvPr id="10" name="Table 9">
            <a:extLst>
              <a:ext uri="{FF2B5EF4-FFF2-40B4-BE49-F238E27FC236}">
                <a16:creationId xmlns:a16="http://schemas.microsoft.com/office/drawing/2014/main" id="{7CA923E5-4F0A-96B5-C3A7-D9241BACC7F9}"/>
              </a:ext>
            </a:extLst>
          </p:cNvPr>
          <p:cNvGraphicFramePr>
            <a:graphicFrameLocks noGrp="1"/>
          </p:cNvGraphicFramePr>
          <p:nvPr>
            <p:extLst>
              <p:ext uri="{D42A27DB-BD31-4B8C-83A1-F6EECF244321}">
                <p14:modId xmlns:p14="http://schemas.microsoft.com/office/powerpoint/2010/main" val="3891162626"/>
              </p:ext>
            </p:extLst>
          </p:nvPr>
        </p:nvGraphicFramePr>
        <p:xfrm>
          <a:off x="1076632" y="594742"/>
          <a:ext cx="9444500" cy="5210303"/>
        </p:xfrm>
        <a:graphic>
          <a:graphicData uri="http://schemas.openxmlformats.org/drawingml/2006/table">
            <a:tbl>
              <a:tblPr firstRow="1" firstCol="1" bandRow="1">
                <a:tableStyleId>{5C22544A-7EE6-4342-B048-85BDC9FD1C3A}</a:tableStyleId>
              </a:tblPr>
              <a:tblGrid>
                <a:gridCol w="1888900">
                  <a:extLst>
                    <a:ext uri="{9D8B030D-6E8A-4147-A177-3AD203B41FA5}">
                      <a16:colId xmlns:a16="http://schemas.microsoft.com/office/drawing/2014/main" val="3209082739"/>
                    </a:ext>
                  </a:extLst>
                </a:gridCol>
                <a:gridCol w="1888900">
                  <a:extLst>
                    <a:ext uri="{9D8B030D-6E8A-4147-A177-3AD203B41FA5}">
                      <a16:colId xmlns:a16="http://schemas.microsoft.com/office/drawing/2014/main" val="1888921284"/>
                    </a:ext>
                  </a:extLst>
                </a:gridCol>
                <a:gridCol w="1888900">
                  <a:extLst>
                    <a:ext uri="{9D8B030D-6E8A-4147-A177-3AD203B41FA5}">
                      <a16:colId xmlns:a16="http://schemas.microsoft.com/office/drawing/2014/main" val="4077521047"/>
                    </a:ext>
                  </a:extLst>
                </a:gridCol>
                <a:gridCol w="1888900">
                  <a:extLst>
                    <a:ext uri="{9D8B030D-6E8A-4147-A177-3AD203B41FA5}">
                      <a16:colId xmlns:a16="http://schemas.microsoft.com/office/drawing/2014/main" val="2736218579"/>
                    </a:ext>
                  </a:extLst>
                </a:gridCol>
                <a:gridCol w="1888900">
                  <a:extLst>
                    <a:ext uri="{9D8B030D-6E8A-4147-A177-3AD203B41FA5}">
                      <a16:colId xmlns:a16="http://schemas.microsoft.com/office/drawing/2014/main" val="2430063282"/>
                    </a:ext>
                  </a:extLst>
                </a:gridCol>
              </a:tblGrid>
              <a:tr h="1122623">
                <a:tc>
                  <a:txBody>
                    <a:bodyPr/>
                    <a:lstStyle/>
                    <a:p>
                      <a:pPr algn="l">
                        <a:lnSpc>
                          <a:spcPct val="150000"/>
                        </a:lnSpc>
                        <a:buNone/>
                      </a:pPr>
                      <a:r>
                        <a:rPr lang="id-ID" sz="2000" kern="0" dirty="0" err="1">
                          <a:effectLst/>
                        </a:rPr>
                        <a:t>Dataset</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LightGBM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GBM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XGBoost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CatBoost (detik)</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96113673"/>
                  </a:ext>
                </a:extLst>
              </a:tr>
              <a:tr h="1021920">
                <a:tc>
                  <a:txBody>
                    <a:bodyPr/>
                    <a:lstStyle/>
                    <a:p>
                      <a:pPr algn="l">
                        <a:lnSpc>
                          <a:spcPct val="150000"/>
                        </a:lnSpc>
                        <a:buNone/>
                      </a:pPr>
                      <a:r>
                        <a:rPr lang="id-ID" sz="2000" kern="0" dirty="0" err="1">
                          <a:effectLst/>
                        </a:rPr>
                        <a:t>Heart</a:t>
                      </a:r>
                      <a:r>
                        <a:rPr lang="id-ID" sz="2000" kern="0" dirty="0">
                          <a:effectLst/>
                        </a:rPr>
                        <a:t> </a:t>
                      </a:r>
                      <a:r>
                        <a:rPr lang="id-ID" sz="2000" kern="0" dirty="0" err="1">
                          <a:effectLst/>
                        </a:rPr>
                        <a:t>Disease</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0,583</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1,417</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60,449</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4,143</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71363258"/>
                  </a:ext>
                </a:extLst>
              </a:tr>
              <a:tr h="1021920">
                <a:tc>
                  <a:txBody>
                    <a:bodyPr/>
                    <a:lstStyle/>
                    <a:p>
                      <a:pPr algn="l">
                        <a:lnSpc>
                          <a:spcPct val="150000"/>
                        </a:lnSpc>
                        <a:buNone/>
                      </a:pPr>
                      <a:r>
                        <a:rPr lang="id-ID" sz="2000" kern="0">
                          <a:effectLst/>
                        </a:rPr>
                        <a:t>Mushrooms</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6,432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11,659</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45,696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13,889</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84725224"/>
                  </a:ext>
                </a:extLst>
              </a:tr>
              <a:tr h="1021920">
                <a:tc>
                  <a:txBody>
                    <a:bodyPr/>
                    <a:lstStyle/>
                    <a:p>
                      <a:pPr algn="l">
                        <a:lnSpc>
                          <a:spcPct val="150000"/>
                        </a:lnSpc>
                        <a:buNone/>
                      </a:pPr>
                      <a:r>
                        <a:rPr lang="id-ID" sz="2000" kern="0">
                          <a:effectLst/>
                        </a:rPr>
                        <a:t>Breast Cancer</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0,722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5,296</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85,364</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53,840</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96177661"/>
                  </a:ext>
                </a:extLst>
              </a:tr>
              <a:tr h="1021920">
                <a:tc>
                  <a:txBody>
                    <a:bodyPr/>
                    <a:lstStyle/>
                    <a:p>
                      <a:pPr algn="l">
                        <a:lnSpc>
                          <a:spcPct val="150000"/>
                        </a:lnSpc>
                        <a:buNone/>
                      </a:pPr>
                      <a:r>
                        <a:rPr lang="id-ID" sz="2000" kern="0" dirty="0">
                          <a:effectLst/>
                        </a:rPr>
                        <a:t>Leukemia</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3,010</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32,633</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a:effectLst/>
                        </a:rPr>
                        <a:t>51,568</a:t>
                      </a:r>
                      <a:endParaRPr lang="id-ID" sz="32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50000"/>
                        </a:lnSpc>
                        <a:buNone/>
                      </a:pPr>
                      <a:r>
                        <a:rPr lang="id-ID" sz="2000" kern="0" dirty="0">
                          <a:effectLst/>
                        </a:rPr>
                        <a:t>375,332</a:t>
                      </a:r>
                      <a:endParaRPr lang="id-ID" sz="32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14560729"/>
                  </a:ext>
                </a:extLst>
              </a:tr>
            </a:tbl>
          </a:graphicData>
        </a:graphic>
      </p:graphicFrame>
    </p:spTree>
    <p:extLst>
      <p:ext uri="{BB962C8B-B14F-4D97-AF65-F5344CB8AC3E}">
        <p14:creationId xmlns:p14="http://schemas.microsoft.com/office/powerpoint/2010/main" val="3776707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ampungan Nomor Slide 8">
            <a:extLst>
              <a:ext uri="{FF2B5EF4-FFF2-40B4-BE49-F238E27FC236}">
                <a16:creationId xmlns:a16="http://schemas.microsoft.com/office/drawing/2014/main" id="{6FD448B0-743E-0045-8131-69B4EEC58365}"/>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10</a:t>
            </a:fld>
            <a:endParaRPr lang="id-ID"/>
          </a:p>
        </p:txBody>
      </p:sp>
      <p:pic>
        <p:nvPicPr>
          <p:cNvPr id="8" name="Picture 7">
            <a:extLst>
              <a:ext uri="{FF2B5EF4-FFF2-40B4-BE49-F238E27FC236}">
                <a16:creationId xmlns:a16="http://schemas.microsoft.com/office/drawing/2014/main" id="{AF94E4D4-116E-7319-DF5F-878836869A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3641" y="265471"/>
            <a:ext cx="7425893" cy="5213188"/>
          </a:xfrm>
          <a:prstGeom prst="rect">
            <a:avLst/>
          </a:prstGeom>
          <a:noFill/>
          <a:ln>
            <a:noFill/>
          </a:ln>
        </p:spPr>
      </p:pic>
      <p:sp>
        <p:nvSpPr>
          <p:cNvPr id="10" name="Tampungan Kaki 4">
            <a:extLst>
              <a:ext uri="{FF2B5EF4-FFF2-40B4-BE49-F238E27FC236}">
                <a16:creationId xmlns:a16="http://schemas.microsoft.com/office/drawing/2014/main" id="{A6CD7973-EAE2-95BD-DA58-D971E2D965C4}"/>
              </a:ext>
            </a:extLst>
          </p:cNvPr>
          <p:cNvSpPr txBox="1">
            <a:spLocks/>
          </p:cNvSpPr>
          <p:nvPr/>
        </p:nvSpPr>
        <p:spPr>
          <a:xfrm>
            <a:off x="1902542" y="5533863"/>
            <a:ext cx="6150078" cy="365125"/>
          </a:xfrm>
          <a:prstGeom prst="rect">
            <a:avLst/>
          </a:prstGeom>
        </p:spPr>
        <p:txBody>
          <a:bodyPr vert="horz" lIns="91440" tIns="45720" rIns="91440" bIns="45720" rtlCol="0" anchor="ctr">
            <a:noAutofit/>
          </a:bodyPr>
          <a:lstStyle>
            <a:defPPr rtl="0">
              <a:defRPr lang="id-ID"/>
            </a:defPPr>
            <a:lvl1pPr marL="0" algn="ctr" defTabSz="914400" rtl="0" eaLnBrk="1" latinLnBrk="0" hangingPunct="1">
              <a:defRPr sz="12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800" dirty="0"/>
              <a:t>Visualisasi Hubungan Non-Linear Data Sepak Bola (StatsBomb, 2022)</a:t>
            </a:r>
            <a:endParaRPr lang="id-ID" sz="1800" dirty="0"/>
          </a:p>
        </p:txBody>
      </p:sp>
    </p:spTree>
    <p:extLst>
      <p:ext uri="{BB962C8B-B14F-4D97-AF65-F5344CB8AC3E}">
        <p14:creationId xmlns:p14="http://schemas.microsoft.com/office/powerpoint/2010/main" val="2563119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96F75DE-8A44-4EC5-83C6-95BDDF10DFD9}"/>
              </a:ext>
            </a:extLst>
          </p:cNvPr>
          <p:cNvSpPr>
            <a:spLocks noGrp="1"/>
          </p:cNvSpPr>
          <p:nvPr>
            <p:ph type="title"/>
          </p:nvPr>
        </p:nvSpPr>
        <p:spPr>
          <a:xfrm>
            <a:off x="1167492" y="522807"/>
            <a:ext cx="9779183" cy="1325563"/>
          </a:xfrm>
        </p:spPr>
        <p:txBody>
          <a:bodyPr rtlCol="0"/>
          <a:lstStyle/>
          <a:p>
            <a:pPr rtl="0"/>
            <a:r>
              <a:rPr lang="en-GB" sz="5400" dirty="0" err="1"/>
              <a:t>Rumusan</a:t>
            </a:r>
            <a:r>
              <a:rPr lang="en-GB" sz="5400" dirty="0"/>
              <a:t> </a:t>
            </a:r>
            <a:r>
              <a:rPr lang="en-GB" sz="5400" dirty="0" err="1"/>
              <a:t>Masalah</a:t>
            </a:r>
            <a:endParaRPr lang="id-ID" sz="5400" dirty="0"/>
          </a:p>
        </p:txBody>
      </p:sp>
      <p:sp>
        <p:nvSpPr>
          <p:cNvPr id="6" name="Tampungan Nomor Slide 5">
            <a:extLst>
              <a:ext uri="{FF2B5EF4-FFF2-40B4-BE49-F238E27FC236}">
                <a16:creationId xmlns:a16="http://schemas.microsoft.com/office/drawing/2014/main" id="{50B6C709-8794-DF4E-A15C-6E648F09DD12}"/>
              </a:ext>
            </a:extLst>
          </p:cNvPr>
          <p:cNvSpPr>
            <a:spLocks noGrp="1"/>
          </p:cNvSpPr>
          <p:nvPr>
            <p:ph type="sldNum" sz="quarter" idx="4"/>
          </p:nvPr>
        </p:nvSpPr>
        <p:spPr/>
        <p:txBody>
          <a:bodyPr rtlCol="0"/>
          <a:lstStyle/>
          <a:p>
            <a:pPr rtl="0"/>
            <a:fld id="{294A09A9-5501-47C1-A89A-A340965A2BE2}" type="slidenum">
              <a:rPr lang="id-ID" smtClean="0"/>
              <a:pPr rtl="0"/>
              <a:t>11</a:t>
            </a:fld>
            <a:endParaRPr lang="id-ID"/>
          </a:p>
        </p:txBody>
      </p:sp>
      <p:sp>
        <p:nvSpPr>
          <p:cNvPr id="8" name="Content Placeholder 7">
            <a:extLst>
              <a:ext uri="{FF2B5EF4-FFF2-40B4-BE49-F238E27FC236}">
                <a16:creationId xmlns:a16="http://schemas.microsoft.com/office/drawing/2014/main" id="{5378EF9A-6DF2-1B01-4D25-5907CD183193}"/>
              </a:ext>
            </a:extLst>
          </p:cNvPr>
          <p:cNvSpPr>
            <a:spLocks noGrp="1"/>
          </p:cNvSpPr>
          <p:nvPr>
            <p:ph idx="1"/>
          </p:nvPr>
        </p:nvSpPr>
        <p:spPr>
          <a:xfrm>
            <a:off x="1167493" y="2087563"/>
            <a:ext cx="9437007" cy="2687637"/>
          </a:xfrm>
        </p:spPr>
        <p:txBody>
          <a:bodyPr/>
          <a:lstStyle/>
          <a:p>
            <a:pPr marL="457200" indent="-457200">
              <a:buFont typeface="Arial" panose="020B0604020202020204" pitchFamily="34" charset="0"/>
              <a:buChar char="•"/>
            </a:pPr>
            <a:r>
              <a:rPr lang="sv-SE" sz="4000" dirty="0"/>
              <a:t>Bagaimana LightGBM dapat </a:t>
            </a:r>
            <a:r>
              <a:rPr lang="sv-SE" sz="3600" dirty="0"/>
              <a:t>meningkatkan</a:t>
            </a:r>
            <a:r>
              <a:rPr lang="sv-SE" sz="4000" dirty="0"/>
              <a:t> akurasi prediksi xG?</a:t>
            </a:r>
          </a:p>
          <a:p>
            <a:pPr marL="457200" indent="-457200">
              <a:buFont typeface="Arial" panose="020B0604020202020204" pitchFamily="34" charset="0"/>
              <a:buChar char="•"/>
            </a:pPr>
            <a:r>
              <a:rPr lang="pt-BR" sz="4000" dirty="0"/>
              <a:t>Seberapa efisien LightGBM dalam memproses data untuk prediksi xG?</a:t>
            </a:r>
            <a:endParaRPr lang="id-ID" sz="4000" dirty="0"/>
          </a:p>
        </p:txBody>
      </p:sp>
    </p:spTree>
    <p:extLst>
      <p:ext uri="{BB962C8B-B14F-4D97-AF65-F5344CB8AC3E}">
        <p14:creationId xmlns:p14="http://schemas.microsoft.com/office/powerpoint/2010/main" val="4212917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7A6F7BB-30A8-4980-AD4A-2FB0B53FA6C9}"/>
              </a:ext>
            </a:extLst>
          </p:cNvPr>
          <p:cNvSpPr>
            <a:spLocks noGrp="1"/>
          </p:cNvSpPr>
          <p:nvPr>
            <p:ph type="title"/>
          </p:nvPr>
        </p:nvSpPr>
        <p:spPr>
          <a:xfrm>
            <a:off x="750430" y="381000"/>
            <a:ext cx="10678142" cy="1325563"/>
          </a:xfrm>
        </p:spPr>
        <p:txBody>
          <a:bodyPr rtlCol="0"/>
          <a:lstStyle/>
          <a:p>
            <a:pPr rtl="0"/>
            <a:r>
              <a:rPr lang="en-GB" dirty="0"/>
              <a:t>Batasan </a:t>
            </a:r>
            <a:r>
              <a:rPr lang="en-GB" dirty="0" err="1"/>
              <a:t>Masalah</a:t>
            </a:r>
            <a:endParaRPr lang="id-ID" dirty="0"/>
          </a:p>
        </p:txBody>
      </p:sp>
      <p:sp>
        <p:nvSpPr>
          <p:cNvPr id="3" name="Tampungan Tanggal 2">
            <a:extLst>
              <a:ext uri="{FF2B5EF4-FFF2-40B4-BE49-F238E27FC236}">
                <a16:creationId xmlns:a16="http://schemas.microsoft.com/office/drawing/2014/main" id="{DF3B501F-5E7A-5D46-8856-A27912A21D96}"/>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4" name="Tampungan Kaki 3">
            <a:extLst>
              <a:ext uri="{FF2B5EF4-FFF2-40B4-BE49-F238E27FC236}">
                <a16:creationId xmlns:a16="http://schemas.microsoft.com/office/drawing/2014/main" id="{E9CE3E8F-3700-FE42-BA65-89071D20A786}"/>
              </a:ext>
            </a:extLst>
          </p:cNvPr>
          <p:cNvSpPr>
            <a:spLocks noGrp="1"/>
          </p:cNvSpPr>
          <p:nvPr>
            <p:ph type="ftr" sz="quarter" idx="26"/>
          </p:nvPr>
        </p:nvSpPr>
        <p:spPr>
          <a:xfrm>
            <a:off x="4038600" y="6356350"/>
            <a:ext cx="4114800" cy="365125"/>
          </a:xfrm>
        </p:spPr>
        <p:txBody>
          <a:bodyPr rtlCol="0"/>
          <a:lstStyle/>
          <a:p>
            <a:pPr rtl="0"/>
            <a:r>
              <a:rPr lang="id-ID"/>
              <a:t>JUDUL PRESENTASI</a:t>
            </a:r>
          </a:p>
        </p:txBody>
      </p:sp>
      <p:sp>
        <p:nvSpPr>
          <p:cNvPr id="5" name="Tampungan Nomor Slide 4">
            <a:extLst>
              <a:ext uri="{FF2B5EF4-FFF2-40B4-BE49-F238E27FC236}">
                <a16:creationId xmlns:a16="http://schemas.microsoft.com/office/drawing/2014/main" id="{352A2850-23AF-A249-8907-5DAF2E2D2269}"/>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12</a:t>
            </a:fld>
            <a:endParaRPr lang="id-ID"/>
          </a:p>
        </p:txBody>
      </p:sp>
      <p:sp>
        <p:nvSpPr>
          <p:cNvPr id="78" name="Content Placeholder 7">
            <a:extLst>
              <a:ext uri="{FF2B5EF4-FFF2-40B4-BE49-F238E27FC236}">
                <a16:creationId xmlns:a16="http://schemas.microsoft.com/office/drawing/2014/main" id="{B95C08ED-9EA2-79F4-DDA9-96FBA72A6227}"/>
              </a:ext>
            </a:extLst>
          </p:cNvPr>
          <p:cNvSpPr txBox="1">
            <a:spLocks/>
          </p:cNvSpPr>
          <p:nvPr/>
        </p:nvSpPr>
        <p:spPr>
          <a:xfrm>
            <a:off x="1167493" y="2087563"/>
            <a:ext cx="9437007"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sz="2400" dirty="0"/>
              <a:t>Penelitian ini hanya berfokus pada implementasi dan optimalisasi </a:t>
            </a:r>
            <a:r>
              <a:rPr lang="id-ID" sz="2400" b="1" dirty="0" err="1"/>
              <a:t>LightGBM</a:t>
            </a:r>
            <a:r>
              <a:rPr lang="en-GB" sz="2400" b="1" dirty="0"/>
              <a:t>.</a:t>
            </a:r>
          </a:p>
          <a:p>
            <a:pPr marL="457200" indent="-457200"/>
            <a:r>
              <a:rPr lang="id-ID" sz="2400" dirty="0"/>
              <a:t>Sumber data yang digunakan adalah </a:t>
            </a:r>
            <a:r>
              <a:rPr lang="id-ID" sz="2400" b="1" dirty="0" err="1"/>
              <a:t>StatsBomb</a:t>
            </a:r>
            <a:r>
              <a:rPr lang="id-ID" sz="2400" b="1" dirty="0"/>
              <a:t> Open Data</a:t>
            </a:r>
            <a:r>
              <a:rPr lang="id-ID" sz="2400" dirty="0"/>
              <a:t>.</a:t>
            </a:r>
            <a:endParaRPr lang="en-GB" sz="2400" dirty="0"/>
          </a:p>
          <a:p>
            <a:pPr marL="457200" indent="-457200"/>
            <a:r>
              <a:rPr lang="id-ID" sz="2400" dirty="0"/>
              <a:t>Sampel data hanya mencakup tembakan dari situasi </a:t>
            </a:r>
            <a:r>
              <a:rPr lang="id-ID" sz="2400" b="1" dirty="0"/>
              <a:t>permainan terbuka (</a:t>
            </a:r>
            <a:r>
              <a:rPr lang="id-ID" sz="2400" b="1" i="1" dirty="0"/>
              <a:t>open </a:t>
            </a:r>
            <a:r>
              <a:rPr lang="id-ID" sz="2400" b="1" i="1" dirty="0" err="1"/>
              <a:t>play</a:t>
            </a:r>
            <a:r>
              <a:rPr lang="id-ID" sz="2400" b="1" dirty="0"/>
              <a:t>)</a:t>
            </a:r>
            <a:r>
              <a:rPr lang="id-ID" sz="2400" dirty="0"/>
              <a:t>. Tembakan dari bola mati (penalti, tendangan bebas, dll.) tidak diikutsertakan.</a:t>
            </a:r>
            <a:endParaRPr lang="en-GB" sz="2400" dirty="0"/>
          </a:p>
          <a:p>
            <a:pPr marL="457200" indent="-457200"/>
            <a:r>
              <a:rPr lang="id-ID" sz="2400" dirty="0"/>
              <a:t>Kinerja model diukur secara spesifik menggunakan metrik </a:t>
            </a:r>
            <a:r>
              <a:rPr lang="id-ID" sz="2400" b="1" dirty="0"/>
              <a:t>ROC AUC, </a:t>
            </a:r>
            <a:r>
              <a:rPr lang="id-ID" sz="2400" b="1" dirty="0" err="1"/>
              <a:t>Brier</a:t>
            </a:r>
            <a:r>
              <a:rPr lang="id-ID" sz="2400" b="1" dirty="0"/>
              <a:t> </a:t>
            </a:r>
            <a:r>
              <a:rPr lang="id-ID" sz="2400" b="1" dirty="0" err="1"/>
              <a:t>Score</a:t>
            </a:r>
            <a:r>
              <a:rPr lang="id-ID" sz="2400" b="1" dirty="0"/>
              <a:t>, Presisi, </a:t>
            </a:r>
            <a:r>
              <a:rPr lang="id-ID" sz="2400" b="1" dirty="0" err="1"/>
              <a:t>Recall</a:t>
            </a:r>
            <a:r>
              <a:rPr lang="id-ID" sz="2400" b="1" dirty="0"/>
              <a:t>, F1-Score, Log-</a:t>
            </a:r>
            <a:r>
              <a:rPr lang="id-ID" sz="2400" b="1" dirty="0" err="1"/>
              <a:t>Loss</a:t>
            </a:r>
            <a:r>
              <a:rPr lang="id-ID" sz="2400" b="1" dirty="0"/>
              <a:t>,</a:t>
            </a:r>
            <a:r>
              <a:rPr lang="id-ID" sz="2400" dirty="0"/>
              <a:t> dan </a:t>
            </a:r>
            <a:r>
              <a:rPr lang="id-ID" sz="2400" b="1" dirty="0"/>
              <a:t>waktu pemrosesan</a:t>
            </a:r>
            <a:r>
              <a:rPr lang="id-ID" sz="2400" dirty="0"/>
              <a:t>.</a:t>
            </a:r>
          </a:p>
        </p:txBody>
      </p:sp>
    </p:spTree>
    <p:extLst>
      <p:ext uri="{BB962C8B-B14F-4D97-AF65-F5344CB8AC3E}">
        <p14:creationId xmlns:p14="http://schemas.microsoft.com/office/powerpoint/2010/main" val="3396266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460295B-54B9-4937-90E3-BAB9CE69E30B}"/>
              </a:ext>
            </a:extLst>
          </p:cNvPr>
          <p:cNvSpPr>
            <a:spLocks noGrp="1"/>
          </p:cNvSpPr>
          <p:nvPr>
            <p:ph type="ctrTitle"/>
          </p:nvPr>
        </p:nvSpPr>
        <p:spPr>
          <a:xfrm>
            <a:off x="722994" y="1221850"/>
            <a:ext cx="6245912" cy="832900"/>
          </a:xfrm>
        </p:spPr>
        <p:txBody>
          <a:bodyPr rtlCol="0"/>
          <a:lstStyle/>
          <a:p>
            <a:pPr rtl="0"/>
            <a:r>
              <a:rPr lang="en-GB" dirty="0"/>
              <a:t>Tujuan </a:t>
            </a:r>
            <a:r>
              <a:rPr lang="en-GB" dirty="0" err="1"/>
              <a:t>Penelitian</a:t>
            </a:r>
            <a:endParaRPr lang="id-ID" dirty="0"/>
          </a:p>
        </p:txBody>
      </p:sp>
      <p:sp>
        <p:nvSpPr>
          <p:cNvPr id="4" name="Tampungan Teks 3">
            <a:extLst>
              <a:ext uri="{FF2B5EF4-FFF2-40B4-BE49-F238E27FC236}">
                <a16:creationId xmlns:a16="http://schemas.microsoft.com/office/drawing/2014/main" id="{D51A6D85-3837-435F-A342-5A3F98172B12}"/>
              </a:ext>
            </a:extLst>
          </p:cNvPr>
          <p:cNvSpPr>
            <a:spLocks noGrp="1"/>
          </p:cNvSpPr>
          <p:nvPr>
            <p:ph type="subTitle" idx="1"/>
          </p:nvPr>
        </p:nvSpPr>
        <p:spPr>
          <a:xfrm>
            <a:off x="722994" y="2624675"/>
            <a:ext cx="6245912" cy="2595025"/>
          </a:xfrm>
        </p:spPr>
        <p:txBody>
          <a:bodyPr vert="horz" lIns="91440" tIns="45720" rIns="91440" bIns="45720" rtlCol="0" anchor="t">
            <a:normAutofit fontScale="92500" lnSpcReduction="10000"/>
          </a:bodyPr>
          <a:lstStyle/>
          <a:p>
            <a:pPr marL="457200" indent="-457200">
              <a:buFont typeface="Arial" panose="020B0604020202020204" pitchFamily="34" charset="0"/>
              <a:buChar char="•"/>
            </a:pPr>
            <a:r>
              <a:rPr lang="id-ID" sz="2400" dirty="0"/>
              <a:t>Mengimplementasikan algoritma </a:t>
            </a:r>
            <a:r>
              <a:rPr lang="id-ID" sz="2400" dirty="0" err="1"/>
              <a:t>LightGBM</a:t>
            </a:r>
            <a:r>
              <a:rPr lang="id-ID" sz="2400" dirty="0"/>
              <a:t> untuk membangun model prediksi </a:t>
            </a:r>
            <a:r>
              <a:rPr lang="id-ID" sz="2400" dirty="0" err="1"/>
              <a:t>xG</a:t>
            </a:r>
            <a:r>
              <a:rPr lang="en-GB" sz="2400" dirty="0"/>
              <a:t>.</a:t>
            </a:r>
          </a:p>
          <a:p>
            <a:pPr marL="457200" indent="-457200">
              <a:buFont typeface="Arial" panose="020B0604020202020204" pitchFamily="34" charset="0"/>
              <a:buChar char="•"/>
            </a:pPr>
            <a:r>
              <a:rPr lang="id-ID" sz="2400" dirty="0"/>
              <a:t>Mengukur </a:t>
            </a:r>
            <a:r>
              <a:rPr lang="id-ID" sz="2400" b="1" dirty="0"/>
              <a:t>tingkat akurasi</a:t>
            </a:r>
            <a:r>
              <a:rPr lang="id-ID" sz="2400" dirty="0"/>
              <a:t> prediksi model menggunakan serangkaian metrik yang telah ditentukan.</a:t>
            </a:r>
            <a:endParaRPr lang="en-GB" sz="2400" dirty="0"/>
          </a:p>
          <a:p>
            <a:pPr marL="457200" indent="-457200">
              <a:buFont typeface="Arial" panose="020B0604020202020204" pitchFamily="34" charset="0"/>
              <a:buChar char="•"/>
            </a:pPr>
            <a:r>
              <a:rPr lang="id-ID" sz="2400" dirty="0"/>
              <a:t>Mengukur </a:t>
            </a:r>
            <a:r>
              <a:rPr lang="id-ID" sz="2400" b="1" dirty="0"/>
              <a:t>efisiensi komputasi</a:t>
            </a:r>
            <a:r>
              <a:rPr lang="id-ID" sz="2400" dirty="0"/>
              <a:t> model berdasarkan waktu pemrosesan yang dibutuhkan.</a:t>
            </a:r>
            <a:endParaRPr lang="en-GB" sz="2400" dirty="0"/>
          </a:p>
          <a:p>
            <a:pPr marL="457200" indent="-457200">
              <a:buFont typeface="Arial" panose="020B0604020202020204" pitchFamily="34" charset="0"/>
              <a:buChar char="•"/>
            </a:pPr>
            <a:endParaRPr lang="id-ID" sz="2400" dirty="0"/>
          </a:p>
        </p:txBody>
      </p:sp>
    </p:spTree>
    <p:extLst>
      <p:ext uri="{BB962C8B-B14F-4D97-AF65-F5344CB8AC3E}">
        <p14:creationId xmlns:p14="http://schemas.microsoft.com/office/powerpoint/2010/main" val="344679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D0B6389-2374-4677-B8BB-59410CCC32FD}"/>
              </a:ext>
            </a:extLst>
          </p:cNvPr>
          <p:cNvSpPr>
            <a:spLocks noGrp="1"/>
          </p:cNvSpPr>
          <p:nvPr>
            <p:ph type="title"/>
          </p:nvPr>
        </p:nvSpPr>
        <p:spPr>
          <a:xfrm>
            <a:off x="1167492" y="381001"/>
            <a:ext cx="9779183" cy="1262062"/>
          </a:xfrm>
        </p:spPr>
        <p:txBody>
          <a:bodyPr rtlCol="0">
            <a:normAutofit fontScale="90000"/>
          </a:bodyPr>
          <a:lstStyle/>
          <a:p>
            <a:pPr rtl="0"/>
            <a:r>
              <a:rPr lang="en-GB" dirty="0" err="1"/>
              <a:t>Landasan</a:t>
            </a:r>
            <a:r>
              <a:rPr lang="en-GB" dirty="0"/>
              <a:t> Teori</a:t>
            </a:r>
            <a:br>
              <a:rPr lang="en-GB" dirty="0"/>
            </a:br>
            <a:r>
              <a:rPr lang="en-GB" b="0" i="1" dirty="0" err="1"/>
              <a:t>Analisis</a:t>
            </a:r>
            <a:r>
              <a:rPr lang="en-GB" b="0" i="1" dirty="0"/>
              <a:t> </a:t>
            </a:r>
            <a:r>
              <a:rPr lang="en-GB" b="0" i="1" dirty="0" err="1"/>
              <a:t>Sepak</a:t>
            </a:r>
            <a:r>
              <a:rPr lang="en-GB" b="0" i="1" dirty="0"/>
              <a:t> Bola</a:t>
            </a:r>
            <a:endParaRPr lang="id-ID" b="0" i="1" dirty="0"/>
          </a:p>
        </p:txBody>
      </p:sp>
      <p:sp>
        <p:nvSpPr>
          <p:cNvPr id="13" name="TextBox 12">
            <a:extLst>
              <a:ext uri="{FF2B5EF4-FFF2-40B4-BE49-F238E27FC236}">
                <a16:creationId xmlns:a16="http://schemas.microsoft.com/office/drawing/2014/main" id="{3B2B8A14-1FBE-5215-CF2B-905D2837E291}"/>
              </a:ext>
            </a:extLst>
          </p:cNvPr>
          <p:cNvSpPr txBox="1"/>
          <p:nvPr/>
        </p:nvSpPr>
        <p:spPr>
          <a:xfrm>
            <a:off x="792776" y="1720840"/>
            <a:ext cx="10312759" cy="4893647"/>
          </a:xfrm>
          <a:prstGeom prst="rect">
            <a:avLst/>
          </a:prstGeom>
          <a:noFill/>
        </p:spPr>
        <p:txBody>
          <a:bodyPr wrap="square">
            <a:spAutoFit/>
          </a:bodyPr>
          <a:lstStyle/>
          <a:p>
            <a:r>
              <a:rPr lang="id-ID" sz="2400" dirty="0"/>
              <a:t>Analisis sepak bola adalah proses pengolahan data untuk mendapatkan keunggulan kompetitif, baik untuk meningkatkan performa tim maupun untuk tujuan ekonomi.</a:t>
            </a:r>
          </a:p>
          <a:p>
            <a:r>
              <a:rPr lang="id-ID" sz="2400" b="1" dirty="0"/>
              <a:t>Tujuan Utama:</a:t>
            </a:r>
            <a:endParaRPr lang="id-ID" sz="2400" dirty="0"/>
          </a:p>
          <a:p>
            <a:pPr marL="342900" indent="-342900">
              <a:buFont typeface="Arial" panose="020B0604020202020204" pitchFamily="34" charset="0"/>
              <a:buChar char="•"/>
            </a:pPr>
            <a:r>
              <a:rPr lang="id-ID" sz="2400" dirty="0"/>
              <a:t>Mengubah data menjadi wawasan strategis.</a:t>
            </a:r>
          </a:p>
          <a:p>
            <a:pPr marL="342900" indent="-342900">
              <a:buFont typeface="Arial" panose="020B0604020202020204" pitchFamily="34" charset="0"/>
              <a:buChar char="•"/>
            </a:pPr>
            <a:r>
              <a:rPr lang="id-ID" sz="2400" dirty="0"/>
              <a:t>Mengurangi </a:t>
            </a:r>
            <a:r>
              <a:rPr lang="id-ID" sz="2400" dirty="0" err="1"/>
              <a:t>subjektivitas</a:t>
            </a:r>
            <a:r>
              <a:rPr lang="id-ID" sz="2400" dirty="0"/>
              <a:t> dalam pengambilan keputusan.</a:t>
            </a:r>
          </a:p>
          <a:p>
            <a:r>
              <a:rPr lang="id-ID" sz="2400" b="1" dirty="0"/>
              <a:t>Jenis Data yang Digunakan:</a:t>
            </a:r>
            <a:endParaRPr lang="id-ID" sz="2400" dirty="0"/>
          </a:p>
          <a:p>
            <a:pPr marL="342900" indent="-342900">
              <a:buFont typeface="Arial" panose="020B0604020202020204" pitchFamily="34" charset="0"/>
              <a:buChar char="•"/>
            </a:pPr>
            <a:r>
              <a:rPr lang="id-ID" sz="2400" b="1" dirty="0"/>
              <a:t>Data Peristiwa (Event):</a:t>
            </a:r>
            <a:r>
              <a:rPr lang="id-ID" sz="2400" dirty="0"/>
              <a:t> Mencatat semua aksi terkait bola seperti tembakan, umpan, dan tekel.</a:t>
            </a:r>
          </a:p>
          <a:p>
            <a:pPr marL="342900" indent="-342900">
              <a:buFont typeface="Arial" panose="020B0604020202020204" pitchFamily="34" charset="0"/>
              <a:buChar char="•"/>
            </a:pPr>
            <a:r>
              <a:rPr lang="id-ID" sz="2400" b="1" dirty="0"/>
              <a:t>Data Pelacakan (</a:t>
            </a:r>
            <a:r>
              <a:rPr lang="id-ID" sz="2400" b="1" dirty="0" err="1"/>
              <a:t>Tracking</a:t>
            </a:r>
            <a:r>
              <a:rPr lang="id-ID" sz="2400" b="1" dirty="0"/>
              <a:t>):</a:t>
            </a:r>
            <a:r>
              <a:rPr lang="id-ID" sz="2400" dirty="0"/>
              <a:t> Merekam pergerakan setiap pemain di lapangan untuk analisis taktis.</a:t>
            </a:r>
          </a:p>
          <a:p>
            <a:pPr marL="342900" indent="-342900">
              <a:buFont typeface="Arial" panose="020B0604020202020204" pitchFamily="34" charset="0"/>
              <a:buChar char="•"/>
            </a:pPr>
            <a:r>
              <a:rPr lang="id-ID" sz="2400" b="1" dirty="0"/>
              <a:t>Data GPS:</a:t>
            </a:r>
            <a:r>
              <a:rPr lang="id-ID" sz="2400" dirty="0"/>
              <a:t> Mengukur aktivitas fisik pemain, seperti jarak tempuh dan intensitas lari</a:t>
            </a:r>
            <a:r>
              <a:rPr lang="en-GB" sz="2400" dirty="0"/>
              <a:t>. DLL</a:t>
            </a:r>
            <a:endParaRPr lang="id-ID" sz="2400" dirty="0"/>
          </a:p>
        </p:txBody>
      </p:sp>
    </p:spTree>
    <p:extLst>
      <p:ext uri="{BB962C8B-B14F-4D97-AF65-F5344CB8AC3E}">
        <p14:creationId xmlns:p14="http://schemas.microsoft.com/office/powerpoint/2010/main" val="700209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7A6F7BB-30A8-4980-AD4A-2FB0B53FA6C9}"/>
              </a:ext>
            </a:extLst>
          </p:cNvPr>
          <p:cNvSpPr>
            <a:spLocks noGrp="1"/>
          </p:cNvSpPr>
          <p:nvPr>
            <p:ph type="title"/>
          </p:nvPr>
        </p:nvSpPr>
        <p:spPr>
          <a:xfrm>
            <a:off x="750430" y="381001"/>
            <a:ext cx="8401624" cy="800100"/>
          </a:xfrm>
        </p:spPr>
        <p:txBody>
          <a:bodyPr rtlCol="0"/>
          <a:lstStyle/>
          <a:p>
            <a:pPr rtl="0"/>
            <a:r>
              <a:rPr lang="en-GB" dirty="0" err="1"/>
              <a:t>Landasan</a:t>
            </a:r>
            <a:r>
              <a:rPr lang="en-GB" dirty="0"/>
              <a:t> Teori</a:t>
            </a:r>
            <a:endParaRPr lang="id-ID" dirty="0"/>
          </a:p>
        </p:txBody>
      </p:sp>
      <p:sp>
        <p:nvSpPr>
          <p:cNvPr id="30" name="Content Placeholder 7">
            <a:extLst>
              <a:ext uri="{FF2B5EF4-FFF2-40B4-BE49-F238E27FC236}">
                <a16:creationId xmlns:a16="http://schemas.microsoft.com/office/drawing/2014/main" id="{3356F53D-93D5-F6C0-E8ED-84F1016A46C5}"/>
              </a:ext>
            </a:extLst>
          </p:cNvPr>
          <p:cNvSpPr txBox="1">
            <a:spLocks/>
          </p:cNvSpPr>
          <p:nvPr/>
        </p:nvSpPr>
        <p:spPr>
          <a:xfrm>
            <a:off x="296406" y="1785144"/>
            <a:ext cx="9341080" cy="42963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b="1" dirty="0" err="1"/>
              <a:t>xG</a:t>
            </a:r>
            <a:r>
              <a:rPr lang="id-ID" dirty="0"/>
              <a:t> adalah metrik untuk mengukur </a:t>
            </a:r>
            <a:r>
              <a:rPr lang="id-ID" b="1" dirty="0"/>
              <a:t>kualitas sebuah peluang tembakan</a:t>
            </a:r>
            <a:r>
              <a:rPr lang="en-GB" b="1" dirty="0"/>
              <a:t> </a:t>
            </a:r>
            <a:r>
              <a:rPr lang="en-GB" b="1" dirty="0" err="1"/>
              <a:t>menggunakan</a:t>
            </a:r>
            <a:r>
              <a:rPr lang="en-GB" b="1" dirty="0"/>
              <a:t> </a:t>
            </a:r>
            <a:r>
              <a:rPr lang="en-GB" b="1" dirty="0" err="1"/>
              <a:t>probabilitas</a:t>
            </a:r>
            <a:r>
              <a:rPr lang="id-ID" dirty="0"/>
              <a:t>.</a:t>
            </a:r>
            <a:endParaRPr lang="en-GB" dirty="0"/>
          </a:p>
          <a:p>
            <a:pPr marL="457200" indent="-457200"/>
            <a:r>
              <a:rPr lang="en-GB" dirty="0"/>
              <a:t>Pada </a:t>
            </a:r>
            <a:r>
              <a:rPr lang="en-GB" dirty="0" err="1"/>
              <a:t>umumnya</a:t>
            </a:r>
            <a:r>
              <a:rPr lang="en-GB" dirty="0"/>
              <a:t> </a:t>
            </a:r>
            <a:r>
              <a:rPr lang="id-ID" dirty="0"/>
              <a:t>Model </a:t>
            </a:r>
            <a:r>
              <a:rPr lang="id-ID" dirty="0" err="1"/>
              <a:t>xG</a:t>
            </a:r>
            <a:r>
              <a:rPr lang="id-ID" dirty="0"/>
              <a:t> menganalisis ribuan data tembakan historis dengan mempertimbangkan berbagai faktor, seperti:</a:t>
            </a:r>
            <a:endParaRPr lang="en-GB" dirty="0"/>
          </a:p>
          <a:p>
            <a:pPr lvl="1"/>
            <a:r>
              <a:rPr lang="id-ID" dirty="0"/>
              <a:t>Jarak dan sudut tembakan</a:t>
            </a:r>
          </a:p>
          <a:p>
            <a:pPr lvl="1"/>
            <a:r>
              <a:rPr lang="id-ID" dirty="0"/>
              <a:t>Bagian tubuh yang digunakan (kaki atau kepala)</a:t>
            </a:r>
          </a:p>
          <a:p>
            <a:pPr lvl="1"/>
            <a:r>
              <a:rPr lang="id-ID" dirty="0"/>
              <a:t>Jenis permainan yang mendahului tembakan (umpan terobosan, dll.). (</a:t>
            </a:r>
            <a:r>
              <a:rPr lang="id-ID" dirty="0" err="1"/>
              <a:t>Olvera-Rojas</a:t>
            </a:r>
            <a:r>
              <a:rPr lang="id-ID" dirty="0"/>
              <a:t> </a:t>
            </a:r>
            <a:r>
              <a:rPr lang="id-ID" dirty="0" err="1"/>
              <a:t>et</a:t>
            </a:r>
            <a:r>
              <a:rPr lang="id-ID" dirty="0"/>
              <a:t> </a:t>
            </a:r>
            <a:r>
              <a:rPr lang="id-ID" dirty="0" err="1"/>
              <a:t>al.</a:t>
            </a:r>
            <a:r>
              <a:rPr lang="id-ID" dirty="0"/>
              <a:t>, 2023).</a:t>
            </a:r>
          </a:p>
          <a:p>
            <a:pPr marL="457200" indent="-457200"/>
            <a:endParaRPr lang="id-ID" dirty="0"/>
          </a:p>
        </p:txBody>
      </p:sp>
      <p:sp>
        <p:nvSpPr>
          <p:cNvPr id="32" name="Judul 1">
            <a:extLst>
              <a:ext uri="{FF2B5EF4-FFF2-40B4-BE49-F238E27FC236}">
                <a16:creationId xmlns:a16="http://schemas.microsoft.com/office/drawing/2014/main" id="{B27BB883-ED93-314A-0678-70F078C6176D}"/>
              </a:ext>
            </a:extLst>
          </p:cNvPr>
          <p:cNvSpPr txBox="1">
            <a:spLocks/>
          </p:cNvSpPr>
          <p:nvPr/>
        </p:nvSpPr>
        <p:spPr>
          <a:xfrm>
            <a:off x="750430" y="1181101"/>
            <a:ext cx="8401624" cy="444499"/>
          </a:xfrm>
          <a:prstGeom prst="rect">
            <a:avLst/>
          </a:prstGeom>
        </p:spPr>
        <p:txBody>
          <a:bodyPr vert="horz" lIns="0" tIns="45720" rIns="91440" bIns="45720" rtlCol="0" anchor="b">
            <a:noAutofit/>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r>
              <a:rPr lang="en-GB" sz="4000" b="0" i="1" dirty="0"/>
              <a:t>Expected Goals (</a:t>
            </a:r>
            <a:r>
              <a:rPr lang="en-GB" sz="4000" b="0" i="1" dirty="0" err="1"/>
              <a:t>xG</a:t>
            </a:r>
            <a:r>
              <a:rPr lang="en-GB" sz="4000" b="0" i="1" dirty="0"/>
              <a:t>)</a:t>
            </a:r>
            <a:endParaRPr lang="id-ID" sz="4000" b="0" i="1" dirty="0"/>
          </a:p>
        </p:txBody>
      </p:sp>
    </p:spTree>
    <p:extLst>
      <p:ext uri="{BB962C8B-B14F-4D97-AF65-F5344CB8AC3E}">
        <p14:creationId xmlns:p14="http://schemas.microsoft.com/office/powerpoint/2010/main" val="3335690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8F11B-AB1F-36A2-9541-071E58C65026}"/>
            </a:ext>
          </a:extLst>
        </p:cNvPr>
        <p:cNvGrpSpPr/>
        <p:nvPr/>
      </p:nvGrpSpPr>
      <p:grpSpPr>
        <a:xfrm>
          <a:off x="0" y="0"/>
          <a:ext cx="0" cy="0"/>
          <a:chOff x="0" y="0"/>
          <a:chExt cx="0" cy="0"/>
        </a:xfrm>
      </p:grpSpPr>
      <p:sp>
        <p:nvSpPr>
          <p:cNvPr id="3" name="Tampungan Tanggal 2">
            <a:extLst>
              <a:ext uri="{FF2B5EF4-FFF2-40B4-BE49-F238E27FC236}">
                <a16:creationId xmlns:a16="http://schemas.microsoft.com/office/drawing/2014/main" id="{1F0A7994-0AFC-7AA4-C729-A5AB30609F6F}"/>
              </a:ext>
            </a:extLst>
          </p:cNvPr>
          <p:cNvSpPr>
            <a:spLocks noGrp="1"/>
          </p:cNvSpPr>
          <p:nvPr>
            <p:ph type="dt" sz="half" idx="10"/>
          </p:nvPr>
        </p:nvSpPr>
        <p:spPr/>
        <p:txBody>
          <a:bodyPr rtlCol="0"/>
          <a:lstStyle/>
          <a:p>
            <a:pPr rtl="0"/>
            <a:fld id="{A808DD98-197B-46F5-A6AA-BDA332D7E685}" type="datetime1">
              <a:rPr lang="id-ID" smtClean="0"/>
              <a:t>27/10/2025</a:t>
            </a:fld>
            <a:endParaRPr lang="id-ID"/>
          </a:p>
        </p:txBody>
      </p:sp>
      <p:sp>
        <p:nvSpPr>
          <p:cNvPr id="4" name="Tampungan Kaki 3">
            <a:extLst>
              <a:ext uri="{FF2B5EF4-FFF2-40B4-BE49-F238E27FC236}">
                <a16:creationId xmlns:a16="http://schemas.microsoft.com/office/drawing/2014/main" id="{58FFB98C-CFF5-B9FA-9A41-DD916B870D49}"/>
              </a:ext>
            </a:extLst>
          </p:cNvPr>
          <p:cNvSpPr>
            <a:spLocks noGrp="1"/>
          </p:cNvSpPr>
          <p:nvPr>
            <p:ph type="ftr" sz="quarter" idx="11"/>
          </p:nvPr>
        </p:nvSpPr>
        <p:spPr/>
        <p:txBody>
          <a:bodyPr rtlCol="0"/>
          <a:lstStyle/>
          <a:p>
            <a:pPr rtl="0"/>
            <a:r>
              <a:rPr lang="en-GB" sz="2000" dirty="0" err="1"/>
              <a:t>Opta</a:t>
            </a:r>
            <a:r>
              <a:rPr lang="en-GB" sz="2000" dirty="0"/>
              <a:t> (2023)</a:t>
            </a:r>
            <a:endParaRPr lang="id-ID" sz="2000" dirty="0"/>
          </a:p>
        </p:txBody>
      </p:sp>
      <p:sp>
        <p:nvSpPr>
          <p:cNvPr id="5" name="Tampungan Nomor Slide 4">
            <a:extLst>
              <a:ext uri="{FF2B5EF4-FFF2-40B4-BE49-F238E27FC236}">
                <a16:creationId xmlns:a16="http://schemas.microsoft.com/office/drawing/2014/main" id="{8D782479-0704-A2C9-CB87-89344E5169EE}"/>
              </a:ext>
            </a:extLst>
          </p:cNvPr>
          <p:cNvSpPr>
            <a:spLocks noGrp="1"/>
          </p:cNvSpPr>
          <p:nvPr>
            <p:ph type="sldNum" sz="quarter" idx="12"/>
          </p:nvPr>
        </p:nvSpPr>
        <p:spPr/>
        <p:txBody>
          <a:bodyPr rtlCol="0"/>
          <a:lstStyle/>
          <a:p>
            <a:pPr rtl="0"/>
            <a:fld id="{294A09A9-5501-47C1-A89A-A340965A2BE2}" type="slidenum">
              <a:rPr lang="id-ID" smtClean="0"/>
              <a:pPr rtl="0"/>
              <a:t>16</a:t>
            </a:fld>
            <a:endParaRPr lang="id-ID"/>
          </a:p>
        </p:txBody>
      </p:sp>
      <p:pic>
        <p:nvPicPr>
          <p:cNvPr id="33" name="Picture 32" descr="Alexis Sanchez expected goals (xG) map 2022-23">
            <a:extLst>
              <a:ext uri="{FF2B5EF4-FFF2-40B4-BE49-F238E27FC236}">
                <a16:creationId xmlns:a16="http://schemas.microsoft.com/office/drawing/2014/main" id="{8E2FB1A2-49A7-E85E-D4F3-2E05EE71843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1073" y="136525"/>
            <a:ext cx="8293100" cy="6219825"/>
          </a:xfrm>
          <a:prstGeom prst="rect">
            <a:avLst/>
          </a:prstGeom>
          <a:noFill/>
          <a:ln>
            <a:noFill/>
          </a:ln>
        </p:spPr>
      </p:pic>
    </p:spTree>
    <p:extLst>
      <p:ext uri="{BB962C8B-B14F-4D97-AF65-F5344CB8AC3E}">
        <p14:creationId xmlns:p14="http://schemas.microsoft.com/office/powerpoint/2010/main" val="393962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9A70-61E0-55D5-4802-32F7DA53AE9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12486948-7E20-F333-C541-77AC481A1D02}"/>
              </a:ext>
            </a:extLst>
          </p:cNvPr>
          <p:cNvSpPr>
            <a:spLocks noGrp="1"/>
          </p:cNvSpPr>
          <p:nvPr>
            <p:ph type="title"/>
          </p:nvPr>
        </p:nvSpPr>
        <p:spPr>
          <a:xfrm>
            <a:off x="1167492" y="381001"/>
            <a:ext cx="9779183" cy="1262062"/>
          </a:xfrm>
        </p:spPr>
        <p:txBody>
          <a:bodyPr rtlCol="0">
            <a:normAutofit fontScale="90000"/>
          </a:bodyPr>
          <a:lstStyle/>
          <a:p>
            <a:pPr rtl="0"/>
            <a:r>
              <a:rPr lang="en-GB" dirty="0" err="1"/>
              <a:t>Landasan</a:t>
            </a:r>
            <a:r>
              <a:rPr lang="en-GB" dirty="0"/>
              <a:t> Teori</a:t>
            </a:r>
            <a:br>
              <a:rPr lang="en-GB" dirty="0"/>
            </a:br>
            <a:r>
              <a:rPr lang="en-GB" b="0" i="1" dirty="0" err="1"/>
              <a:t>LightGBM</a:t>
            </a:r>
            <a:endParaRPr lang="id-ID" b="0" i="1" dirty="0"/>
          </a:p>
        </p:txBody>
      </p:sp>
      <p:sp>
        <p:nvSpPr>
          <p:cNvPr id="13" name="TextBox 12">
            <a:extLst>
              <a:ext uri="{FF2B5EF4-FFF2-40B4-BE49-F238E27FC236}">
                <a16:creationId xmlns:a16="http://schemas.microsoft.com/office/drawing/2014/main" id="{828740FB-DA8F-326F-65EC-821E520DA2DC}"/>
              </a:ext>
            </a:extLst>
          </p:cNvPr>
          <p:cNvSpPr txBox="1"/>
          <p:nvPr/>
        </p:nvSpPr>
        <p:spPr>
          <a:xfrm>
            <a:off x="792776" y="1720840"/>
            <a:ext cx="6740139" cy="3416320"/>
          </a:xfrm>
          <a:prstGeom prst="rect">
            <a:avLst/>
          </a:prstGeom>
          <a:noFill/>
        </p:spPr>
        <p:txBody>
          <a:bodyPr wrap="square">
            <a:spAutoFit/>
          </a:bodyPr>
          <a:lstStyle/>
          <a:p>
            <a:pPr marL="342900" indent="-342900">
              <a:buFont typeface="Arial" panose="020B0604020202020204" pitchFamily="34" charset="0"/>
              <a:buChar char="•"/>
            </a:pPr>
            <a:r>
              <a:rPr lang="id-ID" sz="2400" b="1" dirty="0" err="1"/>
              <a:t>LightGBM</a:t>
            </a:r>
            <a:r>
              <a:rPr lang="id-ID" sz="2400" dirty="0"/>
              <a:t> adalah algoritma </a:t>
            </a:r>
            <a:r>
              <a:rPr lang="id-ID" sz="2400" i="1" dirty="0" err="1"/>
              <a:t>machine</a:t>
            </a:r>
            <a:r>
              <a:rPr lang="id-ID" sz="2400" i="1" dirty="0"/>
              <a:t> </a:t>
            </a:r>
            <a:r>
              <a:rPr lang="id-ID" sz="2400" i="1" dirty="0" err="1"/>
              <a:t>learning</a:t>
            </a:r>
            <a:r>
              <a:rPr lang="id-ID" sz="2400" dirty="0"/>
              <a:t> yang dirancang secara khusus untuk mencapai </a:t>
            </a:r>
            <a:r>
              <a:rPr lang="id-ID" sz="2400" b="1" dirty="0"/>
              <a:t>kecepatan</a:t>
            </a:r>
            <a:r>
              <a:rPr lang="id-ID" sz="2400" dirty="0"/>
              <a:t> dan </a:t>
            </a:r>
            <a:r>
              <a:rPr lang="id-ID" sz="2400" b="1" dirty="0"/>
              <a:t>efisiensi</a:t>
            </a:r>
            <a:r>
              <a:rPr lang="id-ID" sz="2400" dirty="0"/>
              <a:t> yang sangat tinggi.</a:t>
            </a:r>
            <a:endParaRPr lang="en-GB" sz="2400" dirty="0"/>
          </a:p>
          <a:p>
            <a:pPr marL="342900" indent="-342900">
              <a:buFont typeface="Arial" panose="020B0604020202020204" pitchFamily="34" charset="0"/>
              <a:buChar char="•"/>
            </a:pPr>
            <a:r>
              <a:rPr lang="id-ID" sz="2400" dirty="0" err="1"/>
              <a:t>LightGBM</a:t>
            </a:r>
            <a:r>
              <a:rPr lang="id-ID" sz="2400" dirty="0"/>
              <a:t> menggunakan strategi pertumbuhan pohon yang disebut </a:t>
            </a:r>
            <a:r>
              <a:rPr lang="id-ID" sz="2400" b="1" i="1" dirty="0" err="1"/>
              <a:t>leaf-wise</a:t>
            </a:r>
            <a:r>
              <a:rPr lang="id-ID" sz="2400" dirty="0"/>
              <a:t>.</a:t>
            </a:r>
            <a:endParaRPr lang="en-GB" sz="2400" dirty="0"/>
          </a:p>
          <a:p>
            <a:pPr marL="342900" indent="-342900">
              <a:buFont typeface="Arial" panose="020B0604020202020204" pitchFamily="34" charset="0"/>
              <a:buChar char="•"/>
            </a:pPr>
            <a:r>
              <a:rPr lang="id-ID" sz="2400" dirty="0"/>
              <a:t>Apa Saja Inovasi Utamanya?</a:t>
            </a:r>
            <a:endParaRPr lang="en-GB" sz="2400" dirty="0"/>
          </a:p>
          <a:p>
            <a:pPr marL="800100" lvl="1" indent="-342900">
              <a:buFont typeface="Arial" panose="020B0604020202020204" pitchFamily="34" charset="0"/>
              <a:buChar char="•"/>
            </a:pPr>
            <a:r>
              <a:rPr lang="id-ID" sz="2400" b="1" dirty="0"/>
              <a:t>GOSS (</a:t>
            </a:r>
            <a:r>
              <a:rPr lang="id-ID" sz="2400" b="1" dirty="0" err="1"/>
              <a:t>Gradient-based</a:t>
            </a:r>
            <a:r>
              <a:rPr lang="id-ID" sz="2400" b="1" dirty="0"/>
              <a:t> One-</a:t>
            </a:r>
            <a:r>
              <a:rPr lang="id-ID" sz="2400" b="1" dirty="0" err="1"/>
              <a:t>Side</a:t>
            </a:r>
            <a:r>
              <a:rPr lang="id-ID" sz="2400" b="1" dirty="0"/>
              <a:t> Sampling)</a:t>
            </a:r>
            <a:endParaRPr lang="en-GB" sz="2400" b="1" dirty="0"/>
          </a:p>
          <a:p>
            <a:pPr marL="800100" lvl="1" indent="-342900">
              <a:buFont typeface="Arial" panose="020B0604020202020204" pitchFamily="34" charset="0"/>
              <a:buChar char="•"/>
            </a:pPr>
            <a:r>
              <a:rPr lang="id-ID" sz="2400" b="1" dirty="0"/>
              <a:t>EFB (</a:t>
            </a:r>
            <a:r>
              <a:rPr lang="id-ID" sz="2400" b="1" dirty="0" err="1"/>
              <a:t>Exclusive</a:t>
            </a:r>
            <a:r>
              <a:rPr lang="id-ID" sz="2400" b="1" dirty="0"/>
              <a:t> </a:t>
            </a:r>
            <a:r>
              <a:rPr lang="id-ID" sz="2400" b="1" dirty="0" err="1"/>
              <a:t>Feature</a:t>
            </a:r>
            <a:r>
              <a:rPr lang="id-ID" sz="2400" b="1" dirty="0"/>
              <a:t> </a:t>
            </a:r>
            <a:r>
              <a:rPr lang="id-ID" sz="2400" b="1" dirty="0" err="1"/>
              <a:t>Bundling</a:t>
            </a:r>
            <a:r>
              <a:rPr lang="id-ID" sz="2400" b="1" dirty="0"/>
              <a:t>)</a:t>
            </a:r>
            <a:endParaRPr lang="id-ID" sz="2400" dirty="0"/>
          </a:p>
        </p:txBody>
      </p:sp>
      <p:pic>
        <p:nvPicPr>
          <p:cNvPr id="3" name="Picture 2">
            <a:extLst>
              <a:ext uri="{FF2B5EF4-FFF2-40B4-BE49-F238E27FC236}">
                <a16:creationId xmlns:a16="http://schemas.microsoft.com/office/drawing/2014/main" id="{96895F7D-85DB-33E1-ECB0-1D289F92C32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37714" y="-5625"/>
            <a:ext cx="1553029" cy="6894714"/>
          </a:xfrm>
          <a:prstGeom prst="rect">
            <a:avLst/>
          </a:prstGeom>
          <a:solidFill>
            <a:schemeClr val="bg1"/>
          </a:solidFill>
          <a:ln>
            <a:noFill/>
          </a:ln>
        </p:spPr>
      </p:pic>
    </p:spTree>
    <p:extLst>
      <p:ext uri="{BB962C8B-B14F-4D97-AF65-F5344CB8AC3E}">
        <p14:creationId xmlns:p14="http://schemas.microsoft.com/office/powerpoint/2010/main" val="1223017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9BD7-3D23-6F10-EF7E-7DC20D3079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21A8F7B-46EE-77F6-2550-6ABA371AFD50}"/>
              </a:ext>
            </a:extLst>
          </p:cNvPr>
          <p:cNvSpPr>
            <a:spLocks noGrp="1"/>
          </p:cNvSpPr>
          <p:nvPr>
            <p:ph type="title"/>
          </p:nvPr>
        </p:nvSpPr>
        <p:spPr>
          <a:xfrm>
            <a:off x="750430" y="381000"/>
            <a:ext cx="10678142" cy="1325563"/>
          </a:xfrm>
        </p:spPr>
        <p:txBody>
          <a:bodyPr rtlCol="0"/>
          <a:lstStyle/>
          <a:p>
            <a:pPr rtl="0"/>
            <a:r>
              <a:rPr lang="en-GB" dirty="0" err="1"/>
              <a:t>Landasan</a:t>
            </a:r>
            <a:r>
              <a:rPr lang="en-GB" dirty="0"/>
              <a:t> Teori</a:t>
            </a:r>
            <a:br>
              <a:rPr lang="en-GB" dirty="0"/>
            </a:br>
            <a:r>
              <a:rPr lang="en-GB" sz="4000" b="0" i="1" dirty="0"/>
              <a:t>Knowledge Discovery in Databases (KDD)</a:t>
            </a:r>
            <a:endParaRPr lang="id-ID" dirty="0"/>
          </a:p>
        </p:txBody>
      </p:sp>
      <p:sp>
        <p:nvSpPr>
          <p:cNvPr id="5" name="Tampungan Nomor Slide 4">
            <a:extLst>
              <a:ext uri="{FF2B5EF4-FFF2-40B4-BE49-F238E27FC236}">
                <a16:creationId xmlns:a16="http://schemas.microsoft.com/office/drawing/2014/main" id="{850C921C-D3AA-E132-ED29-DA456818059D}"/>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18</a:t>
            </a:fld>
            <a:endParaRPr lang="id-ID"/>
          </a:p>
        </p:txBody>
      </p:sp>
      <p:sp>
        <p:nvSpPr>
          <p:cNvPr id="78" name="Content Placeholder 7">
            <a:extLst>
              <a:ext uri="{FF2B5EF4-FFF2-40B4-BE49-F238E27FC236}">
                <a16:creationId xmlns:a16="http://schemas.microsoft.com/office/drawing/2014/main" id="{BC596EEE-E7DA-888F-8DD6-E1A326759936}"/>
              </a:ext>
            </a:extLst>
          </p:cNvPr>
          <p:cNvSpPr txBox="1">
            <a:spLocks/>
          </p:cNvSpPr>
          <p:nvPr/>
        </p:nvSpPr>
        <p:spPr>
          <a:xfrm>
            <a:off x="576258" y="1706563"/>
            <a:ext cx="6114726"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id-ID" sz="2400" b="1" dirty="0"/>
              <a:t>KDD</a:t>
            </a:r>
            <a:r>
              <a:rPr lang="id-ID" sz="2400" dirty="0"/>
              <a:t> adalah kerangka kerja sistematis yang menjadi </a:t>
            </a:r>
            <a:r>
              <a:rPr lang="id-ID" sz="2400" b="1" dirty="0"/>
              <a:t>fondasi metodologi</a:t>
            </a:r>
            <a:r>
              <a:rPr lang="id-ID" sz="2400" dirty="0"/>
              <a:t> dalam penelitian ini, yang bertujuan untuk mengekstraksi pengetahuan berharga dari data mentah.</a:t>
            </a:r>
            <a:endParaRPr lang="en-GB" sz="2400" dirty="0"/>
          </a:p>
          <a:p>
            <a:pPr marL="457200" indent="-457200"/>
            <a:r>
              <a:rPr lang="fi-FI" sz="2400" dirty="0"/>
              <a:t>Penelitian ini mengikuti lima tahapan utama dari proses KDD:</a:t>
            </a:r>
          </a:p>
          <a:p>
            <a:pPr marL="914400" lvl="1" indent="-457200"/>
            <a:r>
              <a:rPr lang="id-ID" dirty="0" err="1"/>
              <a:t>Selection</a:t>
            </a:r>
            <a:endParaRPr lang="en-GB" dirty="0"/>
          </a:p>
          <a:p>
            <a:pPr marL="914400" lvl="1" indent="-457200"/>
            <a:r>
              <a:rPr lang="id-ID" dirty="0" err="1"/>
              <a:t>Preprocessing</a:t>
            </a:r>
            <a:endParaRPr lang="en-GB" dirty="0"/>
          </a:p>
          <a:p>
            <a:pPr marL="914400" lvl="1" indent="-457200"/>
            <a:r>
              <a:rPr lang="id-ID" dirty="0" err="1"/>
              <a:t>Transformation</a:t>
            </a:r>
            <a:endParaRPr lang="en-GB" dirty="0"/>
          </a:p>
          <a:p>
            <a:pPr marL="914400" lvl="1" indent="-457200"/>
            <a:r>
              <a:rPr lang="id-ID" dirty="0"/>
              <a:t>Data Mining</a:t>
            </a:r>
            <a:endParaRPr lang="en-GB" dirty="0"/>
          </a:p>
          <a:p>
            <a:pPr marL="914400" lvl="1" indent="-457200"/>
            <a:r>
              <a:rPr lang="id-ID" dirty="0" err="1"/>
              <a:t>Evaluation</a:t>
            </a:r>
            <a:endParaRPr lang="id-ID" dirty="0"/>
          </a:p>
        </p:txBody>
      </p:sp>
      <p:pic>
        <p:nvPicPr>
          <p:cNvPr id="6" name="Picture 5">
            <a:extLst>
              <a:ext uri="{FF2B5EF4-FFF2-40B4-BE49-F238E27FC236}">
                <a16:creationId xmlns:a16="http://schemas.microsoft.com/office/drawing/2014/main" id="{72A4BF18-0867-E679-D6E7-4573FA5056EB}"/>
              </a:ext>
            </a:extLst>
          </p:cNvPr>
          <p:cNvPicPr>
            <a:picLocks noChangeAspect="1"/>
          </p:cNvPicPr>
          <p:nvPr/>
        </p:nvPicPr>
        <p:blipFill>
          <a:blip r:embed="rId3"/>
          <a:stretch>
            <a:fillRect/>
          </a:stretch>
        </p:blipFill>
        <p:spPr>
          <a:xfrm>
            <a:off x="6865156" y="2188261"/>
            <a:ext cx="5326845" cy="2840939"/>
          </a:xfrm>
          <a:prstGeom prst="rect">
            <a:avLst/>
          </a:prstGeom>
        </p:spPr>
      </p:pic>
    </p:spTree>
    <p:extLst>
      <p:ext uri="{BB962C8B-B14F-4D97-AF65-F5344CB8AC3E}">
        <p14:creationId xmlns:p14="http://schemas.microsoft.com/office/powerpoint/2010/main" val="2763463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071F2-D49A-8D8F-16AC-670105CC1ADF}"/>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C2DF271-131A-9D80-E79D-543F2EE5BB42}"/>
              </a:ext>
            </a:extLst>
          </p:cNvPr>
          <p:cNvSpPr>
            <a:spLocks noGrp="1"/>
          </p:cNvSpPr>
          <p:nvPr>
            <p:ph type="title"/>
          </p:nvPr>
        </p:nvSpPr>
        <p:spPr>
          <a:xfrm>
            <a:off x="750430" y="381000"/>
            <a:ext cx="10678142" cy="1325563"/>
          </a:xfrm>
        </p:spPr>
        <p:txBody>
          <a:bodyPr rtlCol="0"/>
          <a:lstStyle/>
          <a:p>
            <a:pPr rtl="0"/>
            <a:r>
              <a:rPr lang="en-GB" dirty="0" err="1"/>
              <a:t>Landasan</a:t>
            </a:r>
            <a:r>
              <a:rPr lang="en-GB" dirty="0"/>
              <a:t> Teori</a:t>
            </a:r>
            <a:br>
              <a:rPr lang="en-GB" dirty="0"/>
            </a:br>
            <a:r>
              <a:rPr lang="en-GB" sz="4000" b="0" i="1" dirty="0" err="1"/>
              <a:t>Metrik</a:t>
            </a:r>
            <a:r>
              <a:rPr lang="en-GB" sz="4000" b="0" i="1" dirty="0"/>
              <a:t> </a:t>
            </a:r>
            <a:r>
              <a:rPr lang="en-GB" sz="4000" b="0" i="1" dirty="0" err="1"/>
              <a:t>Evaluasi</a:t>
            </a:r>
            <a:endParaRPr lang="id-ID" dirty="0"/>
          </a:p>
        </p:txBody>
      </p:sp>
      <p:sp>
        <p:nvSpPr>
          <p:cNvPr id="5" name="Tampungan Nomor Slide 4">
            <a:extLst>
              <a:ext uri="{FF2B5EF4-FFF2-40B4-BE49-F238E27FC236}">
                <a16:creationId xmlns:a16="http://schemas.microsoft.com/office/drawing/2014/main" id="{D452FF7C-8A81-1907-30F7-6462CE7786AF}"/>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19</a:t>
            </a:fld>
            <a:endParaRPr lang="id-ID"/>
          </a:p>
        </p:txBody>
      </p:sp>
      <p:sp>
        <p:nvSpPr>
          <p:cNvPr id="78" name="Content Placeholder 7">
            <a:extLst>
              <a:ext uri="{FF2B5EF4-FFF2-40B4-BE49-F238E27FC236}">
                <a16:creationId xmlns:a16="http://schemas.microsoft.com/office/drawing/2014/main" id="{B0AF9827-6540-52AB-0787-D1DFFAA1D78B}"/>
              </a:ext>
            </a:extLst>
          </p:cNvPr>
          <p:cNvSpPr txBox="1">
            <a:spLocks/>
          </p:cNvSpPr>
          <p:nvPr/>
        </p:nvSpPr>
        <p:spPr>
          <a:xfrm>
            <a:off x="576258" y="1706563"/>
            <a:ext cx="6114726"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endParaRPr lang="id-ID" dirty="0"/>
          </a:p>
        </p:txBody>
      </p:sp>
      <p:sp>
        <p:nvSpPr>
          <p:cNvPr id="4" name="TextBox 3">
            <a:extLst>
              <a:ext uri="{FF2B5EF4-FFF2-40B4-BE49-F238E27FC236}">
                <a16:creationId xmlns:a16="http://schemas.microsoft.com/office/drawing/2014/main" id="{010F0EE2-151F-0E51-F3AE-2D9BAF052476}"/>
              </a:ext>
            </a:extLst>
          </p:cNvPr>
          <p:cNvSpPr txBox="1"/>
          <p:nvPr/>
        </p:nvSpPr>
        <p:spPr>
          <a:xfrm>
            <a:off x="750430" y="1749445"/>
            <a:ext cx="10273170" cy="3785652"/>
          </a:xfrm>
          <a:prstGeom prst="rect">
            <a:avLst/>
          </a:prstGeom>
          <a:noFill/>
        </p:spPr>
        <p:txBody>
          <a:bodyPr wrap="square">
            <a:spAutoFit/>
          </a:bodyPr>
          <a:lstStyle/>
          <a:p>
            <a:pPr algn="just">
              <a:buNone/>
            </a:pPr>
            <a:r>
              <a:rPr lang="id-ID" sz="2000" dirty="0"/>
              <a:t>Untuk mengukur kinerja model prediksi </a:t>
            </a:r>
            <a:r>
              <a:rPr lang="id-ID" sz="2000" dirty="0" err="1"/>
              <a:t>xG</a:t>
            </a:r>
            <a:r>
              <a:rPr lang="id-ID" sz="2000" dirty="0"/>
              <a:t>, digunakan beberapa metrik yang mengevaluasi dua aspek utama: </a:t>
            </a:r>
            <a:r>
              <a:rPr lang="id-ID" sz="2000" b="1" dirty="0"/>
              <a:t>akurasi probabilitas</a:t>
            </a:r>
            <a:r>
              <a:rPr lang="id-ID" sz="2000" dirty="0"/>
              <a:t> (seberapa akurat nilai </a:t>
            </a:r>
            <a:r>
              <a:rPr lang="id-ID" sz="2000" dirty="0" err="1"/>
              <a:t>xG</a:t>
            </a:r>
            <a:r>
              <a:rPr lang="id-ID" sz="2000" dirty="0"/>
              <a:t>) dan </a:t>
            </a:r>
            <a:r>
              <a:rPr lang="id-ID" sz="2000" b="1" dirty="0"/>
              <a:t>kemampuan klasifikasi</a:t>
            </a:r>
            <a:r>
              <a:rPr lang="id-ID" sz="2000" dirty="0"/>
              <a:t> (seberapa baik model membedakan gol dan tidak gol).</a:t>
            </a:r>
            <a:endParaRPr lang="en-GB" sz="2000" dirty="0"/>
          </a:p>
          <a:p>
            <a:pPr>
              <a:buNone/>
            </a:pPr>
            <a:endParaRPr lang="id-ID" sz="2000" dirty="0"/>
          </a:p>
          <a:p>
            <a:pPr>
              <a:buNone/>
            </a:pPr>
            <a:r>
              <a:rPr lang="id-ID" sz="2000" b="1" dirty="0"/>
              <a:t>Metrik Evaluasi yang Digunakan:</a:t>
            </a:r>
            <a:endParaRPr lang="id-ID" sz="2000" dirty="0"/>
          </a:p>
          <a:p>
            <a:pPr marL="285750" indent="-285750">
              <a:buFont typeface="Arial" panose="020B0604020202020204" pitchFamily="34" charset="0"/>
              <a:buChar char="•"/>
            </a:pPr>
            <a:r>
              <a:rPr lang="id-ID" sz="2000" b="1" dirty="0" err="1"/>
              <a:t>Brier</a:t>
            </a:r>
            <a:r>
              <a:rPr lang="id-ID" sz="2000" b="1" dirty="0"/>
              <a:t> </a:t>
            </a:r>
            <a:r>
              <a:rPr lang="id-ID" sz="2000" b="1" dirty="0" err="1"/>
              <a:t>Score</a:t>
            </a:r>
            <a:r>
              <a:rPr lang="id-ID" sz="2000" dirty="0"/>
              <a:t> (Metrik Utama Akurasi Probabilitas)</a:t>
            </a:r>
          </a:p>
          <a:p>
            <a:pPr marL="285750" indent="-285750">
              <a:buFont typeface="Arial" panose="020B0604020202020204" pitchFamily="34" charset="0"/>
              <a:buChar char="•"/>
            </a:pPr>
            <a:r>
              <a:rPr lang="id-ID" sz="2000" b="1" dirty="0"/>
              <a:t>ROC AUC</a:t>
            </a:r>
            <a:r>
              <a:rPr lang="id-ID" sz="2000" dirty="0"/>
              <a:t> (Metrik Utama Kemampuan Klasifikasi)</a:t>
            </a:r>
          </a:p>
          <a:p>
            <a:pPr marL="285750" indent="-285750">
              <a:buFont typeface="Arial" panose="020B0604020202020204" pitchFamily="34" charset="0"/>
              <a:buChar char="•"/>
            </a:pPr>
            <a:r>
              <a:rPr lang="id-ID" sz="2000" dirty="0"/>
              <a:t>Log-</a:t>
            </a:r>
            <a:r>
              <a:rPr lang="id-ID" sz="2000" dirty="0" err="1"/>
              <a:t>Loss</a:t>
            </a:r>
            <a:endParaRPr lang="id-ID" sz="2000" dirty="0"/>
          </a:p>
          <a:p>
            <a:pPr marL="285750" indent="-285750">
              <a:buFont typeface="Arial" panose="020B0604020202020204" pitchFamily="34" charset="0"/>
              <a:buChar char="•"/>
            </a:pPr>
            <a:r>
              <a:rPr lang="id-ID" sz="2000" dirty="0"/>
              <a:t>Akurasi</a:t>
            </a:r>
          </a:p>
          <a:p>
            <a:pPr marL="285750" indent="-285750">
              <a:buFont typeface="Arial" panose="020B0604020202020204" pitchFamily="34" charset="0"/>
              <a:buChar char="•"/>
            </a:pPr>
            <a:r>
              <a:rPr lang="id-ID" sz="2000" dirty="0"/>
              <a:t>Presisi</a:t>
            </a:r>
          </a:p>
          <a:p>
            <a:pPr marL="285750" indent="-285750">
              <a:buFont typeface="Arial" panose="020B0604020202020204" pitchFamily="34" charset="0"/>
              <a:buChar char="•"/>
            </a:pPr>
            <a:r>
              <a:rPr lang="id-ID" sz="2000" dirty="0" err="1"/>
              <a:t>Recall</a:t>
            </a:r>
            <a:endParaRPr lang="id-ID" sz="2000" dirty="0"/>
          </a:p>
          <a:p>
            <a:pPr marL="285750" indent="-285750">
              <a:buFont typeface="Arial" panose="020B0604020202020204" pitchFamily="34" charset="0"/>
              <a:buChar char="•"/>
            </a:pPr>
            <a:r>
              <a:rPr lang="id-ID" sz="2000" dirty="0"/>
              <a:t>F1-Score</a:t>
            </a:r>
          </a:p>
        </p:txBody>
      </p:sp>
    </p:spTree>
    <p:extLst>
      <p:ext uri="{BB962C8B-B14F-4D97-AF65-F5344CB8AC3E}">
        <p14:creationId xmlns:p14="http://schemas.microsoft.com/office/powerpoint/2010/main" val="774137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478F4-969C-6877-9CAD-3CB81F89284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C990A534-8C19-974C-59F4-0EE0B8C78E82}"/>
              </a:ext>
            </a:extLst>
          </p:cNvPr>
          <p:cNvSpPr>
            <a:spLocks noGrp="1"/>
          </p:cNvSpPr>
          <p:nvPr>
            <p:ph type="title"/>
          </p:nvPr>
        </p:nvSpPr>
        <p:spPr>
          <a:xfrm>
            <a:off x="750430" y="381000"/>
            <a:ext cx="10678142" cy="1325563"/>
          </a:xfrm>
        </p:spPr>
        <p:txBody>
          <a:bodyPr rtlCol="0"/>
          <a:lstStyle/>
          <a:p>
            <a:pPr rtl="0"/>
            <a:r>
              <a:rPr lang="en-GB" dirty="0" err="1"/>
              <a:t>Landasan</a:t>
            </a:r>
            <a:r>
              <a:rPr lang="en-GB" dirty="0"/>
              <a:t> Teori</a:t>
            </a:r>
            <a:br>
              <a:rPr lang="en-GB" dirty="0"/>
            </a:br>
            <a:r>
              <a:rPr lang="en-GB" sz="4000" b="0" i="1" dirty="0" err="1"/>
              <a:t>Metrik</a:t>
            </a:r>
            <a:r>
              <a:rPr lang="en-GB" sz="4000" b="0" i="1" dirty="0"/>
              <a:t> </a:t>
            </a:r>
            <a:r>
              <a:rPr lang="en-GB" sz="4000" b="0" i="1" dirty="0" err="1"/>
              <a:t>Evaluasi</a:t>
            </a:r>
            <a:endParaRPr lang="id-ID" dirty="0"/>
          </a:p>
        </p:txBody>
      </p:sp>
      <p:sp>
        <p:nvSpPr>
          <p:cNvPr id="5" name="Tampungan Nomor Slide 4">
            <a:extLst>
              <a:ext uri="{FF2B5EF4-FFF2-40B4-BE49-F238E27FC236}">
                <a16:creationId xmlns:a16="http://schemas.microsoft.com/office/drawing/2014/main" id="{C45AC2E5-7489-30D2-2F75-2124198B6886}"/>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20</a:t>
            </a:fld>
            <a:endParaRPr lang="id-ID"/>
          </a:p>
        </p:txBody>
      </p:sp>
      <p:sp>
        <p:nvSpPr>
          <p:cNvPr id="78" name="Content Placeholder 7">
            <a:extLst>
              <a:ext uri="{FF2B5EF4-FFF2-40B4-BE49-F238E27FC236}">
                <a16:creationId xmlns:a16="http://schemas.microsoft.com/office/drawing/2014/main" id="{C461B804-86D9-E3EB-5079-8C1AE61ED72D}"/>
              </a:ext>
            </a:extLst>
          </p:cNvPr>
          <p:cNvSpPr txBox="1">
            <a:spLocks/>
          </p:cNvSpPr>
          <p:nvPr/>
        </p:nvSpPr>
        <p:spPr>
          <a:xfrm>
            <a:off x="576258" y="1706563"/>
            <a:ext cx="6114726" cy="26876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endParaRPr lang="id-ID"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49D3644-2024-38AF-3164-62A8895F7334}"/>
                  </a:ext>
                </a:extLst>
              </p:cNvPr>
              <p:cNvSpPr txBox="1"/>
              <p:nvPr/>
            </p:nvSpPr>
            <p:spPr>
              <a:xfrm>
                <a:off x="331975" y="1899556"/>
                <a:ext cx="4607642" cy="1130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sz="2400" i="0" dirty="0" smtClean="0">
                          <a:latin typeface="Cambria Math" panose="02040503050406030204" pitchFamily="18" charset="0"/>
                        </a:rPr>
                        <m:t>Brier</m:t>
                      </m:r>
                      <m:r>
                        <m:rPr>
                          <m:nor/>
                        </m:rPr>
                        <a:rPr lang="id-ID" sz="2400" i="0" dirty="0" smtClean="0">
                          <a:latin typeface="Cambria Math" panose="02040503050406030204" pitchFamily="18" charset="0"/>
                        </a:rPr>
                        <m:t> </m:t>
                      </m:r>
                      <m:r>
                        <m:rPr>
                          <m:nor/>
                        </m:rPr>
                        <a:rPr lang="id-ID" sz="2400" i="0" dirty="0" smtClean="0">
                          <a:latin typeface="Cambria Math" panose="02040503050406030204" pitchFamily="18" charset="0"/>
                        </a:rPr>
                        <m:t>Score</m:t>
                      </m:r>
                      <m:r>
                        <a:rPr lang="id-ID" sz="2400" i="1" dirty="0">
                          <a:latin typeface="Cambria Math" panose="02040503050406030204" pitchFamily="18" charset="0"/>
                        </a:rPr>
                        <m:t>=</m:t>
                      </m:r>
                      <m:f>
                        <m:fPr>
                          <m:ctrlPr>
                            <a:rPr lang="id-ID" sz="2400" i="1" dirty="0">
                              <a:latin typeface="Cambria Math" panose="02040503050406030204" pitchFamily="18" charset="0"/>
                            </a:rPr>
                          </m:ctrlPr>
                        </m:fPr>
                        <m:num>
                          <m:r>
                            <a:rPr lang="id-ID" sz="2400" i="1" dirty="0">
                              <a:latin typeface="Cambria Math" panose="02040503050406030204" pitchFamily="18" charset="0"/>
                            </a:rPr>
                            <m:t>1</m:t>
                          </m:r>
                        </m:num>
                        <m:den>
                          <m:r>
                            <a:rPr lang="id-ID" sz="2400" i="1" dirty="0">
                              <a:latin typeface="Cambria Math" panose="02040503050406030204" pitchFamily="18" charset="0"/>
                            </a:rPr>
                            <m:t>𝑁</m:t>
                          </m:r>
                        </m:den>
                      </m:f>
                      <m:nary>
                        <m:naryPr>
                          <m:chr m:val="∑"/>
                          <m:ctrlPr>
                            <a:rPr lang="id-ID" sz="2400" i="1" dirty="0">
                              <a:latin typeface="Cambria Math" panose="02040503050406030204" pitchFamily="18" charset="0"/>
                            </a:rPr>
                          </m:ctrlPr>
                        </m:naryPr>
                        <m:sub>
                          <m:r>
                            <a:rPr lang="id-ID" sz="2400" i="1" dirty="0">
                              <a:latin typeface="Cambria Math" panose="02040503050406030204" pitchFamily="18" charset="0"/>
                            </a:rPr>
                            <m:t>𝑖</m:t>
                          </m:r>
                          <m:r>
                            <a:rPr lang="id-ID" sz="2400" i="1" dirty="0">
                              <a:latin typeface="Cambria Math" panose="02040503050406030204" pitchFamily="18" charset="0"/>
                            </a:rPr>
                            <m:t>=1</m:t>
                          </m:r>
                        </m:sub>
                        <m:sup>
                          <m:r>
                            <a:rPr lang="id-ID" sz="2400" i="1" dirty="0">
                              <a:latin typeface="Cambria Math" panose="02040503050406030204" pitchFamily="18" charset="0"/>
                            </a:rPr>
                            <m:t>𝑁</m:t>
                          </m:r>
                        </m:sup>
                        <m:e>
                          <m:sSup>
                            <m:sSupPr>
                              <m:ctrlPr>
                                <a:rPr lang="id-ID" sz="2400" i="1" dirty="0">
                                  <a:latin typeface="Cambria Math" panose="02040503050406030204" pitchFamily="18" charset="0"/>
                                </a:rPr>
                              </m:ctrlPr>
                            </m:sSupPr>
                            <m:e>
                              <m:d>
                                <m:dPr>
                                  <m:ctrlPr>
                                    <a:rPr lang="id-ID" sz="2400" i="1" dirty="0">
                                      <a:latin typeface="Cambria Math" panose="02040503050406030204" pitchFamily="18" charset="0"/>
                                    </a:rPr>
                                  </m:ctrlPr>
                                </m:dPr>
                                <m:e>
                                  <m:sSub>
                                    <m:sSubPr>
                                      <m:ctrlPr>
                                        <a:rPr lang="id-ID" sz="2400" i="1" dirty="0" err="1">
                                          <a:latin typeface="Cambria Math" panose="02040503050406030204" pitchFamily="18" charset="0"/>
                                        </a:rPr>
                                      </m:ctrlPr>
                                    </m:sSubPr>
                                    <m:e>
                                      <m:r>
                                        <a:rPr lang="id-ID" sz="2400" i="1" dirty="0" err="1">
                                          <a:latin typeface="Cambria Math" panose="02040503050406030204" pitchFamily="18" charset="0"/>
                                        </a:rPr>
                                        <m:t>𝑝</m:t>
                                      </m:r>
                                    </m:e>
                                    <m:sub>
                                      <m:r>
                                        <a:rPr lang="id-ID" sz="2400" i="1" dirty="0" err="1">
                                          <a:latin typeface="Cambria Math" panose="02040503050406030204" pitchFamily="18" charset="0"/>
                                        </a:rPr>
                                        <m:t>𝑖</m:t>
                                      </m:r>
                                    </m:sub>
                                  </m:sSub>
                                  <m:r>
                                    <a:rPr lang="id-ID" sz="2400" i="1" dirty="0">
                                      <a:latin typeface="Cambria Math" panose="02040503050406030204" pitchFamily="18" charset="0"/>
                                    </a:rPr>
                                    <m:t>−</m:t>
                                  </m:r>
                                  <m:sSub>
                                    <m:sSubPr>
                                      <m:ctrlPr>
                                        <a:rPr lang="id-ID" sz="2400" i="1" dirty="0" err="1">
                                          <a:latin typeface="Cambria Math" panose="02040503050406030204" pitchFamily="18" charset="0"/>
                                        </a:rPr>
                                      </m:ctrlPr>
                                    </m:sSubPr>
                                    <m:e>
                                      <m:r>
                                        <a:rPr lang="id-ID" sz="2400" i="1" dirty="0" err="1">
                                          <a:latin typeface="Cambria Math" panose="02040503050406030204" pitchFamily="18" charset="0"/>
                                        </a:rPr>
                                        <m:t>𝑜</m:t>
                                      </m:r>
                                    </m:e>
                                    <m:sub>
                                      <m:r>
                                        <a:rPr lang="id-ID" sz="2400" i="1" dirty="0" err="1">
                                          <a:latin typeface="Cambria Math" panose="02040503050406030204" pitchFamily="18" charset="0"/>
                                        </a:rPr>
                                        <m:t>𝑖</m:t>
                                      </m:r>
                                    </m:sub>
                                  </m:sSub>
                                </m:e>
                              </m:d>
                            </m:e>
                            <m:sup>
                              <m:r>
                                <a:rPr lang="id-ID" sz="2400" i="1" dirty="0">
                                  <a:latin typeface="Cambria Math" panose="02040503050406030204" pitchFamily="18" charset="0"/>
                                </a:rPr>
                                <m:t>2</m:t>
                              </m:r>
                            </m:sup>
                          </m:sSup>
                        </m:e>
                      </m:nary>
                    </m:oMath>
                  </m:oMathPara>
                </a14:m>
                <a:endParaRPr/>
              </a:p>
            </p:txBody>
          </p:sp>
        </mc:Choice>
        <mc:Fallback xmlns="">
          <p:sp>
            <p:nvSpPr>
              <p:cNvPr id="9" name="TextBox 8">
                <a:extLst>
                  <a:ext uri="{FF2B5EF4-FFF2-40B4-BE49-F238E27FC236}">
                    <a16:creationId xmlns:a16="http://schemas.microsoft.com/office/drawing/2014/main" id="{249D3644-2024-38AF-3164-62A8895F7334}"/>
                  </a:ext>
                </a:extLst>
              </p:cNvPr>
              <p:cNvSpPr txBox="1">
                <a:spLocks noRot="1" noChangeAspect="1" noMove="1" noResize="1" noEditPoints="1" noAdjustHandles="1" noChangeArrowheads="1" noChangeShapeType="1" noTextEdit="1"/>
              </p:cNvSpPr>
              <p:nvPr/>
            </p:nvSpPr>
            <p:spPr>
              <a:xfrm>
                <a:off x="331975" y="1899556"/>
                <a:ext cx="4607642" cy="1130822"/>
              </a:xfrm>
              <a:prstGeom prst="rect">
                <a:avLst/>
              </a:prstGeom>
              <a:blipFill>
                <a:blip r:embed="rId3"/>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1F37FA5-B608-F01F-52A9-AF48025EBBCC}"/>
                  </a:ext>
                </a:extLst>
              </p:cNvPr>
              <p:cNvSpPr txBox="1"/>
              <p:nvPr/>
            </p:nvSpPr>
            <p:spPr>
              <a:xfrm>
                <a:off x="750430" y="2878297"/>
                <a:ext cx="4367531" cy="954107"/>
              </a:xfrm>
              <a:prstGeom prst="rect">
                <a:avLst/>
              </a:prstGeom>
              <a:noFill/>
            </p:spPr>
            <p:txBody>
              <a:bodyPr wrap="square">
                <a:spAutoFit/>
              </a:bodyPr>
              <a:lstStyle/>
              <a:p>
                <a:pPr>
                  <a:buNone/>
                </a:pPr>
                <a:r>
                  <a:rPr lang="id-ID" sz="1400" b="1" dirty="0"/>
                  <a:t>Keterangan:</a:t>
                </a:r>
                <a:endParaRPr lang="en-GB" sz="1400" b="1" dirty="0"/>
              </a:p>
              <a:p>
                <a:pPr>
                  <a:buNone/>
                </a:pPr>
                <a:r>
                  <a:rPr lang="sv-SE" sz="1400" i="1" dirty="0"/>
                  <a:t>N</a:t>
                </a:r>
                <a:r>
                  <a:rPr lang="sv-SE" sz="1400" dirty="0"/>
                  <a:t>: Jumlah total tembakan.</a:t>
                </a:r>
              </a:p>
              <a:p>
                <a:pPr>
                  <a:buNone/>
                </a:pPr>
                <a14:m>
                  <m:oMath xmlns:m="http://schemas.openxmlformats.org/officeDocument/2006/math">
                    <m:sSub>
                      <m:sSubPr>
                        <m:ctrlPr>
                          <a:rPr lang="sv-SE" sz="1400" i="1" dirty="0" smtClean="0">
                            <a:latin typeface="Cambria Math" panose="02040503050406030204" pitchFamily="18" charset="0"/>
                          </a:rPr>
                        </m:ctrlPr>
                      </m:sSubPr>
                      <m:e>
                        <m:r>
                          <a:rPr lang="sv-SE" sz="1400" i="1" dirty="0" smtClean="0">
                            <a:latin typeface="Cambria Math" panose="02040503050406030204" pitchFamily="18" charset="0"/>
                          </a:rPr>
                          <m:t>𝑝</m:t>
                        </m:r>
                      </m:e>
                      <m:sub>
                        <m:r>
                          <a:rPr lang="sv-SE" sz="1400" i="1" dirty="0" smtClean="0">
                            <a:latin typeface="Cambria Math" panose="02040503050406030204" pitchFamily="18" charset="0"/>
                          </a:rPr>
                          <m:t>𝑖</m:t>
                        </m:r>
                      </m:sub>
                    </m:sSub>
                  </m:oMath>
                </a14:m>
                <a:r>
                  <a:rPr lang="sv-SE" sz="1400" dirty="0"/>
                  <a:t>: Probabilitas gol (nilai xG) yang diprediksi model.</a:t>
                </a:r>
              </a:p>
              <a:p>
                <a:pPr>
                  <a:buNone/>
                </a:pPr>
                <a14:m>
                  <m:oMath xmlns:m="http://schemas.openxmlformats.org/officeDocument/2006/math">
                    <m:sSub>
                      <m:sSubPr>
                        <m:ctrlPr>
                          <a:rPr lang="sv-SE" sz="1400" i="1" dirty="0" smtClean="0">
                            <a:latin typeface="Cambria Math" panose="02040503050406030204" pitchFamily="18" charset="0"/>
                          </a:rPr>
                        </m:ctrlPr>
                      </m:sSubPr>
                      <m:e>
                        <m:r>
                          <a:rPr lang="sv-SE" sz="1400" i="1" dirty="0" smtClean="0">
                            <a:latin typeface="Cambria Math" panose="02040503050406030204" pitchFamily="18" charset="0"/>
                          </a:rPr>
                          <m:t>𝑜</m:t>
                        </m:r>
                      </m:e>
                      <m:sub>
                        <m:r>
                          <a:rPr lang="sv-SE" sz="1400" i="1" dirty="0" smtClean="0">
                            <a:latin typeface="Cambria Math" panose="02040503050406030204" pitchFamily="18" charset="0"/>
                          </a:rPr>
                          <m:t>𝑖</m:t>
                        </m:r>
                      </m:sub>
                    </m:sSub>
                  </m:oMath>
                </a14:m>
                <a:r>
                  <a:rPr lang="sv-SE" sz="1400" dirty="0"/>
                  <a:t>: Hasil aktual tembakan (1 jika gol, 0 jika tidak gol).</a:t>
                </a:r>
                <a:endParaRPr lang="id-ID" sz="1400" dirty="0"/>
              </a:p>
            </p:txBody>
          </p:sp>
        </mc:Choice>
        <mc:Fallback xmlns="">
          <p:sp>
            <p:nvSpPr>
              <p:cNvPr id="11" name="TextBox 10">
                <a:extLst>
                  <a:ext uri="{FF2B5EF4-FFF2-40B4-BE49-F238E27FC236}">
                    <a16:creationId xmlns:a16="http://schemas.microsoft.com/office/drawing/2014/main" id="{21F37FA5-B608-F01F-52A9-AF48025EBBCC}"/>
                  </a:ext>
                </a:extLst>
              </p:cNvPr>
              <p:cNvSpPr txBox="1">
                <a:spLocks noRot="1" noChangeAspect="1" noMove="1" noResize="1" noEditPoints="1" noAdjustHandles="1" noChangeArrowheads="1" noChangeShapeType="1" noTextEdit="1"/>
              </p:cNvSpPr>
              <p:nvPr/>
            </p:nvSpPr>
            <p:spPr>
              <a:xfrm>
                <a:off x="750430" y="2878297"/>
                <a:ext cx="4367531" cy="954107"/>
              </a:xfrm>
              <a:prstGeom prst="rect">
                <a:avLst/>
              </a:prstGeom>
              <a:blipFill>
                <a:blip r:embed="rId4"/>
                <a:stretch>
                  <a:fillRect l="-418" t="-1274" b="-5732"/>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F1CC61B-BD56-FC8C-EBAB-5418371F70B4}"/>
                  </a:ext>
                </a:extLst>
              </p:cNvPr>
              <p:cNvSpPr txBox="1"/>
              <p:nvPr/>
            </p:nvSpPr>
            <p:spPr>
              <a:xfrm>
                <a:off x="7076001" y="3128047"/>
                <a:ext cx="4352571" cy="1802160"/>
              </a:xfrm>
              <a:prstGeom prst="rect">
                <a:avLst/>
              </a:prstGeom>
              <a:noFill/>
            </p:spPr>
            <p:txBody>
              <a:bodyPr wrap="square">
                <a:spAutoFit/>
              </a:bodyPr>
              <a:lstStyle/>
              <a:p>
                <a14:m>
                  <m:oMath xmlns:m="http://schemas.openxmlformats.org/officeDocument/2006/math">
                    <m:r>
                      <a:rPr lang="id-ID" i="1" dirty="0" smtClean="0">
                        <a:latin typeface="Cambria Math" panose="02040503050406030204" pitchFamily="18" charset="0"/>
                      </a:rPr>
                      <m:t>𝑇𝑃𝑅</m:t>
                    </m:r>
                    <m:r>
                      <m:rPr>
                        <m:nor/>
                      </m:rPr>
                      <a:rPr lang="id-ID" i="0" dirty="0">
                        <a:latin typeface="Cambria Math" panose="02040503050406030204" pitchFamily="18" charset="0"/>
                      </a:rPr>
                      <m:t> (</m:t>
                    </m:r>
                    <m:r>
                      <m:rPr>
                        <m:nor/>
                      </m:rPr>
                      <a:rPr lang="id-ID" i="0" dirty="0" err="1">
                        <a:latin typeface="Cambria Math" panose="02040503050406030204" pitchFamily="18" charset="0"/>
                      </a:rPr>
                      <m:t>Recall</m:t>
                    </m:r>
                    <m:r>
                      <m:rPr>
                        <m:nor/>
                      </m:rPr>
                      <a:rPr lang="id-ID" i="0" dirty="0">
                        <a:latin typeface="Cambria Math" panose="02040503050406030204" pitchFamily="18" charset="0"/>
                      </a:rPr>
                      <m:t>)</m:t>
                    </m:r>
                    <m:r>
                      <a:rPr lang="id-ID" i="1" dirty="0">
                        <a:latin typeface="Cambria Math" panose="02040503050406030204" pitchFamily="18" charset="0"/>
                      </a:rPr>
                      <m:t>=</m:t>
                    </m:r>
                    <m:f>
                      <m:fPr>
                        <m:ctrlPr>
                          <a:rPr lang="id-ID" i="1" dirty="0">
                            <a:latin typeface="Cambria Math" panose="02040503050406030204" pitchFamily="18" charset="0"/>
                          </a:rPr>
                        </m:ctrlPr>
                      </m:fPr>
                      <m:num>
                        <m:r>
                          <a:rPr lang="id-ID" i="1" dirty="0">
                            <a:latin typeface="Cambria Math" panose="02040503050406030204" pitchFamily="18" charset="0"/>
                          </a:rPr>
                          <m:t>𝑇𝑃</m:t>
                        </m:r>
                      </m:num>
                      <m:den>
                        <m:r>
                          <a:rPr lang="id-ID" i="1" dirty="0">
                            <a:latin typeface="Cambria Math" panose="02040503050406030204" pitchFamily="18" charset="0"/>
                          </a:rPr>
                          <m:t>𝑇𝑃</m:t>
                        </m:r>
                        <m:r>
                          <a:rPr lang="id-ID" i="1" dirty="0">
                            <a:latin typeface="Cambria Math" panose="02040503050406030204" pitchFamily="18" charset="0"/>
                          </a:rPr>
                          <m:t>+</m:t>
                        </m:r>
                        <m:r>
                          <a:rPr lang="id-ID" i="1" dirty="0">
                            <a:latin typeface="Cambria Math" panose="02040503050406030204" pitchFamily="18" charset="0"/>
                          </a:rPr>
                          <m:t>𝐹𝑁</m:t>
                        </m:r>
                      </m:den>
                    </m:f>
                  </m:oMath>
                </a14:m>
                <a:r>
                  <a:rPr lang="en-GB" dirty="0"/>
                  <a:t> </a:t>
                </a:r>
              </a:p>
              <a:p>
                <a:r>
                  <a:rPr lang="id-ID" sz="1400" dirty="0"/>
                  <a:t>(Seberapa banyak gol aktual yang berhasil diprediksi?)</a:t>
                </a:r>
                <a:endParaRPr lang="en-GB" dirty="0"/>
              </a:p>
              <a:p>
                <a14:m>
                  <m:oMath xmlns:m="http://schemas.openxmlformats.org/officeDocument/2006/math">
                    <m:r>
                      <a:rPr lang="id-ID" i="1" dirty="0" smtClean="0">
                        <a:latin typeface="Cambria Math" panose="02040503050406030204" pitchFamily="18" charset="0"/>
                      </a:rPr>
                      <m:t>𝐹𝑃𝑅</m:t>
                    </m:r>
                    <m:r>
                      <a:rPr lang="id-ID" i="1" dirty="0" smtClean="0">
                        <a:latin typeface="Cambria Math" panose="02040503050406030204" pitchFamily="18" charset="0"/>
                      </a:rPr>
                      <m:t>=</m:t>
                    </m:r>
                    <m:f>
                      <m:fPr>
                        <m:ctrlPr>
                          <a:rPr lang="id-ID" i="1" dirty="0" smtClean="0">
                            <a:latin typeface="Cambria Math" panose="02040503050406030204" pitchFamily="18" charset="0"/>
                          </a:rPr>
                        </m:ctrlPr>
                      </m:fPr>
                      <m:num>
                        <m:r>
                          <a:rPr lang="id-ID" i="1" dirty="0">
                            <a:latin typeface="Cambria Math" panose="02040503050406030204" pitchFamily="18" charset="0"/>
                          </a:rPr>
                          <m:t>𝐹𝑃</m:t>
                        </m:r>
                      </m:num>
                      <m:den>
                        <m:r>
                          <a:rPr lang="id-ID" i="1" dirty="0">
                            <a:latin typeface="Cambria Math" panose="02040503050406030204" pitchFamily="18" charset="0"/>
                          </a:rPr>
                          <m:t>𝐹𝑃</m:t>
                        </m:r>
                        <m:r>
                          <a:rPr lang="id-ID" i="1" dirty="0">
                            <a:latin typeface="Cambria Math" panose="02040503050406030204" pitchFamily="18" charset="0"/>
                          </a:rPr>
                          <m:t>+</m:t>
                        </m:r>
                        <m:r>
                          <a:rPr lang="id-ID" i="1" dirty="0">
                            <a:latin typeface="Cambria Math" panose="02040503050406030204" pitchFamily="18" charset="0"/>
                          </a:rPr>
                          <m:t>𝑇𝑁</m:t>
                        </m:r>
                      </m:den>
                    </m:f>
                  </m:oMath>
                </a14:m>
                <a:r>
                  <a:rPr lang="id-ID" dirty="0"/>
                  <a:t> </a:t>
                </a:r>
                <a:endParaRPr lang="en-GB" dirty="0"/>
              </a:p>
              <a:p>
                <a:r>
                  <a:rPr lang="id-ID" sz="1400" dirty="0"/>
                  <a:t>(Seberapa banyak tembakan tidak gol yang salah diprediksi sebagai gol?)</a:t>
                </a:r>
                <a:endParaRPr lang="id-ID" dirty="0"/>
              </a:p>
            </p:txBody>
          </p:sp>
        </mc:Choice>
        <mc:Fallback xmlns="">
          <p:sp>
            <p:nvSpPr>
              <p:cNvPr id="15" name="TextBox 14">
                <a:extLst>
                  <a:ext uri="{FF2B5EF4-FFF2-40B4-BE49-F238E27FC236}">
                    <a16:creationId xmlns:a16="http://schemas.microsoft.com/office/drawing/2014/main" id="{FF1CC61B-BD56-FC8C-EBAB-5418371F70B4}"/>
                  </a:ext>
                </a:extLst>
              </p:cNvPr>
              <p:cNvSpPr txBox="1">
                <a:spLocks noRot="1" noChangeAspect="1" noMove="1" noResize="1" noEditPoints="1" noAdjustHandles="1" noChangeArrowheads="1" noChangeShapeType="1" noTextEdit="1"/>
              </p:cNvSpPr>
              <p:nvPr/>
            </p:nvSpPr>
            <p:spPr>
              <a:xfrm>
                <a:off x="7076001" y="3128047"/>
                <a:ext cx="4352571" cy="1802160"/>
              </a:xfrm>
              <a:prstGeom prst="rect">
                <a:avLst/>
              </a:prstGeom>
              <a:blipFill>
                <a:blip r:embed="rId5"/>
                <a:stretch>
                  <a:fillRect l="-420"/>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2131E41-8852-3507-C70E-3657A7AFCA97}"/>
                  </a:ext>
                </a:extLst>
              </p:cNvPr>
              <p:cNvSpPr txBox="1"/>
              <p:nvPr/>
            </p:nvSpPr>
            <p:spPr>
              <a:xfrm>
                <a:off x="6690984" y="1956313"/>
                <a:ext cx="4352572" cy="9219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sz="2400" i="0" dirty="0" smtClean="0">
                          <a:latin typeface="Cambria Math" panose="02040503050406030204" pitchFamily="18" charset="0"/>
                        </a:rPr>
                        <m:t>AUC</m:t>
                      </m:r>
                      <m:r>
                        <a:rPr lang="id-ID" sz="2400" i="1" dirty="0">
                          <a:latin typeface="Cambria Math" panose="02040503050406030204" pitchFamily="18" charset="0"/>
                        </a:rPr>
                        <m:t>=</m:t>
                      </m:r>
                      <m:nary>
                        <m:naryPr>
                          <m:ctrlPr>
                            <a:rPr lang="id-ID" sz="2400" i="1" dirty="0">
                              <a:latin typeface="Cambria Math" panose="02040503050406030204" pitchFamily="18" charset="0"/>
                            </a:rPr>
                          </m:ctrlPr>
                        </m:naryPr>
                        <m:sub>
                          <m:r>
                            <a:rPr lang="id-ID" sz="2400" i="1" dirty="0">
                              <a:latin typeface="Cambria Math" panose="02040503050406030204" pitchFamily="18" charset="0"/>
                            </a:rPr>
                            <m:t>0</m:t>
                          </m:r>
                        </m:sub>
                        <m:sup>
                          <m:r>
                            <a:rPr lang="id-ID" sz="2400" i="1" dirty="0">
                              <a:latin typeface="Cambria Math" panose="02040503050406030204" pitchFamily="18" charset="0"/>
                            </a:rPr>
                            <m:t>1</m:t>
                          </m:r>
                        </m:sup>
                        <m:e>
                          <m:r>
                            <m:rPr>
                              <m:nor/>
                            </m:rPr>
                            <a:rPr lang="id-ID" sz="2400" i="0" dirty="0">
                              <a:latin typeface="Cambria Math" panose="02040503050406030204" pitchFamily="18" charset="0"/>
                            </a:rPr>
                            <m:t>TPR</m:t>
                          </m:r>
                          <m:d>
                            <m:dPr>
                              <m:ctrlPr>
                                <a:rPr lang="id-ID" sz="2400" i="1" dirty="0">
                                  <a:latin typeface="Cambria Math" panose="02040503050406030204" pitchFamily="18" charset="0"/>
                                </a:rPr>
                              </m:ctrlPr>
                            </m:dPr>
                            <m:e>
                              <m:r>
                                <m:rPr>
                                  <m:nor/>
                                </m:rPr>
                                <a:rPr lang="id-ID" sz="2400" i="0" dirty="0">
                                  <a:latin typeface="Cambria Math" panose="02040503050406030204" pitchFamily="18" charset="0"/>
                                </a:rPr>
                                <m:t>FPR</m:t>
                              </m:r>
                            </m:e>
                          </m:d>
                          <m:r>
                            <m:rPr>
                              <m:lit/>
                            </m:rPr>
                            <a:rPr lang="id-ID" sz="2400" i="1" dirty="0">
                              <a:latin typeface="Cambria Math" panose="02040503050406030204" pitchFamily="18" charset="0"/>
                            </a:rPr>
                            <m:t>,</m:t>
                          </m:r>
                        </m:e>
                      </m:nary>
                      <m:r>
                        <a:rPr lang="id-ID" sz="2400" i="1" dirty="0">
                          <a:latin typeface="Cambria Math" panose="02040503050406030204" pitchFamily="18" charset="0"/>
                        </a:rPr>
                        <m:t>𝑑</m:t>
                      </m:r>
                      <m:r>
                        <m:rPr>
                          <m:nor/>
                        </m:rPr>
                        <a:rPr lang="id-ID" sz="2400" i="0" dirty="0">
                          <a:latin typeface="Cambria Math" panose="02040503050406030204" pitchFamily="18" charset="0"/>
                        </a:rPr>
                        <m:t>FPR</m:t>
                      </m:r>
                    </m:oMath>
                  </m:oMathPara>
                </a14:m>
                <a:endParaRPr/>
              </a:p>
            </p:txBody>
          </p:sp>
        </mc:Choice>
        <mc:Fallback xmlns="">
          <p:sp>
            <p:nvSpPr>
              <p:cNvPr id="17" name="TextBox 16">
                <a:extLst>
                  <a:ext uri="{FF2B5EF4-FFF2-40B4-BE49-F238E27FC236}">
                    <a16:creationId xmlns:a16="http://schemas.microsoft.com/office/drawing/2014/main" id="{92131E41-8852-3507-C70E-3657A7AFCA97}"/>
                  </a:ext>
                </a:extLst>
              </p:cNvPr>
              <p:cNvSpPr txBox="1">
                <a:spLocks noRot="1" noChangeAspect="1" noMove="1" noResize="1" noEditPoints="1" noAdjustHandles="1" noChangeArrowheads="1" noChangeShapeType="1" noTextEdit="1"/>
              </p:cNvSpPr>
              <p:nvPr/>
            </p:nvSpPr>
            <p:spPr>
              <a:xfrm>
                <a:off x="6690984" y="1956313"/>
                <a:ext cx="4352572" cy="921984"/>
              </a:xfrm>
              <a:prstGeom prst="rect">
                <a:avLst/>
              </a:prstGeom>
              <a:blipFill>
                <a:blip r:embed="rId6"/>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CD4545D-DE2A-5107-6A8A-CAB57863A305}"/>
                  </a:ext>
                </a:extLst>
              </p:cNvPr>
              <p:cNvSpPr txBox="1"/>
              <p:nvPr/>
            </p:nvSpPr>
            <p:spPr>
              <a:xfrm>
                <a:off x="763428" y="4029127"/>
                <a:ext cx="5940554" cy="957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id-ID" sz="2000" i="0" dirty="0" smtClean="0">
                          <a:latin typeface="Cambria Math" panose="02040503050406030204" pitchFamily="18" charset="0"/>
                        </a:rPr>
                        <m:t>Log</m:t>
                      </m:r>
                      <m:r>
                        <m:rPr>
                          <m:nor/>
                        </m:rPr>
                        <a:rPr lang="id-ID" sz="2000" i="0" dirty="0" smtClean="0">
                          <a:latin typeface="Cambria Math" panose="02040503050406030204" pitchFamily="18" charset="0"/>
                        </a:rPr>
                        <m:t>−</m:t>
                      </m:r>
                      <m:r>
                        <m:rPr>
                          <m:nor/>
                        </m:rPr>
                        <a:rPr lang="id-ID" sz="2000" i="0" dirty="0" smtClean="0">
                          <a:latin typeface="Cambria Math" panose="02040503050406030204" pitchFamily="18" charset="0"/>
                        </a:rPr>
                        <m:t>Loss</m:t>
                      </m:r>
                      <m:r>
                        <a:rPr lang="id-ID" sz="2000" i="1" dirty="0">
                          <a:latin typeface="Cambria Math" panose="02040503050406030204" pitchFamily="18" charset="0"/>
                        </a:rPr>
                        <m:t>=−</m:t>
                      </m:r>
                      <m:f>
                        <m:fPr>
                          <m:ctrlPr>
                            <a:rPr lang="id-ID" sz="2000" i="1" dirty="0">
                              <a:latin typeface="Cambria Math" panose="02040503050406030204" pitchFamily="18" charset="0"/>
                            </a:rPr>
                          </m:ctrlPr>
                        </m:fPr>
                        <m:num>
                          <m:r>
                            <a:rPr lang="id-ID" sz="2000" i="1" dirty="0">
                              <a:latin typeface="Cambria Math" panose="02040503050406030204" pitchFamily="18" charset="0"/>
                            </a:rPr>
                            <m:t>1</m:t>
                          </m:r>
                        </m:num>
                        <m:den>
                          <m:r>
                            <a:rPr lang="id-ID" sz="2000" i="1" dirty="0">
                              <a:latin typeface="Cambria Math" panose="02040503050406030204" pitchFamily="18" charset="0"/>
                            </a:rPr>
                            <m:t>𝑁</m:t>
                          </m:r>
                        </m:den>
                      </m:f>
                      <m:nary>
                        <m:naryPr>
                          <m:chr m:val="∑"/>
                          <m:ctrlPr>
                            <a:rPr lang="id-ID" sz="2000" i="1" dirty="0">
                              <a:latin typeface="Cambria Math" panose="02040503050406030204" pitchFamily="18" charset="0"/>
                            </a:rPr>
                          </m:ctrlPr>
                        </m:naryPr>
                        <m:sub>
                          <m:r>
                            <a:rPr lang="id-ID" sz="2000" i="1" dirty="0">
                              <a:latin typeface="Cambria Math" panose="02040503050406030204" pitchFamily="18" charset="0"/>
                            </a:rPr>
                            <m:t>𝑖</m:t>
                          </m:r>
                          <m:r>
                            <a:rPr lang="id-ID" sz="2000" i="1" dirty="0">
                              <a:latin typeface="Cambria Math" panose="02040503050406030204" pitchFamily="18" charset="0"/>
                            </a:rPr>
                            <m:t>=1</m:t>
                          </m:r>
                        </m:sub>
                        <m:sup>
                          <m:r>
                            <a:rPr lang="id-ID" sz="2000" i="1" dirty="0">
                              <a:latin typeface="Cambria Math" panose="02040503050406030204" pitchFamily="18" charset="0"/>
                            </a:rPr>
                            <m:t>𝑁</m:t>
                          </m:r>
                        </m:sup>
                        <m:e>
                          <m:d>
                            <m:dPr>
                              <m:begChr m:val="["/>
                              <m:endChr m:val="]"/>
                              <m:ctrlPr>
                                <a:rPr lang="id-ID" sz="2000" i="1" dirty="0">
                                  <a:latin typeface="Cambria Math" panose="02040503050406030204" pitchFamily="18" charset="0"/>
                                </a:rPr>
                              </m:ctrlPr>
                            </m:dPr>
                            <m:e>
                              <m:sSub>
                                <m:sSubPr>
                                  <m:ctrlPr>
                                    <a:rPr lang="id-ID" sz="2000" i="1" dirty="0" err="1">
                                      <a:latin typeface="Cambria Math" panose="02040503050406030204" pitchFamily="18" charset="0"/>
                                    </a:rPr>
                                  </m:ctrlPr>
                                </m:sSubPr>
                                <m:e>
                                  <m:r>
                                    <a:rPr lang="id-ID" sz="2000" i="1" dirty="0" err="1">
                                      <a:latin typeface="Cambria Math" panose="02040503050406030204" pitchFamily="18" charset="0"/>
                                    </a:rPr>
                                    <m:t>𝑦</m:t>
                                  </m:r>
                                </m:e>
                                <m:sub>
                                  <m:r>
                                    <a:rPr lang="id-ID" sz="2000" i="1" dirty="0" err="1">
                                      <a:latin typeface="Cambria Math" panose="02040503050406030204" pitchFamily="18" charset="0"/>
                                    </a:rPr>
                                    <m:t>𝑖</m:t>
                                  </m:r>
                                </m:sub>
                              </m:sSub>
                              <m:func>
                                <m:funcPr>
                                  <m:ctrlPr>
                                    <a:rPr lang="id-ID" sz="2000" i="1" dirty="0">
                                      <a:latin typeface="Cambria Math" panose="02040503050406030204" pitchFamily="18" charset="0"/>
                                    </a:rPr>
                                  </m:ctrlPr>
                                </m:funcPr>
                                <m:fName>
                                  <m:r>
                                    <m:rPr>
                                      <m:sty m:val="p"/>
                                    </m:rPr>
                                    <a:rPr lang="id-ID" sz="2000" i="0" dirty="0">
                                      <a:latin typeface="Cambria Math" panose="02040503050406030204" pitchFamily="18" charset="0"/>
                                    </a:rPr>
                                    <m:t>log</m:t>
                                  </m:r>
                                </m:fName>
                                <m:e>
                                  <m:d>
                                    <m:dPr>
                                      <m:ctrlPr>
                                        <a:rPr lang="id-ID" sz="2000" i="1" dirty="0">
                                          <a:latin typeface="Cambria Math" panose="02040503050406030204" pitchFamily="18" charset="0"/>
                                        </a:rPr>
                                      </m:ctrlPr>
                                    </m:dPr>
                                    <m:e>
                                      <m:sSub>
                                        <m:sSubPr>
                                          <m:ctrlPr>
                                            <a:rPr lang="id-ID" sz="2000" i="1" dirty="0" err="1">
                                              <a:latin typeface="Cambria Math" panose="02040503050406030204" pitchFamily="18" charset="0"/>
                                            </a:rPr>
                                          </m:ctrlPr>
                                        </m:sSubPr>
                                        <m:e>
                                          <m:r>
                                            <a:rPr lang="id-ID" sz="2000" i="1" dirty="0" err="1">
                                              <a:latin typeface="Cambria Math" panose="02040503050406030204" pitchFamily="18" charset="0"/>
                                            </a:rPr>
                                            <m:t>𝑝</m:t>
                                          </m:r>
                                        </m:e>
                                        <m:sub>
                                          <m:r>
                                            <a:rPr lang="id-ID" sz="2000" i="1" dirty="0" err="1">
                                              <a:latin typeface="Cambria Math" panose="02040503050406030204" pitchFamily="18" charset="0"/>
                                            </a:rPr>
                                            <m:t>𝑖</m:t>
                                          </m:r>
                                        </m:sub>
                                      </m:sSub>
                                    </m:e>
                                  </m:d>
                                </m:e>
                              </m:func>
                              <m:r>
                                <a:rPr lang="id-ID" sz="2000" i="1" dirty="0">
                                  <a:latin typeface="Cambria Math" panose="02040503050406030204" pitchFamily="18" charset="0"/>
                                </a:rPr>
                                <m:t>+</m:t>
                              </m:r>
                              <m:d>
                                <m:dPr>
                                  <m:ctrlPr>
                                    <a:rPr lang="id-ID" sz="2000" i="1" dirty="0">
                                      <a:latin typeface="Cambria Math" panose="02040503050406030204" pitchFamily="18" charset="0"/>
                                    </a:rPr>
                                  </m:ctrlPr>
                                </m:dPr>
                                <m:e>
                                  <m:r>
                                    <a:rPr lang="id-ID" sz="2000" i="1" dirty="0">
                                      <a:latin typeface="Cambria Math" panose="02040503050406030204" pitchFamily="18" charset="0"/>
                                    </a:rPr>
                                    <m:t>1−</m:t>
                                  </m:r>
                                  <m:sSub>
                                    <m:sSubPr>
                                      <m:ctrlPr>
                                        <a:rPr lang="id-ID" sz="2000" i="1" dirty="0" err="1">
                                          <a:latin typeface="Cambria Math" panose="02040503050406030204" pitchFamily="18" charset="0"/>
                                        </a:rPr>
                                      </m:ctrlPr>
                                    </m:sSubPr>
                                    <m:e>
                                      <m:r>
                                        <a:rPr lang="id-ID" sz="2000" i="1" dirty="0" err="1">
                                          <a:latin typeface="Cambria Math" panose="02040503050406030204" pitchFamily="18" charset="0"/>
                                        </a:rPr>
                                        <m:t>𝑦</m:t>
                                      </m:r>
                                    </m:e>
                                    <m:sub>
                                      <m:r>
                                        <a:rPr lang="id-ID" sz="2000" i="1" dirty="0" err="1">
                                          <a:latin typeface="Cambria Math" panose="02040503050406030204" pitchFamily="18" charset="0"/>
                                        </a:rPr>
                                        <m:t>𝑖</m:t>
                                      </m:r>
                                    </m:sub>
                                  </m:sSub>
                                </m:e>
                              </m:d>
                              <m:func>
                                <m:funcPr>
                                  <m:ctrlPr>
                                    <a:rPr lang="id-ID" sz="2000" i="1" dirty="0">
                                      <a:latin typeface="Cambria Math" panose="02040503050406030204" pitchFamily="18" charset="0"/>
                                    </a:rPr>
                                  </m:ctrlPr>
                                </m:funcPr>
                                <m:fName>
                                  <m:r>
                                    <m:rPr>
                                      <m:sty m:val="p"/>
                                    </m:rPr>
                                    <a:rPr lang="id-ID" sz="2000" i="0" dirty="0">
                                      <a:latin typeface="Cambria Math" panose="02040503050406030204" pitchFamily="18" charset="0"/>
                                    </a:rPr>
                                    <m:t>log</m:t>
                                  </m:r>
                                </m:fName>
                                <m:e>
                                  <m:d>
                                    <m:dPr>
                                      <m:ctrlPr>
                                        <a:rPr lang="id-ID" sz="2000" i="1" dirty="0">
                                          <a:latin typeface="Cambria Math" panose="02040503050406030204" pitchFamily="18" charset="0"/>
                                        </a:rPr>
                                      </m:ctrlPr>
                                    </m:dPr>
                                    <m:e>
                                      <m:r>
                                        <a:rPr lang="id-ID" sz="2000" i="1" dirty="0">
                                          <a:latin typeface="Cambria Math" panose="02040503050406030204" pitchFamily="18" charset="0"/>
                                        </a:rPr>
                                        <m:t>1−</m:t>
                                      </m:r>
                                      <m:sSub>
                                        <m:sSubPr>
                                          <m:ctrlPr>
                                            <a:rPr lang="id-ID" sz="2000" i="1" dirty="0" err="1">
                                              <a:latin typeface="Cambria Math" panose="02040503050406030204" pitchFamily="18" charset="0"/>
                                            </a:rPr>
                                          </m:ctrlPr>
                                        </m:sSubPr>
                                        <m:e>
                                          <m:r>
                                            <a:rPr lang="id-ID" sz="2000" i="1" dirty="0" err="1">
                                              <a:latin typeface="Cambria Math" panose="02040503050406030204" pitchFamily="18" charset="0"/>
                                            </a:rPr>
                                            <m:t>𝑝</m:t>
                                          </m:r>
                                        </m:e>
                                        <m:sub>
                                          <m:r>
                                            <a:rPr lang="id-ID" sz="2000" i="1" dirty="0" err="1">
                                              <a:latin typeface="Cambria Math" panose="02040503050406030204" pitchFamily="18" charset="0"/>
                                            </a:rPr>
                                            <m:t>𝑖</m:t>
                                          </m:r>
                                        </m:sub>
                                      </m:sSub>
                                    </m:e>
                                  </m:d>
                                </m:e>
                              </m:func>
                            </m:e>
                          </m:d>
                        </m:e>
                      </m:nary>
                    </m:oMath>
                  </m:oMathPara>
                </a14:m>
                <a:endParaRPr/>
              </a:p>
            </p:txBody>
          </p:sp>
        </mc:Choice>
        <mc:Fallback xmlns="">
          <p:sp>
            <p:nvSpPr>
              <p:cNvPr id="6" name="TextBox 5">
                <a:extLst>
                  <a:ext uri="{FF2B5EF4-FFF2-40B4-BE49-F238E27FC236}">
                    <a16:creationId xmlns:a16="http://schemas.microsoft.com/office/drawing/2014/main" id="{8CD4545D-DE2A-5107-6A8A-CAB57863A305}"/>
                  </a:ext>
                </a:extLst>
              </p:cNvPr>
              <p:cNvSpPr txBox="1">
                <a:spLocks noRot="1" noChangeAspect="1" noMove="1" noResize="1" noEditPoints="1" noAdjustHandles="1" noChangeArrowheads="1" noChangeShapeType="1" noTextEdit="1"/>
              </p:cNvSpPr>
              <p:nvPr/>
            </p:nvSpPr>
            <p:spPr>
              <a:xfrm>
                <a:off x="763428" y="4029127"/>
                <a:ext cx="5940554" cy="957826"/>
              </a:xfrm>
              <a:prstGeom prst="rect">
                <a:avLst/>
              </a:prstGeom>
              <a:blipFill>
                <a:blip r:embed="rId7"/>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0BCF839-EB59-62EC-89AC-18FE08891519}"/>
                  </a:ext>
                </a:extLst>
              </p:cNvPr>
              <p:cNvSpPr txBox="1"/>
              <p:nvPr/>
            </p:nvSpPr>
            <p:spPr>
              <a:xfrm>
                <a:off x="750430" y="4879022"/>
                <a:ext cx="6096000" cy="1169551"/>
              </a:xfrm>
              <a:prstGeom prst="rect">
                <a:avLst/>
              </a:prstGeom>
              <a:noFill/>
            </p:spPr>
            <p:txBody>
              <a:bodyPr wrap="square">
                <a:spAutoFit/>
              </a:bodyPr>
              <a:lstStyle/>
              <a:p>
                <a:r>
                  <a:rPr lang="id-ID" sz="1400" b="1" dirty="0"/>
                  <a:t>Keterangan</a:t>
                </a:r>
                <a:r>
                  <a:rPr lang="id-ID" sz="1400" dirty="0"/>
                  <a:t>:</a:t>
                </a:r>
                <a:endParaRPr lang="en-GB" sz="1400" dirty="0"/>
              </a:p>
              <a:p>
                <a14:m>
                  <m:oMath xmlns:m="http://schemas.openxmlformats.org/officeDocument/2006/math">
                    <m:r>
                      <a:rPr lang="id-ID" sz="1400" i="1" dirty="0" smtClean="0">
                        <a:latin typeface="Cambria Math" panose="02040503050406030204" pitchFamily="18" charset="0"/>
                      </a:rPr>
                      <m:t>𝑁</m:t>
                    </m:r>
                  </m:oMath>
                </a14:m>
                <a:r>
                  <a:rPr lang="id-ID" sz="1400" dirty="0"/>
                  <a:t>: Jumlah total tembakan.</a:t>
                </a:r>
                <a:endParaRPr lang="en-GB" sz="1400" dirty="0"/>
              </a:p>
              <a:p>
                <a14:m>
                  <m:oMath xmlns:m="http://schemas.openxmlformats.org/officeDocument/2006/math">
                    <m:sSub>
                      <m:sSubPr>
                        <m:ctrlPr>
                          <a:rPr lang="id-ID" sz="1400" i="1" dirty="0" smtClean="0">
                            <a:latin typeface="Cambria Math" panose="02040503050406030204" pitchFamily="18" charset="0"/>
                          </a:rPr>
                        </m:ctrlPr>
                      </m:sSubPr>
                      <m:e>
                        <m:r>
                          <a:rPr lang="id-ID" sz="1400" i="1" dirty="0" smtClean="0">
                            <a:latin typeface="Cambria Math" panose="02040503050406030204" pitchFamily="18" charset="0"/>
                          </a:rPr>
                          <m:t>𝑦</m:t>
                        </m:r>
                      </m:e>
                      <m:sub>
                        <m:r>
                          <a:rPr lang="id-ID" sz="1400" i="1" dirty="0" err="1" smtClean="0">
                            <a:latin typeface="Cambria Math" panose="02040503050406030204" pitchFamily="18" charset="0"/>
                          </a:rPr>
                          <m:t>𝑖</m:t>
                        </m:r>
                      </m:sub>
                    </m:sSub>
                  </m:oMath>
                </a14:m>
                <a:r>
                  <a:rPr lang="id-ID" sz="1400" dirty="0"/>
                  <a:t>: Hasil aktual tembakan (1 jika gol, 0 jika tidak gol).</a:t>
                </a:r>
                <a:endParaRPr lang="en-GB" sz="1400" dirty="0"/>
              </a:p>
              <a:p>
                <a14:m>
                  <m:oMath xmlns:m="http://schemas.openxmlformats.org/officeDocument/2006/math">
                    <m:sSub>
                      <m:sSubPr>
                        <m:ctrlPr>
                          <a:rPr lang="id-ID" sz="1400" i="1" dirty="0" smtClean="0">
                            <a:latin typeface="Cambria Math" panose="02040503050406030204" pitchFamily="18" charset="0"/>
                          </a:rPr>
                        </m:ctrlPr>
                      </m:sSubPr>
                      <m:e>
                        <m:r>
                          <a:rPr lang="id-ID" sz="1400" i="1" dirty="0" smtClean="0">
                            <a:latin typeface="Cambria Math" panose="02040503050406030204" pitchFamily="18" charset="0"/>
                          </a:rPr>
                          <m:t>𝑝</m:t>
                        </m:r>
                      </m:e>
                      <m:sub>
                        <m:r>
                          <a:rPr lang="id-ID" sz="1400" i="1" dirty="0" err="1" smtClean="0">
                            <a:latin typeface="Cambria Math" panose="02040503050406030204" pitchFamily="18" charset="0"/>
                          </a:rPr>
                          <m:t>𝑖</m:t>
                        </m:r>
                      </m:sub>
                    </m:sSub>
                  </m:oMath>
                </a14:m>
                <a:r>
                  <a:rPr lang="id-ID" sz="1400" dirty="0"/>
                  <a:t>: Probabilitas gol (nilai </a:t>
                </a:r>
                <a:r>
                  <a:rPr lang="id-ID" sz="1400" dirty="0" err="1"/>
                  <a:t>xG</a:t>
                </a:r>
                <a:r>
                  <a:rPr lang="id-ID" sz="1400" dirty="0"/>
                  <a:t>) yang diprediksi model.</a:t>
                </a:r>
                <a:endParaRPr lang="en-GB" sz="1400" dirty="0"/>
              </a:p>
              <a:p>
                <a14:m>
                  <m:oMath xmlns:m="http://schemas.openxmlformats.org/officeDocument/2006/math">
                    <m:r>
                      <m:rPr>
                        <m:sty m:val="p"/>
                      </m:rPr>
                      <a:rPr lang="en-GB" sz="1400" i="0" dirty="0" smtClean="0">
                        <a:latin typeface="Cambria Math" panose="02040503050406030204" pitchFamily="18" charset="0"/>
                      </a:rPr>
                      <m:t>log</m:t>
                    </m:r>
                    <m:r>
                      <a:rPr lang="id-ID" sz="1400" i="1" dirty="0" smtClean="0">
                        <a:latin typeface="Cambria Math" panose="02040503050406030204" pitchFamily="18" charset="0"/>
                      </a:rPr>
                      <m:t>⁡</m:t>
                    </m:r>
                  </m:oMath>
                </a14:m>
                <a:r>
                  <a:rPr lang="id-ID" sz="1400" dirty="0"/>
                  <a:t>: Logaritma natural.</a:t>
                </a:r>
              </a:p>
            </p:txBody>
          </p:sp>
        </mc:Choice>
        <mc:Fallback xmlns="">
          <p:sp>
            <p:nvSpPr>
              <p:cNvPr id="12" name="TextBox 11">
                <a:extLst>
                  <a:ext uri="{FF2B5EF4-FFF2-40B4-BE49-F238E27FC236}">
                    <a16:creationId xmlns:a16="http://schemas.microsoft.com/office/drawing/2014/main" id="{D0BCF839-EB59-62EC-89AC-18FE08891519}"/>
                  </a:ext>
                </a:extLst>
              </p:cNvPr>
              <p:cNvSpPr txBox="1">
                <a:spLocks noRot="1" noChangeAspect="1" noMove="1" noResize="1" noEditPoints="1" noAdjustHandles="1" noChangeArrowheads="1" noChangeShapeType="1" noTextEdit="1"/>
              </p:cNvSpPr>
              <p:nvPr/>
            </p:nvSpPr>
            <p:spPr>
              <a:xfrm>
                <a:off x="750430" y="4879022"/>
                <a:ext cx="6096000" cy="1169551"/>
              </a:xfrm>
              <a:prstGeom prst="rect">
                <a:avLst/>
              </a:prstGeom>
              <a:blipFill>
                <a:blip r:embed="rId8"/>
                <a:stretch>
                  <a:fillRect l="-300" t="-521" b="-4688"/>
                </a:stretch>
              </a:blipFill>
            </p:spPr>
            <p:txBody>
              <a:bodyPr/>
              <a:lstStyle/>
              <a:p>
                <a:r>
                  <a:rPr lang="id-ID">
                    <a:noFill/>
                  </a:rPr>
                  <a:t> </a:t>
                </a:r>
              </a:p>
            </p:txBody>
          </p:sp>
        </mc:Fallback>
      </mc:AlternateContent>
    </p:spTree>
    <p:extLst>
      <p:ext uri="{BB962C8B-B14F-4D97-AF65-F5344CB8AC3E}">
        <p14:creationId xmlns:p14="http://schemas.microsoft.com/office/powerpoint/2010/main" val="2223524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E5F191A4-7839-4F63-B17C-7C366C59488C}"/>
              </a:ext>
            </a:extLst>
          </p:cNvPr>
          <p:cNvSpPr>
            <a:spLocks noGrp="1"/>
          </p:cNvSpPr>
          <p:nvPr>
            <p:ph type="title"/>
          </p:nvPr>
        </p:nvSpPr>
        <p:spPr>
          <a:xfrm>
            <a:off x="1167492" y="381000"/>
            <a:ext cx="9779183" cy="621385"/>
          </a:xfrm>
        </p:spPr>
        <p:txBody>
          <a:bodyPr rtlCol="0"/>
          <a:lstStyle/>
          <a:p>
            <a:pPr rtl="0"/>
            <a:r>
              <a:rPr lang="en-GB" dirty="0" err="1"/>
              <a:t>Penelitian</a:t>
            </a:r>
            <a:r>
              <a:rPr lang="en-GB" dirty="0"/>
              <a:t> </a:t>
            </a:r>
            <a:r>
              <a:rPr lang="en-GB" dirty="0" err="1"/>
              <a:t>Sejenis</a:t>
            </a:r>
            <a:endParaRPr lang="id-ID" dirty="0"/>
          </a:p>
        </p:txBody>
      </p:sp>
      <p:sp>
        <p:nvSpPr>
          <p:cNvPr id="8" name="Tampungan Nomor Slide 7">
            <a:extLst>
              <a:ext uri="{FF2B5EF4-FFF2-40B4-BE49-F238E27FC236}">
                <a16:creationId xmlns:a16="http://schemas.microsoft.com/office/drawing/2014/main" id="{B609FC03-B5BE-D846-993A-8E351C9509F3}"/>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21</a:t>
            </a:fld>
            <a:endParaRPr lang="id-ID"/>
          </a:p>
        </p:txBody>
      </p:sp>
      <p:graphicFrame>
        <p:nvGraphicFramePr>
          <p:cNvPr id="24" name="Table 23">
            <a:extLst>
              <a:ext uri="{FF2B5EF4-FFF2-40B4-BE49-F238E27FC236}">
                <a16:creationId xmlns:a16="http://schemas.microsoft.com/office/drawing/2014/main" id="{E01064BD-7B51-BFAF-B42B-24B41EA298EA}"/>
              </a:ext>
            </a:extLst>
          </p:cNvPr>
          <p:cNvGraphicFramePr>
            <a:graphicFrameLocks noGrp="1"/>
          </p:cNvGraphicFramePr>
          <p:nvPr>
            <p:extLst>
              <p:ext uri="{D42A27DB-BD31-4B8C-83A1-F6EECF244321}">
                <p14:modId xmlns:p14="http://schemas.microsoft.com/office/powerpoint/2010/main" val="3701526356"/>
              </p:ext>
            </p:extLst>
          </p:nvPr>
        </p:nvGraphicFramePr>
        <p:xfrm>
          <a:off x="806450" y="1623772"/>
          <a:ext cx="10375900" cy="3683399"/>
        </p:xfrm>
        <a:graphic>
          <a:graphicData uri="http://schemas.openxmlformats.org/drawingml/2006/table">
            <a:tbl>
              <a:tblPr firstRow="1" firstCol="1" bandRow="1">
                <a:tableStyleId>{5C22544A-7EE6-4342-B048-85BDC9FD1C3A}</a:tableStyleId>
              </a:tblPr>
              <a:tblGrid>
                <a:gridCol w="507781">
                  <a:extLst>
                    <a:ext uri="{9D8B030D-6E8A-4147-A177-3AD203B41FA5}">
                      <a16:colId xmlns:a16="http://schemas.microsoft.com/office/drawing/2014/main" val="1318640318"/>
                    </a:ext>
                  </a:extLst>
                </a:gridCol>
                <a:gridCol w="2092646">
                  <a:extLst>
                    <a:ext uri="{9D8B030D-6E8A-4147-A177-3AD203B41FA5}">
                      <a16:colId xmlns:a16="http://schemas.microsoft.com/office/drawing/2014/main" val="3015719754"/>
                    </a:ext>
                  </a:extLst>
                </a:gridCol>
                <a:gridCol w="3259394">
                  <a:extLst>
                    <a:ext uri="{9D8B030D-6E8A-4147-A177-3AD203B41FA5}">
                      <a16:colId xmlns:a16="http://schemas.microsoft.com/office/drawing/2014/main" val="2964952324"/>
                    </a:ext>
                  </a:extLst>
                </a:gridCol>
                <a:gridCol w="4516079">
                  <a:extLst>
                    <a:ext uri="{9D8B030D-6E8A-4147-A177-3AD203B41FA5}">
                      <a16:colId xmlns:a16="http://schemas.microsoft.com/office/drawing/2014/main" val="3054673178"/>
                    </a:ext>
                  </a:extLst>
                </a:gridCol>
              </a:tblGrid>
              <a:tr h="236685">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No</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err="1">
                          <a:solidFill>
                            <a:schemeClr val="bg1"/>
                          </a:solidFill>
                          <a:effectLst/>
                          <a:latin typeface="Tenorite" panose="00000500000000000000" pitchFamily="2" charset="0"/>
                          <a:ea typeface="Calibri" panose="020F0502020204030204" pitchFamily="34" charset="0"/>
                          <a:cs typeface="Arial" panose="020B0604020202020204" pitchFamily="34" charset="0"/>
                        </a:rPr>
                        <a:t>Penulis</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Model</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en-GB"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rPr>
                        <a:t>Hasil</a:t>
                      </a:r>
                      <a:endParaRPr lang="id-ID" sz="1800" kern="100" dirty="0">
                        <a:solidFill>
                          <a:schemeClr val="bg1"/>
                        </a:solidFill>
                        <a:effectLst/>
                        <a:latin typeface="Tenorite" panose="00000500000000000000" pitchFamily="2"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3428721586"/>
                  </a:ext>
                </a:extLst>
              </a:tr>
              <a:tr h="582407">
                <a:tc>
                  <a:txBody>
                    <a:bodyPr/>
                    <a:lstStyle/>
                    <a:p>
                      <a:pPr algn="l">
                        <a:lnSpc>
                          <a:spcPct val="100000"/>
                        </a:lnSpc>
                        <a:buNone/>
                      </a:pPr>
                      <a:r>
                        <a:rPr lang="en-GB" sz="1600" kern="0" dirty="0">
                          <a:effectLst/>
                        </a:rPr>
                        <a:t>1</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Bandara </a:t>
                      </a:r>
                      <a:r>
                        <a:rPr lang="id-ID" sz="1600" kern="0" dirty="0" err="1">
                          <a:effectLst/>
                        </a:rPr>
                        <a:t>et</a:t>
                      </a:r>
                      <a:r>
                        <a:rPr lang="id-ID" sz="1600" kern="0" dirty="0">
                          <a:effectLst/>
                        </a:rPr>
                        <a:t> </a:t>
                      </a:r>
                      <a:r>
                        <a:rPr lang="id-ID" sz="1600" kern="0" dirty="0" err="1">
                          <a:effectLst/>
                        </a:rPr>
                        <a:t>al.</a:t>
                      </a:r>
                      <a:r>
                        <a:rPr lang="id-ID" sz="1600" kern="0" dirty="0">
                          <a:effectLst/>
                        </a:rPr>
                        <a:t> (2024)</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800" i="1" kern="1200" dirty="0" err="1">
                          <a:solidFill>
                            <a:schemeClr val="dk1"/>
                          </a:solidFill>
                          <a:effectLst/>
                          <a:latin typeface="+mn-lt"/>
                          <a:ea typeface="+mn-ea"/>
                          <a:cs typeface="+mn-cs"/>
                        </a:rPr>
                        <a:t>Random</a:t>
                      </a:r>
                      <a:r>
                        <a:rPr lang="id-ID" sz="1800" i="1" kern="1200" dirty="0">
                          <a:solidFill>
                            <a:schemeClr val="dk1"/>
                          </a:solidFill>
                          <a:effectLst/>
                          <a:latin typeface="+mn-lt"/>
                          <a:ea typeface="+mn-ea"/>
                          <a:cs typeface="+mn-cs"/>
                        </a:rPr>
                        <a:t> </a:t>
                      </a:r>
                      <a:r>
                        <a:rPr lang="id-ID" sz="1800" i="1" kern="1200" dirty="0" err="1">
                          <a:solidFill>
                            <a:schemeClr val="dk1"/>
                          </a:solidFill>
                          <a:effectLst/>
                          <a:latin typeface="+mn-lt"/>
                          <a:ea typeface="+mn-ea"/>
                          <a:cs typeface="+mn-cs"/>
                        </a:rPr>
                        <a:t>Forest</a:t>
                      </a:r>
                      <a:r>
                        <a:rPr lang="id-ID" sz="1800" kern="1200" dirty="0">
                          <a:solidFill>
                            <a:schemeClr val="dk1"/>
                          </a:solidFill>
                          <a:effectLst/>
                          <a:latin typeface="+mn-lt"/>
                          <a:ea typeface="+mn-ea"/>
                          <a:cs typeface="+mn-cs"/>
                        </a:rPr>
                        <a:t> </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 Model berbasis </a:t>
                      </a:r>
                      <a:r>
                        <a:rPr lang="id-ID" sz="1600" kern="0" dirty="0" err="1">
                          <a:effectLst/>
                        </a:rPr>
                        <a:t>sekuens</a:t>
                      </a:r>
                      <a:r>
                        <a:rPr lang="id-ID" sz="1600" kern="0" dirty="0">
                          <a:effectLst/>
                        </a:rPr>
                        <a:t> mencapai ROC AUC 0,833 pada set validasi.</a:t>
                      </a:r>
                      <a:endParaRPr lang="id-ID" sz="1800" kern="100" dirty="0">
                        <a:effectLst/>
                      </a:endParaRPr>
                    </a:p>
                    <a:p>
                      <a:pPr algn="l">
                        <a:lnSpc>
                          <a:spcPct val="100000"/>
                        </a:lnSpc>
                        <a:buNone/>
                      </a:pPr>
                      <a:r>
                        <a:rPr lang="id-ID" sz="1600" kern="0" dirty="0">
                          <a:effectLst/>
                        </a:rPr>
                        <a:t>• Pada pengujian dengan data Euro 2020, model mencapai ROC AUC 0,826, mengungguli model tembakan tunggal (</a:t>
                      </a:r>
                      <a:r>
                        <a:rPr lang="id-ID" sz="1600" kern="0" dirty="0" err="1">
                          <a:effectLst/>
                        </a:rPr>
                        <a:t>baseline</a:t>
                      </a:r>
                      <a:r>
                        <a:rPr lang="id-ID" sz="1600" kern="0" dirty="0">
                          <a:effectLst/>
                        </a:rPr>
                        <a:t>).</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1951301434"/>
                  </a:ext>
                </a:extLst>
              </a:tr>
              <a:tr h="970679">
                <a:tc>
                  <a:txBody>
                    <a:bodyPr/>
                    <a:lstStyle/>
                    <a:p>
                      <a:pPr algn="l">
                        <a:lnSpc>
                          <a:spcPct val="100000"/>
                        </a:lnSpc>
                        <a:buNone/>
                      </a:pPr>
                      <a:r>
                        <a:rPr lang="en-GB" sz="1600" kern="0" dirty="0">
                          <a:effectLst/>
                        </a:rPr>
                        <a:t>2</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err="1">
                          <a:effectLst/>
                        </a:rPr>
                        <a:t>Cefis</a:t>
                      </a:r>
                      <a:r>
                        <a:rPr lang="id-ID" sz="1600" kern="0" dirty="0">
                          <a:effectLst/>
                        </a:rPr>
                        <a:t> &amp; </a:t>
                      </a:r>
                      <a:r>
                        <a:rPr lang="id-ID" sz="1600" kern="0" dirty="0" err="1">
                          <a:effectLst/>
                        </a:rPr>
                        <a:t>Carpita</a:t>
                      </a:r>
                      <a:r>
                        <a:rPr lang="id-ID" sz="1600" kern="0" dirty="0">
                          <a:effectLst/>
                        </a:rPr>
                        <a:t> (2024)</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800" kern="1200" dirty="0">
                          <a:solidFill>
                            <a:schemeClr val="dk1"/>
                          </a:solidFill>
                          <a:effectLst/>
                          <a:latin typeface="+mn-lt"/>
                          <a:ea typeface="+mn-ea"/>
                          <a:cs typeface="+mn-cs"/>
                        </a:rPr>
                        <a:t>Regresi Logistik</a:t>
                      </a:r>
                      <a:endParaRPr lang="id-ID" sz="1800" kern="100" dirty="0">
                        <a:effectLst/>
                      </a:endParaRPr>
                    </a:p>
                  </a:txBody>
                  <a:tcPr marL="34301" marR="34301" marT="0" marB="0" anchor="ctr"/>
                </a:tc>
                <a:tc>
                  <a:txBody>
                    <a:bodyPr/>
                    <a:lstStyle/>
                    <a:p>
                      <a:pPr algn="l">
                        <a:lnSpc>
                          <a:spcPct val="100000"/>
                        </a:lnSpc>
                        <a:buNone/>
                      </a:pPr>
                      <a:r>
                        <a:rPr lang="id-ID" sz="1600" kern="0" dirty="0">
                          <a:effectLst/>
                        </a:rPr>
                        <a:t>• ROC AUC = 0,812</a:t>
                      </a:r>
                      <a:endParaRPr lang="id-ID" sz="1800" kern="100" dirty="0">
                        <a:effectLst/>
                      </a:endParaRPr>
                    </a:p>
                    <a:p>
                      <a:pPr algn="l">
                        <a:lnSpc>
                          <a:spcPct val="100000"/>
                        </a:lnSpc>
                        <a:buNone/>
                      </a:pPr>
                      <a:r>
                        <a:rPr lang="id-ID" sz="1600" kern="0" dirty="0">
                          <a:effectLst/>
                        </a:rPr>
                        <a:t>• </a:t>
                      </a:r>
                      <a:r>
                        <a:rPr lang="id-ID" sz="1600" kern="0" dirty="0" err="1">
                          <a:effectLst/>
                        </a:rPr>
                        <a:t>Brier</a:t>
                      </a:r>
                      <a:r>
                        <a:rPr lang="id-ID" sz="1600" kern="0" dirty="0">
                          <a:effectLst/>
                        </a:rPr>
                        <a:t> </a:t>
                      </a:r>
                      <a:r>
                        <a:rPr lang="id-ID" sz="1600" kern="0" dirty="0" err="1">
                          <a:effectLst/>
                        </a:rPr>
                        <a:t>Score</a:t>
                      </a:r>
                      <a:r>
                        <a:rPr lang="id-ID" sz="1600" kern="0" dirty="0">
                          <a:effectLst/>
                        </a:rPr>
                        <a:t> = 0,078</a:t>
                      </a:r>
                      <a:endParaRPr lang="id-ID" sz="1800" kern="100" dirty="0">
                        <a:effectLst/>
                      </a:endParaRPr>
                    </a:p>
                  </a:txBody>
                  <a:tcPr marL="34301" marR="34301" marT="0" marB="0" anchor="ctr"/>
                </a:tc>
                <a:extLst>
                  <a:ext uri="{0D108BD9-81ED-4DB2-BD59-A6C34878D82A}">
                    <a16:rowId xmlns:a16="http://schemas.microsoft.com/office/drawing/2014/main" val="3204764588"/>
                  </a:ext>
                </a:extLst>
              </a:tr>
              <a:tr h="776543">
                <a:tc>
                  <a:txBody>
                    <a:bodyPr/>
                    <a:lstStyle/>
                    <a:p>
                      <a:pPr algn="l">
                        <a:lnSpc>
                          <a:spcPct val="100000"/>
                        </a:lnSpc>
                        <a:buNone/>
                      </a:pPr>
                      <a:r>
                        <a:rPr lang="en-GB" sz="1600" kern="0" dirty="0">
                          <a:effectLst/>
                        </a:rPr>
                        <a:t>3</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err="1">
                          <a:effectLst/>
                        </a:rPr>
                        <a:t>Xu</a:t>
                      </a:r>
                      <a:r>
                        <a:rPr lang="id-ID" sz="1600" kern="0" dirty="0">
                          <a:effectLst/>
                        </a:rPr>
                        <a:t> </a:t>
                      </a:r>
                      <a:r>
                        <a:rPr lang="id-ID" sz="1600" kern="0" dirty="0" err="1">
                          <a:effectLst/>
                        </a:rPr>
                        <a:t>et</a:t>
                      </a:r>
                      <a:r>
                        <a:rPr lang="id-ID" sz="1600" kern="0" dirty="0">
                          <a:effectLst/>
                        </a:rPr>
                        <a:t> </a:t>
                      </a:r>
                      <a:r>
                        <a:rPr lang="id-ID" sz="1600" kern="0" dirty="0" err="1">
                          <a:effectLst/>
                        </a:rPr>
                        <a:t>al.</a:t>
                      </a:r>
                      <a:r>
                        <a:rPr lang="id-ID" sz="1600" kern="0" dirty="0">
                          <a:effectLst/>
                        </a:rPr>
                        <a:t> (2025)</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marL="285750" indent="-285750">
                        <a:buFont typeface="Arial" panose="020B0604020202020204" pitchFamily="34" charset="0"/>
                        <a:buChar char="•"/>
                      </a:pPr>
                      <a:r>
                        <a:rPr lang="id-ID" sz="1800" kern="1200" dirty="0">
                          <a:solidFill>
                            <a:schemeClr val="dk1"/>
                          </a:solidFill>
                          <a:effectLst/>
                          <a:latin typeface="+mn-lt"/>
                          <a:ea typeface="+mn-ea"/>
                          <a:cs typeface="+mn-cs"/>
                        </a:rPr>
                        <a:t>Jaringan Saraf </a:t>
                      </a:r>
                      <a:r>
                        <a:rPr lang="id-ID" sz="1800" kern="1200" dirty="0" err="1">
                          <a:solidFill>
                            <a:schemeClr val="dk1"/>
                          </a:solidFill>
                          <a:effectLst/>
                          <a:latin typeface="+mn-lt"/>
                          <a:ea typeface="+mn-ea"/>
                          <a:cs typeface="+mn-cs"/>
                        </a:rPr>
                        <a:t>Konvolusional</a:t>
                      </a:r>
                      <a:r>
                        <a:rPr lang="id-ID" sz="1800" kern="1200" dirty="0">
                          <a:solidFill>
                            <a:schemeClr val="dk1"/>
                          </a:solidFill>
                          <a:effectLst/>
                          <a:latin typeface="+mn-lt"/>
                          <a:ea typeface="+mn-ea"/>
                          <a:cs typeface="+mn-cs"/>
                        </a:rPr>
                        <a:t> (CNN)</a:t>
                      </a:r>
                      <a:endParaRPr lang="en-GB" sz="1800" kern="1200" dirty="0">
                        <a:solidFill>
                          <a:schemeClr val="dk1"/>
                        </a:solidFill>
                        <a:effectLst/>
                        <a:latin typeface="+mn-lt"/>
                        <a:ea typeface="+mn-ea"/>
                        <a:cs typeface="+mn-cs"/>
                      </a:endParaRPr>
                    </a:p>
                    <a:p>
                      <a:pPr marL="285750" indent="-285750">
                        <a:buFont typeface="Arial" panose="020B0604020202020204" pitchFamily="34" charset="0"/>
                        <a:buChar char="•"/>
                      </a:pPr>
                      <a:r>
                        <a:rPr lang="id-ID" sz="1800" kern="1200" dirty="0">
                          <a:solidFill>
                            <a:schemeClr val="dk1"/>
                          </a:solidFill>
                          <a:effectLst/>
                          <a:latin typeface="+mn-lt"/>
                          <a:ea typeface="+mn-ea"/>
                          <a:cs typeface="+mn-cs"/>
                        </a:rPr>
                        <a:t>Regresi Logistik</a:t>
                      </a:r>
                    </a:p>
                    <a:p>
                      <a:pPr algn="l">
                        <a:lnSpc>
                          <a:spcPct val="100000"/>
                        </a:lnSpc>
                        <a:buNone/>
                      </a:pP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tc>
                  <a:txBody>
                    <a:bodyPr/>
                    <a:lstStyle/>
                    <a:p>
                      <a:pPr algn="l">
                        <a:lnSpc>
                          <a:spcPct val="100000"/>
                        </a:lnSpc>
                        <a:buNone/>
                      </a:pPr>
                      <a:r>
                        <a:rPr lang="id-ID" sz="1600" kern="0" dirty="0">
                          <a:effectLst/>
                        </a:rPr>
                        <a:t>• ROC AUC: Model Skor-</a:t>
                      </a:r>
                      <a:r>
                        <a:rPr lang="id-ID" sz="1600" kern="0" dirty="0" err="1">
                          <a:effectLst/>
                        </a:rPr>
                        <a:t>xG</a:t>
                      </a:r>
                      <a:r>
                        <a:rPr lang="id-ID" sz="1600" kern="0" dirty="0">
                          <a:effectLst/>
                        </a:rPr>
                        <a:t> mencapai 0,845, mengungguli model Regresi Logistik (0,791).</a:t>
                      </a:r>
                      <a:endParaRPr lang="id-ID" sz="1800" kern="100" dirty="0">
                        <a:effectLst/>
                      </a:endParaRPr>
                    </a:p>
                    <a:p>
                      <a:pPr algn="l">
                        <a:lnSpc>
                          <a:spcPct val="100000"/>
                        </a:lnSpc>
                        <a:buNone/>
                      </a:pPr>
                      <a:r>
                        <a:rPr lang="id-ID" sz="1600" kern="0" dirty="0">
                          <a:effectLst/>
                        </a:rPr>
                        <a:t>• </a:t>
                      </a:r>
                      <a:r>
                        <a:rPr lang="id-ID" sz="1600" kern="0" dirty="0" err="1">
                          <a:effectLst/>
                        </a:rPr>
                        <a:t>Brier</a:t>
                      </a:r>
                      <a:r>
                        <a:rPr lang="id-ID" sz="1600" kern="0" dirty="0">
                          <a:effectLst/>
                        </a:rPr>
                        <a:t> </a:t>
                      </a:r>
                      <a:r>
                        <a:rPr lang="id-ID" sz="1600" kern="0" dirty="0" err="1">
                          <a:effectLst/>
                        </a:rPr>
                        <a:t>Score</a:t>
                      </a:r>
                      <a:r>
                        <a:rPr lang="id-ID" sz="1600" kern="0" dirty="0">
                          <a:effectLst/>
                        </a:rPr>
                        <a:t>: Skor-</a:t>
                      </a:r>
                      <a:r>
                        <a:rPr lang="id-ID" sz="1600" kern="0" dirty="0" err="1">
                          <a:effectLst/>
                        </a:rPr>
                        <a:t>xG</a:t>
                      </a:r>
                      <a:r>
                        <a:rPr lang="id-ID" sz="1600" kern="0" dirty="0">
                          <a:effectLst/>
                        </a:rPr>
                        <a:t> mendapatkan 0,068, lebih baik dari Regresi Logistik (0,075). (Nilai lebih rendah lebih baik).</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34301" marR="34301" marT="0" marB="0" anchor="ctr"/>
                </a:tc>
                <a:extLst>
                  <a:ext uri="{0D108BD9-81ED-4DB2-BD59-A6C34878D82A}">
                    <a16:rowId xmlns:a16="http://schemas.microsoft.com/office/drawing/2014/main" val="348433307"/>
                  </a:ext>
                </a:extLst>
              </a:tr>
            </a:tbl>
          </a:graphicData>
        </a:graphic>
      </p:graphicFrame>
    </p:spTree>
    <p:extLst>
      <p:ext uri="{BB962C8B-B14F-4D97-AF65-F5344CB8AC3E}">
        <p14:creationId xmlns:p14="http://schemas.microsoft.com/office/powerpoint/2010/main" val="2721508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441C0-EFF5-6275-0516-D1095C5FB7D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5B12D43-6252-287A-5A04-723E6A852B22}"/>
              </a:ext>
            </a:extLst>
          </p:cNvPr>
          <p:cNvSpPr>
            <a:spLocks noGrp="1"/>
          </p:cNvSpPr>
          <p:nvPr>
            <p:ph type="title"/>
          </p:nvPr>
        </p:nvSpPr>
        <p:spPr>
          <a:xfrm>
            <a:off x="749301" y="1714818"/>
            <a:ext cx="3886200" cy="2810460"/>
          </a:xfrm>
        </p:spPr>
        <p:txBody>
          <a:bodyPr rtlCol="0">
            <a:normAutofit/>
          </a:bodyPr>
          <a:lstStyle/>
          <a:p>
            <a:pPr rtl="0"/>
            <a:r>
              <a:rPr lang="en-GB" sz="4800" dirty="0"/>
              <a:t>METODOLOGI PENELITIAN</a:t>
            </a:r>
            <a:endParaRPr lang="id-ID" sz="4800" dirty="0"/>
          </a:p>
        </p:txBody>
      </p:sp>
      <p:sp>
        <p:nvSpPr>
          <p:cNvPr id="3" name="Tampungan Tanggal 2">
            <a:extLst>
              <a:ext uri="{FF2B5EF4-FFF2-40B4-BE49-F238E27FC236}">
                <a16:creationId xmlns:a16="http://schemas.microsoft.com/office/drawing/2014/main" id="{F645C5A0-EC07-0352-097A-B1FF3FE3CA99}"/>
              </a:ext>
            </a:extLst>
          </p:cNvPr>
          <p:cNvSpPr>
            <a:spLocks noGrp="1"/>
          </p:cNvSpPr>
          <p:nvPr>
            <p:ph type="dt" sz="half" idx="10"/>
          </p:nvPr>
        </p:nvSpPr>
        <p:spPr/>
        <p:txBody>
          <a:bodyPr rtlCol="0"/>
          <a:lstStyle/>
          <a:p>
            <a:pPr rtl="0"/>
            <a:fld id="{A808DD98-197B-46F5-A6AA-BDA332D7E685}" type="datetime1">
              <a:rPr lang="id-ID" smtClean="0"/>
              <a:t>27/10/2025</a:t>
            </a:fld>
            <a:endParaRPr lang="id-ID"/>
          </a:p>
        </p:txBody>
      </p:sp>
      <p:sp>
        <p:nvSpPr>
          <p:cNvPr id="5" name="Tampungan Nomor Slide 4">
            <a:extLst>
              <a:ext uri="{FF2B5EF4-FFF2-40B4-BE49-F238E27FC236}">
                <a16:creationId xmlns:a16="http://schemas.microsoft.com/office/drawing/2014/main" id="{EEDDF600-206D-37A2-5704-42ADE2DC06CB}"/>
              </a:ext>
            </a:extLst>
          </p:cNvPr>
          <p:cNvSpPr>
            <a:spLocks noGrp="1"/>
          </p:cNvSpPr>
          <p:nvPr>
            <p:ph type="sldNum" sz="quarter" idx="12"/>
          </p:nvPr>
        </p:nvSpPr>
        <p:spPr/>
        <p:txBody>
          <a:bodyPr rtlCol="0"/>
          <a:lstStyle/>
          <a:p>
            <a:pPr rtl="0"/>
            <a:fld id="{294A09A9-5501-47C1-A89A-A340965A2BE2}" type="slidenum">
              <a:rPr lang="id-ID" smtClean="0"/>
              <a:pPr rtl="0"/>
              <a:t>22</a:t>
            </a:fld>
            <a:endParaRPr lang="id-ID"/>
          </a:p>
        </p:txBody>
      </p:sp>
      <p:pic>
        <p:nvPicPr>
          <p:cNvPr id="4" name="Picture 3">
            <a:extLst>
              <a:ext uri="{FF2B5EF4-FFF2-40B4-BE49-F238E27FC236}">
                <a16:creationId xmlns:a16="http://schemas.microsoft.com/office/drawing/2014/main" id="{1137B5F6-817B-71B9-4E37-FF685014D70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8244" y="272630"/>
            <a:ext cx="5217117" cy="6334647"/>
          </a:xfrm>
          <a:prstGeom prst="rect">
            <a:avLst/>
          </a:prstGeom>
          <a:solidFill>
            <a:schemeClr val="bg1"/>
          </a:solidFill>
          <a:ln>
            <a:noFill/>
          </a:ln>
        </p:spPr>
      </p:pic>
    </p:spTree>
    <p:extLst>
      <p:ext uri="{BB962C8B-B14F-4D97-AF65-F5344CB8AC3E}">
        <p14:creationId xmlns:p14="http://schemas.microsoft.com/office/powerpoint/2010/main" val="397964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rtlCol="0"/>
          <a:lstStyle/>
          <a:p>
            <a:pPr rtl="0"/>
            <a:r>
              <a:rPr lang="en-GB" dirty="0" err="1"/>
              <a:t>Metodologi</a:t>
            </a:r>
            <a:r>
              <a:rPr lang="en-GB" dirty="0"/>
              <a:t> </a:t>
            </a:r>
            <a:r>
              <a:rPr lang="en-GB" dirty="0" err="1"/>
              <a:t>Penelitian</a:t>
            </a:r>
            <a:r>
              <a:rPr lang="id-ID" dirty="0"/>
              <a:t> </a:t>
            </a:r>
          </a:p>
        </p:txBody>
      </p:sp>
      <p:sp>
        <p:nvSpPr>
          <p:cNvPr id="3" name="Tampungan Konten 2">
            <a:extLst>
              <a:ext uri="{FF2B5EF4-FFF2-40B4-BE49-F238E27FC236}">
                <a16:creationId xmlns:a16="http://schemas.microsoft.com/office/drawing/2014/main" id="{7B943E7C-A74D-4CB3-844B-51917C88C95F}"/>
              </a:ext>
            </a:extLst>
          </p:cNvPr>
          <p:cNvSpPr>
            <a:spLocks noGrp="1"/>
          </p:cNvSpPr>
          <p:nvPr>
            <p:ph type="body" idx="1"/>
          </p:nvPr>
        </p:nvSpPr>
        <p:spPr>
          <a:xfrm>
            <a:off x="430892" y="2640467"/>
            <a:ext cx="6795407" cy="3436483"/>
          </a:xfrm>
        </p:spPr>
        <p:txBody>
          <a:bodyPr vert="horz" lIns="91440" tIns="45720" rIns="91440" bIns="45720" rtlCol="0" anchor="t">
            <a:normAutofit fontScale="92500" lnSpcReduction="20000"/>
          </a:bodyPr>
          <a:lstStyle/>
          <a:p>
            <a:r>
              <a:rPr lang="id-ID" b="1" dirty="0"/>
              <a:t>Studi Literatur:</a:t>
            </a:r>
            <a:r>
              <a:rPr lang="id-ID" dirty="0"/>
              <a:t> Mengkaji penelitian-penelitian sebelumnya terkait model </a:t>
            </a:r>
            <a:r>
              <a:rPr lang="id-ID" dirty="0" err="1"/>
              <a:t>xG</a:t>
            </a:r>
            <a:r>
              <a:rPr lang="id-ID" dirty="0"/>
              <a:t> dan algoritma </a:t>
            </a:r>
            <a:r>
              <a:rPr lang="id-ID" i="1" dirty="0" err="1"/>
              <a:t>machine</a:t>
            </a:r>
            <a:r>
              <a:rPr lang="id-ID" i="1" dirty="0"/>
              <a:t> </a:t>
            </a:r>
            <a:r>
              <a:rPr lang="id-ID" i="1" dirty="0" err="1"/>
              <a:t>learning</a:t>
            </a:r>
            <a:r>
              <a:rPr lang="id-ID" dirty="0"/>
              <a:t> untuk memahami </a:t>
            </a:r>
            <a:r>
              <a:rPr lang="id-ID" i="1" dirty="0" err="1"/>
              <a:t>state-of-the-art</a:t>
            </a:r>
            <a:r>
              <a:rPr lang="id-ID" dirty="0"/>
              <a:t> dan mengidentifikasi celah penelitian (</a:t>
            </a:r>
            <a:r>
              <a:rPr lang="id-ID" i="1" dirty="0" err="1"/>
              <a:t>research</a:t>
            </a:r>
            <a:r>
              <a:rPr lang="id-ID" i="1" dirty="0"/>
              <a:t> gap</a:t>
            </a:r>
            <a:r>
              <a:rPr lang="id-ID" dirty="0"/>
              <a:t>).</a:t>
            </a:r>
          </a:p>
          <a:p>
            <a:r>
              <a:rPr lang="id-ID" b="1" dirty="0"/>
              <a:t>Perumusan Masalah:</a:t>
            </a:r>
            <a:r>
              <a:rPr lang="id-ID" dirty="0"/>
              <a:t> Menetapkan masalah, tujuan, dan ruang lingkup penelitian secara spesifik berdasarkan temuan dari studi literatur.</a:t>
            </a:r>
          </a:p>
        </p:txBody>
      </p:sp>
      <p:sp>
        <p:nvSpPr>
          <p:cNvPr id="6" name="Tampungan Nomor Slide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23</a:t>
            </a:fld>
            <a:endParaRPr lang="id-ID"/>
          </a:p>
        </p:txBody>
      </p:sp>
      <p:pic>
        <p:nvPicPr>
          <p:cNvPr id="4" name="Picture 3">
            <a:extLst>
              <a:ext uri="{FF2B5EF4-FFF2-40B4-BE49-F238E27FC236}">
                <a16:creationId xmlns:a16="http://schemas.microsoft.com/office/drawing/2014/main" id="{F5F4A71E-E144-FDA3-2477-460FD183357F}"/>
              </a:ext>
            </a:extLst>
          </p:cNvPr>
          <p:cNvPicPr>
            <a:picLocks noChangeAspect="1"/>
          </p:cNvPicPr>
          <p:nvPr/>
        </p:nvPicPr>
        <p:blipFill>
          <a:blip r:embed="rId3" cstate="print">
            <a:extLst>
              <a:ext uri="{28A0092B-C50C-407E-A947-70E740481C1C}">
                <a14:useLocalDpi xmlns:a14="http://schemas.microsoft.com/office/drawing/2010/main" val="0"/>
              </a:ext>
            </a:extLst>
          </a:blip>
          <a:srcRect l="22906" r="28689" b="75028"/>
          <a:stretch>
            <a:fillRect/>
          </a:stretch>
        </p:blipFill>
        <p:spPr bwMode="auto">
          <a:xfrm>
            <a:off x="7536425" y="2638064"/>
            <a:ext cx="4288175" cy="2686104"/>
          </a:xfrm>
          <a:prstGeom prst="rect">
            <a:avLst/>
          </a:prstGeom>
          <a:solidFill>
            <a:schemeClr val="bg1"/>
          </a:solidFill>
          <a:ln>
            <a:noFill/>
          </a:ln>
        </p:spPr>
      </p:pic>
    </p:spTree>
    <p:extLst>
      <p:ext uri="{BB962C8B-B14F-4D97-AF65-F5344CB8AC3E}">
        <p14:creationId xmlns:p14="http://schemas.microsoft.com/office/powerpoint/2010/main" val="445070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Judul 2">
            <a:extLst>
              <a:ext uri="{FF2B5EF4-FFF2-40B4-BE49-F238E27FC236}">
                <a16:creationId xmlns:a16="http://schemas.microsoft.com/office/drawing/2014/main" id="{C55E2E3E-148D-4BE4-88A4-447C4BC35E68}"/>
              </a:ext>
            </a:extLst>
          </p:cNvPr>
          <p:cNvSpPr>
            <a:spLocks noGrp="1"/>
          </p:cNvSpPr>
          <p:nvPr>
            <p:ph type="title"/>
          </p:nvPr>
        </p:nvSpPr>
        <p:spPr/>
        <p:txBody>
          <a:bodyPr rtlCol="0"/>
          <a:lstStyle/>
          <a:p>
            <a:r>
              <a:rPr lang="en-GB" dirty="0" err="1"/>
              <a:t>Metodologi</a:t>
            </a:r>
            <a:r>
              <a:rPr lang="en-GB" dirty="0"/>
              <a:t> </a:t>
            </a:r>
            <a:r>
              <a:rPr lang="en-GB" dirty="0" err="1"/>
              <a:t>Penelitian</a:t>
            </a:r>
            <a:r>
              <a:rPr lang="id-ID" dirty="0"/>
              <a:t> </a:t>
            </a:r>
          </a:p>
        </p:txBody>
      </p:sp>
      <p:sp>
        <p:nvSpPr>
          <p:cNvPr id="6" name="Tampungan Nomor Slide 5">
            <a:extLst>
              <a:ext uri="{FF2B5EF4-FFF2-40B4-BE49-F238E27FC236}">
                <a16:creationId xmlns:a16="http://schemas.microsoft.com/office/drawing/2014/main" id="{280037C3-0E79-CD4B-92A9-5B5F9E74A60B}"/>
              </a:ext>
            </a:extLst>
          </p:cNvPr>
          <p:cNvSpPr>
            <a:spLocks noGrp="1"/>
          </p:cNvSpPr>
          <p:nvPr>
            <p:ph type="sldNum" sz="quarter" idx="4"/>
          </p:nvPr>
        </p:nvSpPr>
        <p:spPr/>
        <p:txBody>
          <a:bodyPr rtlCol="0"/>
          <a:lstStyle/>
          <a:p>
            <a:pPr rtl="0"/>
            <a:fld id="{294A09A9-5501-47C1-A89A-A340965A2BE2}" type="slidenum">
              <a:rPr lang="id-ID" smtClean="0"/>
              <a:t>24</a:t>
            </a:fld>
            <a:endParaRPr lang="id-ID" dirty="0"/>
          </a:p>
        </p:txBody>
      </p:sp>
      <p:sp>
        <p:nvSpPr>
          <p:cNvPr id="9" name="TextBox 8">
            <a:extLst>
              <a:ext uri="{FF2B5EF4-FFF2-40B4-BE49-F238E27FC236}">
                <a16:creationId xmlns:a16="http://schemas.microsoft.com/office/drawing/2014/main" id="{823393FD-2CC1-A7D2-2E4C-5722E88A47CE}"/>
              </a:ext>
            </a:extLst>
          </p:cNvPr>
          <p:cNvSpPr txBox="1"/>
          <p:nvPr/>
        </p:nvSpPr>
        <p:spPr>
          <a:xfrm>
            <a:off x="696450" y="1895163"/>
            <a:ext cx="6096000" cy="3785652"/>
          </a:xfrm>
          <a:prstGeom prst="rect">
            <a:avLst/>
          </a:prstGeom>
          <a:noFill/>
        </p:spPr>
        <p:txBody>
          <a:bodyPr wrap="square">
            <a:spAutoFit/>
          </a:bodyPr>
          <a:lstStyle/>
          <a:p>
            <a:pPr marL="285750" indent="-285750">
              <a:buFont typeface="Arial" panose="020B0604020202020204" pitchFamily="34" charset="0"/>
              <a:buChar char="•"/>
            </a:pPr>
            <a:r>
              <a:rPr lang="id-ID" sz="2000" b="1" dirty="0">
                <a:solidFill>
                  <a:schemeClr val="bg1"/>
                </a:solidFill>
              </a:rPr>
              <a:t>Kerangka Kerja KDD (</a:t>
            </a:r>
            <a:r>
              <a:rPr lang="id-ID" sz="2000" b="1" dirty="0" err="1">
                <a:solidFill>
                  <a:schemeClr val="bg1"/>
                </a:solidFill>
              </a:rPr>
              <a:t>Knowledge</a:t>
            </a:r>
            <a:r>
              <a:rPr lang="id-ID" sz="2000" b="1" dirty="0">
                <a:solidFill>
                  <a:schemeClr val="bg1"/>
                </a:solidFill>
              </a:rPr>
              <a:t> </a:t>
            </a:r>
            <a:r>
              <a:rPr lang="id-ID" sz="2000" b="1" dirty="0" err="1">
                <a:solidFill>
                  <a:schemeClr val="bg1"/>
                </a:solidFill>
              </a:rPr>
              <a:t>Discovery</a:t>
            </a:r>
            <a:r>
              <a:rPr lang="id-ID" sz="2000" b="1" dirty="0">
                <a:solidFill>
                  <a:schemeClr val="bg1"/>
                </a:solidFill>
              </a:rPr>
              <a:t> in </a:t>
            </a:r>
            <a:r>
              <a:rPr lang="id-ID" sz="2000" b="1" dirty="0" err="1">
                <a:solidFill>
                  <a:schemeClr val="bg1"/>
                </a:solidFill>
              </a:rPr>
              <a:t>Databases</a:t>
            </a:r>
            <a:r>
              <a:rPr lang="id-ID" sz="2000" b="1" dirty="0">
                <a:solidFill>
                  <a:schemeClr val="bg1"/>
                </a:solidFill>
              </a:rPr>
              <a:t>)</a:t>
            </a:r>
          </a:p>
          <a:p>
            <a:pPr marL="285750" indent="-285750">
              <a:buFont typeface="Arial" panose="020B0604020202020204" pitchFamily="34" charset="0"/>
              <a:buChar char="•"/>
            </a:pPr>
            <a:r>
              <a:rPr lang="id-ID" sz="2000" dirty="0">
                <a:solidFill>
                  <a:schemeClr val="bg1"/>
                </a:solidFill>
              </a:rPr>
              <a:t>Penelitian ini mengadopsi kerangka kerja </a:t>
            </a:r>
            <a:r>
              <a:rPr lang="id-ID" sz="2000" b="1" dirty="0">
                <a:solidFill>
                  <a:schemeClr val="bg1"/>
                </a:solidFill>
              </a:rPr>
              <a:t>KDD</a:t>
            </a:r>
            <a:r>
              <a:rPr lang="id-ID" sz="2000" dirty="0">
                <a:solidFill>
                  <a:schemeClr val="bg1"/>
                </a:solidFill>
              </a:rPr>
              <a:t> untuk memproses data secara sistematis, mulai dari pengumpulan data hingga evaluasi model akhir.</a:t>
            </a:r>
          </a:p>
          <a:p>
            <a:pPr marL="285750" indent="-285750">
              <a:buFont typeface="Arial" panose="020B0604020202020204" pitchFamily="34" charset="0"/>
              <a:buChar char="•"/>
            </a:pPr>
            <a:r>
              <a:rPr lang="id-ID" sz="2000" b="1" dirty="0">
                <a:solidFill>
                  <a:schemeClr val="bg1"/>
                </a:solidFill>
              </a:rPr>
              <a:t>Proses KDD yang dilakukan meliputi:</a:t>
            </a:r>
            <a:endParaRPr lang="id-ID" sz="2000" dirty="0">
              <a:solidFill>
                <a:schemeClr val="bg1"/>
              </a:solidFill>
            </a:endParaRPr>
          </a:p>
          <a:p>
            <a:pPr marL="742950" lvl="1" indent="-285750">
              <a:buFont typeface="Arial" panose="020B0604020202020204" pitchFamily="34" charset="0"/>
              <a:buChar char="•"/>
            </a:pPr>
            <a:r>
              <a:rPr lang="en-GB" sz="2000" dirty="0">
                <a:solidFill>
                  <a:schemeClr val="bg1"/>
                </a:solidFill>
              </a:rPr>
              <a:t>Data Selection</a:t>
            </a:r>
            <a:endParaRPr lang="id-ID" sz="2000" dirty="0">
              <a:solidFill>
                <a:schemeClr val="bg1"/>
              </a:solidFill>
            </a:endParaRPr>
          </a:p>
          <a:p>
            <a:pPr marL="742950" lvl="1" indent="-285750">
              <a:buFont typeface="Arial" panose="020B0604020202020204" pitchFamily="34" charset="0"/>
              <a:buChar char="•"/>
            </a:pPr>
            <a:r>
              <a:rPr lang="en-GB" sz="2000" dirty="0">
                <a:solidFill>
                  <a:schemeClr val="bg1"/>
                </a:solidFill>
              </a:rPr>
              <a:t>Data Preprocessing</a:t>
            </a:r>
            <a:endParaRPr lang="id-ID" sz="2000" dirty="0">
              <a:solidFill>
                <a:schemeClr val="bg1"/>
              </a:solidFill>
            </a:endParaRPr>
          </a:p>
          <a:p>
            <a:pPr marL="742950" lvl="1" indent="-285750">
              <a:buFont typeface="Arial" panose="020B0604020202020204" pitchFamily="34" charset="0"/>
              <a:buChar char="•"/>
            </a:pPr>
            <a:r>
              <a:rPr lang="en-GB" sz="2000" dirty="0">
                <a:solidFill>
                  <a:schemeClr val="bg1"/>
                </a:solidFill>
              </a:rPr>
              <a:t>Data Transformation</a:t>
            </a:r>
          </a:p>
          <a:p>
            <a:pPr marL="742950" lvl="1" indent="-285750">
              <a:buFont typeface="Arial" panose="020B0604020202020204" pitchFamily="34" charset="0"/>
              <a:buChar char="•"/>
            </a:pPr>
            <a:r>
              <a:rPr lang="en-GB" sz="2000" dirty="0">
                <a:solidFill>
                  <a:schemeClr val="bg1"/>
                </a:solidFill>
              </a:rPr>
              <a:t>Data Mining</a:t>
            </a:r>
          </a:p>
          <a:p>
            <a:pPr marL="742950" lvl="1" indent="-285750">
              <a:buFont typeface="Arial" panose="020B0604020202020204" pitchFamily="34" charset="0"/>
              <a:buChar char="•"/>
            </a:pPr>
            <a:r>
              <a:rPr lang="en-GB" sz="2000" dirty="0">
                <a:solidFill>
                  <a:schemeClr val="bg1"/>
                </a:solidFill>
              </a:rPr>
              <a:t>Evaluation</a:t>
            </a:r>
            <a:endParaRPr lang="id-ID" sz="2000" dirty="0">
              <a:solidFill>
                <a:schemeClr val="bg1"/>
              </a:solidFill>
            </a:endParaRPr>
          </a:p>
        </p:txBody>
      </p:sp>
      <p:pic>
        <p:nvPicPr>
          <p:cNvPr id="2" name="Picture 1">
            <a:extLst>
              <a:ext uri="{FF2B5EF4-FFF2-40B4-BE49-F238E27FC236}">
                <a16:creationId xmlns:a16="http://schemas.microsoft.com/office/drawing/2014/main" id="{151EA97F-4A7D-3BB8-DAEA-3B416643E029}"/>
              </a:ext>
            </a:extLst>
          </p:cNvPr>
          <p:cNvPicPr>
            <a:picLocks noChangeAspect="1"/>
          </p:cNvPicPr>
          <p:nvPr/>
        </p:nvPicPr>
        <p:blipFill>
          <a:blip r:embed="rId3" cstate="print">
            <a:extLst>
              <a:ext uri="{28A0092B-C50C-407E-A947-70E740481C1C}">
                <a14:useLocalDpi xmlns:a14="http://schemas.microsoft.com/office/drawing/2010/main" val="0"/>
              </a:ext>
            </a:extLst>
          </a:blip>
          <a:srcRect l="26265" t="24336"/>
          <a:stretch>
            <a:fillRect/>
          </a:stretch>
        </p:blipFill>
        <p:spPr bwMode="auto">
          <a:xfrm>
            <a:off x="7234903" y="639762"/>
            <a:ext cx="4576096" cy="5701602"/>
          </a:xfrm>
          <a:prstGeom prst="rect">
            <a:avLst/>
          </a:prstGeom>
          <a:solidFill>
            <a:schemeClr val="bg1"/>
          </a:solidFill>
          <a:ln>
            <a:noFill/>
          </a:ln>
        </p:spPr>
      </p:pic>
    </p:spTree>
    <p:extLst>
      <p:ext uri="{BB962C8B-B14F-4D97-AF65-F5344CB8AC3E}">
        <p14:creationId xmlns:p14="http://schemas.microsoft.com/office/powerpoint/2010/main" val="932498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C635F-FBAA-FDD9-CF71-BD007E5AD88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4C70685-1C99-35D8-F2A8-F508D0CBA3E6}"/>
              </a:ext>
            </a:extLst>
          </p:cNvPr>
          <p:cNvSpPr>
            <a:spLocks noGrp="1"/>
          </p:cNvSpPr>
          <p:nvPr>
            <p:ph type="title"/>
          </p:nvPr>
        </p:nvSpPr>
        <p:spPr>
          <a:xfrm>
            <a:off x="1167492" y="381000"/>
            <a:ext cx="9779183" cy="1325563"/>
          </a:xfrm>
        </p:spPr>
        <p:txBody>
          <a:bodyPr rtlCol="0"/>
          <a:lstStyle/>
          <a:p>
            <a:pPr rtl="0"/>
            <a:r>
              <a:rPr lang="en-GB" dirty="0" err="1"/>
              <a:t>Metodologi</a:t>
            </a:r>
            <a:r>
              <a:rPr lang="en-GB" dirty="0"/>
              <a:t> </a:t>
            </a:r>
            <a:r>
              <a:rPr lang="en-GB" dirty="0" err="1"/>
              <a:t>Penelitian</a:t>
            </a:r>
            <a:r>
              <a:rPr lang="id-ID" dirty="0"/>
              <a:t> </a:t>
            </a:r>
          </a:p>
        </p:txBody>
      </p:sp>
      <p:sp>
        <p:nvSpPr>
          <p:cNvPr id="3" name="Tampungan Konten 2">
            <a:extLst>
              <a:ext uri="{FF2B5EF4-FFF2-40B4-BE49-F238E27FC236}">
                <a16:creationId xmlns:a16="http://schemas.microsoft.com/office/drawing/2014/main" id="{4C84235F-1E29-7F6C-4967-E9E430E1EA77}"/>
              </a:ext>
            </a:extLst>
          </p:cNvPr>
          <p:cNvSpPr>
            <a:spLocks noGrp="1"/>
          </p:cNvSpPr>
          <p:nvPr>
            <p:ph type="body" idx="1"/>
          </p:nvPr>
        </p:nvSpPr>
        <p:spPr>
          <a:xfrm>
            <a:off x="430892" y="2640467"/>
            <a:ext cx="6795407" cy="3436483"/>
          </a:xfrm>
        </p:spPr>
        <p:txBody>
          <a:bodyPr vert="horz" lIns="91440" tIns="45720" rIns="91440" bIns="45720" rtlCol="0" anchor="t">
            <a:normAutofit fontScale="85000" lnSpcReduction="10000"/>
          </a:bodyPr>
          <a:lstStyle/>
          <a:p>
            <a:pPr marL="342900" indent="-342900">
              <a:buFont typeface="Arial" panose="020B0604020202020204" pitchFamily="34" charset="0"/>
              <a:buChar char="•"/>
            </a:pPr>
            <a:r>
              <a:rPr lang="en-GB" b="1" dirty="0" err="1"/>
              <a:t>Interpretasi</a:t>
            </a:r>
            <a:r>
              <a:rPr lang="id-ID" b="1" dirty="0"/>
              <a:t>:</a:t>
            </a:r>
            <a:r>
              <a:rPr lang="id-ID" dirty="0"/>
              <a:t> Hasil evaluasi (akurasi dan efisiensi) akan dianalisis secara mendalam dan dibandingkan dengan tolok ukur akademis serta industri untuk memberikan konteks yang menyeluruh.</a:t>
            </a:r>
          </a:p>
          <a:p>
            <a:pPr marL="342900" indent="-342900">
              <a:buFont typeface="Arial" panose="020B0604020202020204" pitchFamily="34" charset="0"/>
              <a:buChar char="•"/>
            </a:pPr>
            <a:r>
              <a:rPr lang="id-ID" b="1" dirty="0"/>
              <a:t>Implikasi Penelitian:</a:t>
            </a:r>
            <a:r>
              <a:rPr lang="id-ID" dirty="0"/>
              <a:t> Merumuskan dampak dari hasil penelitian, baik secara teoretis (untuk pengembangan ilmu) maupun praktis (untuk industri sepak bola).</a:t>
            </a:r>
          </a:p>
        </p:txBody>
      </p:sp>
      <p:sp>
        <p:nvSpPr>
          <p:cNvPr id="6" name="Tampungan Nomor Slide 5">
            <a:extLst>
              <a:ext uri="{FF2B5EF4-FFF2-40B4-BE49-F238E27FC236}">
                <a16:creationId xmlns:a16="http://schemas.microsoft.com/office/drawing/2014/main" id="{A55421C3-8898-EC61-B57F-500221B6B119}"/>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id-ID" smtClean="0"/>
              <a:pPr rtl="0"/>
              <a:t>25</a:t>
            </a:fld>
            <a:endParaRPr lang="id-ID"/>
          </a:p>
        </p:txBody>
      </p:sp>
      <p:pic>
        <p:nvPicPr>
          <p:cNvPr id="7" name="Picture 6">
            <a:extLst>
              <a:ext uri="{FF2B5EF4-FFF2-40B4-BE49-F238E27FC236}">
                <a16:creationId xmlns:a16="http://schemas.microsoft.com/office/drawing/2014/main" id="{547BDAAC-C337-B276-6B66-6DEA81D8CE62}"/>
              </a:ext>
            </a:extLst>
          </p:cNvPr>
          <p:cNvPicPr>
            <a:picLocks noChangeAspect="1"/>
          </p:cNvPicPr>
          <p:nvPr/>
        </p:nvPicPr>
        <p:blipFill>
          <a:blip r:embed="rId3" cstate="print">
            <a:extLst>
              <a:ext uri="{28A0092B-C50C-407E-A947-70E740481C1C}">
                <a14:useLocalDpi xmlns:a14="http://schemas.microsoft.com/office/drawing/2010/main" val="0"/>
              </a:ext>
            </a:extLst>
          </a:blip>
          <a:srcRect l="-628" t="68359" r="69812" b="-2308"/>
          <a:stretch>
            <a:fillRect/>
          </a:stretch>
        </p:blipFill>
        <p:spPr bwMode="auto">
          <a:xfrm>
            <a:off x="7986058" y="3123820"/>
            <a:ext cx="2515629" cy="2469776"/>
          </a:xfrm>
          <a:prstGeom prst="rect">
            <a:avLst/>
          </a:prstGeom>
          <a:solidFill>
            <a:schemeClr val="bg1"/>
          </a:solidFill>
          <a:ln>
            <a:noFill/>
          </a:ln>
        </p:spPr>
      </p:pic>
    </p:spTree>
    <p:extLst>
      <p:ext uri="{BB962C8B-B14F-4D97-AF65-F5344CB8AC3E}">
        <p14:creationId xmlns:p14="http://schemas.microsoft.com/office/powerpoint/2010/main" val="206355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22D6-7CC8-EF15-8F0A-E57699AE1AA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4FEBBCB3-745D-1684-2E21-84343A3616DA}"/>
              </a:ext>
            </a:extLst>
          </p:cNvPr>
          <p:cNvSpPr>
            <a:spLocks noGrp="1"/>
          </p:cNvSpPr>
          <p:nvPr>
            <p:ph type="title"/>
          </p:nvPr>
        </p:nvSpPr>
        <p:spPr>
          <a:xfrm>
            <a:off x="578670" y="1803307"/>
            <a:ext cx="4265150" cy="2810460"/>
          </a:xfrm>
        </p:spPr>
        <p:txBody>
          <a:bodyPr rtlCol="0">
            <a:normAutofit/>
          </a:bodyPr>
          <a:lstStyle/>
          <a:p>
            <a:pPr rtl="0"/>
            <a:r>
              <a:rPr lang="en-GB" sz="4800" dirty="0"/>
              <a:t>HASIL DAN PEMBAHASAN</a:t>
            </a:r>
            <a:endParaRPr lang="id-ID" sz="4800" dirty="0"/>
          </a:p>
        </p:txBody>
      </p:sp>
      <p:sp>
        <p:nvSpPr>
          <p:cNvPr id="3" name="Tampungan Tanggal 2">
            <a:extLst>
              <a:ext uri="{FF2B5EF4-FFF2-40B4-BE49-F238E27FC236}">
                <a16:creationId xmlns:a16="http://schemas.microsoft.com/office/drawing/2014/main" id="{FF1C000C-9C6D-A5E5-4327-2F4B5006591D}"/>
              </a:ext>
            </a:extLst>
          </p:cNvPr>
          <p:cNvSpPr>
            <a:spLocks noGrp="1"/>
          </p:cNvSpPr>
          <p:nvPr>
            <p:ph type="dt" sz="half" idx="10"/>
          </p:nvPr>
        </p:nvSpPr>
        <p:spPr/>
        <p:txBody>
          <a:bodyPr rtlCol="0"/>
          <a:lstStyle/>
          <a:p>
            <a:pPr rtl="0"/>
            <a:fld id="{A808DD98-197B-46F5-A6AA-BDA332D7E685}" type="datetime1">
              <a:rPr lang="id-ID" smtClean="0"/>
              <a:t>27/10/2025</a:t>
            </a:fld>
            <a:endParaRPr lang="id-ID"/>
          </a:p>
        </p:txBody>
      </p:sp>
      <p:sp>
        <p:nvSpPr>
          <p:cNvPr id="5" name="Tampungan Nomor Slide 4">
            <a:extLst>
              <a:ext uri="{FF2B5EF4-FFF2-40B4-BE49-F238E27FC236}">
                <a16:creationId xmlns:a16="http://schemas.microsoft.com/office/drawing/2014/main" id="{C264A00E-883A-9393-8F36-0357416C490F}"/>
              </a:ext>
            </a:extLst>
          </p:cNvPr>
          <p:cNvSpPr>
            <a:spLocks noGrp="1"/>
          </p:cNvSpPr>
          <p:nvPr>
            <p:ph type="sldNum" sz="quarter" idx="12"/>
          </p:nvPr>
        </p:nvSpPr>
        <p:spPr/>
        <p:txBody>
          <a:bodyPr rtlCol="0"/>
          <a:lstStyle/>
          <a:p>
            <a:pPr rtl="0"/>
            <a:fld id="{294A09A9-5501-47C1-A89A-A340965A2BE2}" type="slidenum">
              <a:rPr lang="id-ID" smtClean="0"/>
              <a:pPr rtl="0"/>
              <a:t>26</a:t>
            </a:fld>
            <a:endParaRPr lang="id-ID"/>
          </a:p>
        </p:txBody>
      </p:sp>
      <p:pic>
        <p:nvPicPr>
          <p:cNvPr id="6" name="Picture 5">
            <a:extLst>
              <a:ext uri="{FF2B5EF4-FFF2-40B4-BE49-F238E27FC236}">
                <a16:creationId xmlns:a16="http://schemas.microsoft.com/office/drawing/2014/main" id="{2D50D84C-730C-5EF2-F13C-1C414622F2B0}"/>
              </a:ext>
            </a:extLst>
          </p:cNvPr>
          <p:cNvPicPr>
            <a:picLocks noChangeAspect="1"/>
          </p:cNvPicPr>
          <p:nvPr/>
        </p:nvPicPr>
        <p:blipFill>
          <a:blip r:embed="rId3"/>
          <a:srcRect l="22141" t="27012" r="3531" b="697"/>
          <a:stretch>
            <a:fillRect/>
          </a:stretch>
        </p:blipFill>
        <p:spPr>
          <a:xfrm>
            <a:off x="5256776" y="1803307"/>
            <a:ext cx="6967332" cy="2989919"/>
          </a:xfrm>
          <a:prstGeom prst="rect">
            <a:avLst/>
          </a:prstGeom>
        </p:spPr>
      </p:pic>
    </p:spTree>
    <p:extLst>
      <p:ext uri="{BB962C8B-B14F-4D97-AF65-F5344CB8AC3E}">
        <p14:creationId xmlns:p14="http://schemas.microsoft.com/office/powerpoint/2010/main" val="3081573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35A9A-B068-175F-290F-D44164ED21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79287028-73A1-682A-2E50-514B7652A422}"/>
              </a:ext>
            </a:extLst>
          </p:cNvPr>
          <p:cNvSpPr>
            <a:spLocks noGrp="1"/>
          </p:cNvSpPr>
          <p:nvPr>
            <p:ph type="title"/>
          </p:nvPr>
        </p:nvSpPr>
        <p:spPr>
          <a:xfrm>
            <a:off x="1167492" y="381000"/>
            <a:ext cx="9779183" cy="1325563"/>
          </a:xfrm>
        </p:spPr>
        <p:txBody>
          <a:bodyPr rtlCol="0"/>
          <a:lstStyle/>
          <a:p>
            <a:pPr rtl="0"/>
            <a:r>
              <a:rPr lang="en-GB" dirty="0"/>
              <a:t>Selection</a:t>
            </a:r>
            <a:endParaRPr lang="id-ID" dirty="0"/>
          </a:p>
        </p:txBody>
      </p:sp>
      <p:sp>
        <p:nvSpPr>
          <p:cNvPr id="3" name="Tampungan Konten 2">
            <a:extLst>
              <a:ext uri="{FF2B5EF4-FFF2-40B4-BE49-F238E27FC236}">
                <a16:creationId xmlns:a16="http://schemas.microsoft.com/office/drawing/2014/main" id="{7C88B41D-1F55-59AF-D709-22588D13B4F1}"/>
              </a:ext>
            </a:extLst>
          </p:cNvPr>
          <p:cNvSpPr>
            <a:spLocks noGrp="1"/>
          </p:cNvSpPr>
          <p:nvPr>
            <p:ph idx="1"/>
          </p:nvPr>
        </p:nvSpPr>
        <p:spPr>
          <a:xfrm>
            <a:off x="1167492" y="1624051"/>
            <a:ext cx="9779182" cy="3526990"/>
          </a:xfrm>
        </p:spPr>
        <p:txBody>
          <a:bodyPr vert="horz" lIns="91440" tIns="45720" rIns="91440" bIns="45720" rtlCol="0" anchor="t">
            <a:normAutofit/>
          </a:bodyPr>
          <a:lstStyle/>
          <a:p>
            <a:r>
              <a:rPr lang="id-ID" sz="2000" dirty="0"/>
              <a:t>Proses diawali dengan seleksi data dari repositori publik </a:t>
            </a:r>
            <a:r>
              <a:rPr lang="id-ID" sz="2000" dirty="0" err="1"/>
              <a:t>StatsBomb</a:t>
            </a:r>
            <a:r>
              <a:rPr lang="id-ID" sz="2000" dirty="0"/>
              <a:t>, dengan fokus pada 10 kompetisi sepak bola pria tingkat atas berikut:</a:t>
            </a:r>
          </a:p>
        </p:txBody>
      </p:sp>
      <p:sp>
        <p:nvSpPr>
          <p:cNvPr id="4" name="Tampungan Tanggal 3">
            <a:extLst>
              <a:ext uri="{FF2B5EF4-FFF2-40B4-BE49-F238E27FC236}">
                <a16:creationId xmlns:a16="http://schemas.microsoft.com/office/drawing/2014/main" id="{FF02812F-9B55-9F02-F79F-35A3C4BE69E4}"/>
              </a:ext>
            </a:extLst>
          </p:cNvPr>
          <p:cNvSpPr>
            <a:spLocks noGrp="1"/>
          </p:cNvSpPr>
          <p:nvPr>
            <p:ph type="dt" sz="half" idx="2"/>
          </p:nvPr>
        </p:nvSpPr>
        <p:spPr>
          <a:xfrm>
            <a:off x="381000" y="6356350"/>
            <a:ext cx="2743200" cy="365125"/>
          </a:xfrm>
        </p:spPr>
        <p:txBody>
          <a:bodyPr rtlCol="0"/>
          <a:lstStyle/>
          <a:p>
            <a:pPr rtl="0"/>
            <a:fld id="{70C69C4D-CAFD-4E0E-94E0-4B1709D96441}" type="datetime1">
              <a:rPr lang="id-ID" smtClean="0"/>
              <a:t>27/10/2025</a:t>
            </a:fld>
            <a:endParaRPr lang="id-ID"/>
          </a:p>
        </p:txBody>
      </p:sp>
      <p:sp>
        <p:nvSpPr>
          <p:cNvPr id="6" name="Tampungan Nomor Slide 5">
            <a:extLst>
              <a:ext uri="{FF2B5EF4-FFF2-40B4-BE49-F238E27FC236}">
                <a16:creationId xmlns:a16="http://schemas.microsoft.com/office/drawing/2014/main" id="{458856AD-A3CC-D2B0-B82E-E45FCA8A094A}"/>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27</a:t>
            </a:fld>
            <a:endParaRPr lang="id-ID"/>
          </a:p>
        </p:txBody>
      </p:sp>
      <p:graphicFrame>
        <p:nvGraphicFramePr>
          <p:cNvPr id="5" name="Table 4">
            <a:extLst>
              <a:ext uri="{FF2B5EF4-FFF2-40B4-BE49-F238E27FC236}">
                <a16:creationId xmlns:a16="http://schemas.microsoft.com/office/drawing/2014/main" id="{FB9C68DE-97EE-9A0E-75DC-D450CE174723}"/>
              </a:ext>
            </a:extLst>
          </p:cNvPr>
          <p:cNvGraphicFramePr>
            <a:graphicFrameLocks noGrp="1"/>
          </p:cNvGraphicFramePr>
          <p:nvPr>
            <p:extLst>
              <p:ext uri="{D42A27DB-BD31-4B8C-83A1-F6EECF244321}">
                <p14:modId xmlns:p14="http://schemas.microsoft.com/office/powerpoint/2010/main" val="714735587"/>
              </p:ext>
            </p:extLst>
          </p:nvPr>
        </p:nvGraphicFramePr>
        <p:xfrm>
          <a:off x="1245326" y="2277110"/>
          <a:ext cx="6158364" cy="4079240"/>
        </p:xfrm>
        <a:graphic>
          <a:graphicData uri="http://schemas.openxmlformats.org/drawingml/2006/table">
            <a:tbl>
              <a:tblPr firstRow="1" bandRow="1">
                <a:tableStyleId>{5C22544A-7EE6-4342-B048-85BDC9FD1C3A}</a:tableStyleId>
              </a:tblPr>
              <a:tblGrid>
                <a:gridCol w="538236">
                  <a:extLst>
                    <a:ext uri="{9D8B030D-6E8A-4147-A177-3AD203B41FA5}">
                      <a16:colId xmlns:a16="http://schemas.microsoft.com/office/drawing/2014/main" val="2070179836"/>
                    </a:ext>
                  </a:extLst>
                </a:gridCol>
                <a:gridCol w="5620128">
                  <a:extLst>
                    <a:ext uri="{9D8B030D-6E8A-4147-A177-3AD203B41FA5}">
                      <a16:colId xmlns:a16="http://schemas.microsoft.com/office/drawing/2014/main" val="3427104523"/>
                    </a:ext>
                  </a:extLst>
                </a:gridCol>
              </a:tblGrid>
              <a:tr h="370840">
                <a:tc>
                  <a:txBody>
                    <a:bodyPr/>
                    <a:lstStyle/>
                    <a:p>
                      <a:r>
                        <a:rPr lang="en-GB" dirty="0"/>
                        <a:t>No</a:t>
                      </a:r>
                      <a:endParaRPr lang="id-ID" dirty="0"/>
                    </a:p>
                  </a:txBody>
                  <a:tcPr/>
                </a:tc>
                <a:tc>
                  <a:txBody>
                    <a:bodyPr/>
                    <a:lstStyle/>
                    <a:p>
                      <a:r>
                        <a:rPr lang="id-ID" dirty="0"/>
                        <a:t>Nama Kompetisi</a:t>
                      </a:r>
                    </a:p>
                  </a:txBody>
                  <a:tcPr/>
                </a:tc>
                <a:extLst>
                  <a:ext uri="{0D108BD9-81ED-4DB2-BD59-A6C34878D82A}">
                    <a16:rowId xmlns:a16="http://schemas.microsoft.com/office/drawing/2014/main" val="966010415"/>
                  </a:ext>
                </a:extLst>
              </a:tr>
              <a:tr h="370840">
                <a:tc>
                  <a:txBody>
                    <a:bodyPr/>
                    <a:lstStyle/>
                    <a:p>
                      <a:r>
                        <a:rPr lang="en-GB" dirty="0"/>
                        <a:t>1</a:t>
                      </a:r>
                      <a:endParaRPr lang="id-ID" dirty="0"/>
                    </a:p>
                  </a:txBody>
                  <a:tcPr/>
                </a:tc>
                <a:tc>
                  <a:txBody>
                    <a:bodyPr/>
                    <a:lstStyle/>
                    <a:p>
                      <a:r>
                        <a:rPr lang="id-ID" dirty="0"/>
                        <a:t>FIFA World Cup</a:t>
                      </a:r>
                    </a:p>
                  </a:txBody>
                  <a:tcPr/>
                </a:tc>
                <a:extLst>
                  <a:ext uri="{0D108BD9-81ED-4DB2-BD59-A6C34878D82A}">
                    <a16:rowId xmlns:a16="http://schemas.microsoft.com/office/drawing/2014/main" val="3199784307"/>
                  </a:ext>
                </a:extLst>
              </a:tr>
              <a:tr h="370840">
                <a:tc>
                  <a:txBody>
                    <a:bodyPr/>
                    <a:lstStyle/>
                    <a:p>
                      <a:r>
                        <a:rPr lang="en-GB" dirty="0"/>
                        <a:t>2</a:t>
                      </a:r>
                      <a:endParaRPr lang="id-ID" dirty="0"/>
                    </a:p>
                  </a:txBody>
                  <a:tcPr/>
                </a:tc>
                <a:tc>
                  <a:txBody>
                    <a:bodyPr/>
                    <a:lstStyle/>
                    <a:p>
                      <a:r>
                        <a:rPr lang="id-ID" dirty="0" err="1"/>
                        <a:t>Premier</a:t>
                      </a:r>
                      <a:r>
                        <a:rPr lang="id-ID" dirty="0"/>
                        <a:t> </a:t>
                      </a:r>
                      <a:r>
                        <a:rPr lang="id-ID" dirty="0" err="1"/>
                        <a:t>League</a:t>
                      </a:r>
                      <a:endParaRPr lang="id-ID" dirty="0"/>
                    </a:p>
                  </a:txBody>
                  <a:tcPr/>
                </a:tc>
                <a:extLst>
                  <a:ext uri="{0D108BD9-81ED-4DB2-BD59-A6C34878D82A}">
                    <a16:rowId xmlns:a16="http://schemas.microsoft.com/office/drawing/2014/main" val="1065102400"/>
                  </a:ext>
                </a:extLst>
              </a:tr>
              <a:tr h="370840">
                <a:tc>
                  <a:txBody>
                    <a:bodyPr/>
                    <a:lstStyle/>
                    <a:p>
                      <a:r>
                        <a:rPr lang="en-GB" dirty="0"/>
                        <a:t>3</a:t>
                      </a:r>
                      <a:endParaRPr lang="id-ID" dirty="0"/>
                    </a:p>
                  </a:txBody>
                  <a:tcPr/>
                </a:tc>
                <a:tc>
                  <a:txBody>
                    <a:bodyPr/>
                    <a:lstStyle/>
                    <a:p>
                      <a:r>
                        <a:rPr lang="id-ID" dirty="0"/>
                        <a:t>La Liga</a:t>
                      </a:r>
                    </a:p>
                  </a:txBody>
                  <a:tcPr/>
                </a:tc>
                <a:extLst>
                  <a:ext uri="{0D108BD9-81ED-4DB2-BD59-A6C34878D82A}">
                    <a16:rowId xmlns:a16="http://schemas.microsoft.com/office/drawing/2014/main" val="3916139368"/>
                  </a:ext>
                </a:extLst>
              </a:tr>
              <a:tr h="370840">
                <a:tc>
                  <a:txBody>
                    <a:bodyPr/>
                    <a:lstStyle/>
                    <a:p>
                      <a:r>
                        <a:rPr lang="en-GB" dirty="0"/>
                        <a:t>4</a:t>
                      </a:r>
                      <a:endParaRPr lang="id-ID" dirty="0"/>
                    </a:p>
                  </a:txBody>
                  <a:tcPr/>
                </a:tc>
                <a:tc>
                  <a:txBody>
                    <a:bodyPr/>
                    <a:lstStyle/>
                    <a:p>
                      <a:r>
                        <a:rPr lang="id-ID" dirty="0"/>
                        <a:t>UEFA </a:t>
                      </a:r>
                      <a:r>
                        <a:rPr lang="id-ID" dirty="0" err="1"/>
                        <a:t>Champions</a:t>
                      </a:r>
                      <a:r>
                        <a:rPr lang="id-ID" dirty="0"/>
                        <a:t> </a:t>
                      </a:r>
                      <a:r>
                        <a:rPr lang="id-ID" dirty="0" err="1"/>
                        <a:t>League</a:t>
                      </a:r>
                      <a:endParaRPr lang="id-ID" dirty="0"/>
                    </a:p>
                  </a:txBody>
                  <a:tcPr/>
                </a:tc>
                <a:extLst>
                  <a:ext uri="{0D108BD9-81ED-4DB2-BD59-A6C34878D82A}">
                    <a16:rowId xmlns:a16="http://schemas.microsoft.com/office/drawing/2014/main" val="2964342902"/>
                  </a:ext>
                </a:extLst>
              </a:tr>
              <a:tr h="370840">
                <a:tc>
                  <a:txBody>
                    <a:bodyPr/>
                    <a:lstStyle/>
                    <a:p>
                      <a:r>
                        <a:rPr lang="en-GB" dirty="0"/>
                        <a:t>5</a:t>
                      </a:r>
                      <a:endParaRPr lang="id-ID" dirty="0"/>
                    </a:p>
                  </a:txBody>
                  <a:tcPr/>
                </a:tc>
                <a:tc>
                  <a:txBody>
                    <a:bodyPr/>
                    <a:lstStyle/>
                    <a:p>
                      <a:r>
                        <a:rPr lang="id-ID" dirty="0" err="1"/>
                        <a:t>Bundesliga</a:t>
                      </a:r>
                      <a:endParaRPr lang="id-ID" dirty="0"/>
                    </a:p>
                  </a:txBody>
                  <a:tcPr/>
                </a:tc>
                <a:extLst>
                  <a:ext uri="{0D108BD9-81ED-4DB2-BD59-A6C34878D82A}">
                    <a16:rowId xmlns:a16="http://schemas.microsoft.com/office/drawing/2014/main" val="3690457856"/>
                  </a:ext>
                </a:extLst>
              </a:tr>
              <a:tr h="370840">
                <a:tc>
                  <a:txBody>
                    <a:bodyPr/>
                    <a:lstStyle/>
                    <a:p>
                      <a:r>
                        <a:rPr lang="en-GB" dirty="0"/>
                        <a:t>6</a:t>
                      </a:r>
                      <a:endParaRPr lang="id-ID" dirty="0"/>
                    </a:p>
                  </a:txBody>
                  <a:tcPr/>
                </a:tc>
                <a:tc>
                  <a:txBody>
                    <a:bodyPr/>
                    <a:lstStyle/>
                    <a:p>
                      <a:r>
                        <a:rPr lang="id-ID" dirty="0"/>
                        <a:t>Serie A</a:t>
                      </a:r>
                    </a:p>
                  </a:txBody>
                  <a:tcPr/>
                </a:tc>
                <a:extLst>
                  <a:ext uri="{0D108BD9-81ED-4DB2-BD59-A6C34878D82A}">
                    <a16:rowId xmlns:a16="http://schemas.microsoft.com/office/drawing/2014/main" val="1534411607"/>
                  </a:ext>
                </a:extLst>
              </a:tr>
              <a:tr h="370840">
                <a:tc>
                  <a:txBody>
                    <a:bodyPr/>
                    <a:lstStyle/>
                    <a:p>
                      <a:r>
                        <a:rPr lang="en-GB" dirty="0"/>
                        <a:t>7</a:t>
                      </a:r>
                      <a:endParaRPr lang="id-ID" dirty="0"/>
                    </a:p>
                  </a:txBody>
                  <a:tcPr/>
                </a:tc>
                <a:tc>
                  <a:txBody>
                    <a:bodyPr/>
                    <a:lstStyle/>
                    <a:p>
                      <a:r>
                        <a:rPr lang="id-ID" dirty="0" err="1"/>
                        <a:t>Ligue</a:t>
                      </a:r>
                      <a:r>
                        <a:rPr lang="id-ID" dirty="0"/>
                        <a:t> 1</a:t>
                      </a:r>
                    </a:p>
                  </a:txBody>
                  <a:tcPr/>
                </a:tc>
                <a:extLst>
                  <a:ext uri="{0D108BD9-81ED-4DB2-BD59-A6C34878D82A}">
                    <a16:rowId xmlns:a16="http://schemas.microsoft.com/office/drawing/2014/main" val="3106376545"/>
                  </a:ext>
                </a:extLst>
              </a:tr>
              <a:tr h="370840">
                <a:tc>
                  <a:txBody>
                    <a:bodyPr/>
                    <a:lstStyle/>
                    <a:p>
                      <a:r>
                        <a:rPr lang="en-GB" dirty="0"/>
                        <a:t>8</a:t>
                      </a:r>
                      <a:endParaRPr lang="id-ID" dirty="0"/>
                    </a:p>
                  </a:txBody>
                  <a:tcPr/>
                </a:tc>
                <a:tc>
                  <a:txBody>
                    <a:bodyPr/>
                    <a:lstStyle/>
                    <a:p>
                      <a:r>
                        <a:rPr lang="id-ID" dirty="0" err="1"/>
                        <a:t>Copa</a:t>
                      </a:r>
                      <a:r>
                        <a:rPr lang="id-ID" dirty="0"/>
                        <a:t> America</a:t>
                      </a:r>
                    </a:p>
                  </a:txBody>
                  <a:tcPr/>
                </a:tc>
                <a:extLst>
                  <a:ext uri="{0D108BD9-81ED-4DB2-BD59-A6C34878D82A}">
                    <a16:rowId xmlns:a16="http://schemas.microsoft.com/office/drawing/2014/main" val="1565379847"/>
                  </a:ext>
                </a:extLst>
              </a:tr>
              <a:tr h="370840">
                <a:tc>
                  <a:txBody>
                    <a:bodyPr/>
                    <a:lstStyle/>
                    <a:p>
                      <a:r>
                        <a:rPr lang="en-GB" dirty="0"/>
                        <a:t>9</a:t>
                      </a:r>
                      <a:endParaRPr lang="id-ID" dirty="0"/>
                    </a:p>
                  </a:txBody>
                  <a:tcPr/>
                </a:tc>
                <a:tc>
                  <a:txBody>
                    <a:bodyPr/>
                    <a:lstStyle/>
                    <a:p>
                      <a:r>
                        <a:rPr lang="id-ID" dirty="0" err="1"/>
                        <a:t>African</a:t>
                      </a:r>
                      <a:r>
                        <a:rPr lang="id-ID" dirty="0"/>
                        <a:t> Cup </a:t>
                      </a:r>
                      <a:r>
                        <a:rPr lang="id-ID" dirty="0" err="1"/>
                        <a:t>of</a:t>
                      </a:r>
                      <a:r>
                        <a:rPr lang="id-ID" dirty="0"/>
                        <a:t> </a:t>
                      </a:r>
                      <a:r>
                        <a:rPr lang="id-ID" dirty="0" err="1"/>
                        <a:t>Nations</a:t>
                      </a:r>
                      <a:endParaRPr lang="id-ID" dirty="0"/>
                    </a:p>
                  </a:txBody>
                  <a:tcPr/>
                </a:tc>
                <a:extLst>
                  <a:ext uri="{0D108BD9-81ED-4DB2-BD59-A6C34878D82A}">
                    <a16:rowId xmlns:a16="http://schemas.microsoft.com/office/drawing/2014/main" val="696316261"/>
                  </a:ext>
                </a:extLst>
              </a:tr>
              <a:tr h="370840">
                <a:tc>
                  <a:txBody>
                    <a:bodyPr/>
                    <a:lstStyle/>
                    <a:p>
                      <a:r>
                        <a:rPr lang="en-GB" dirty="0"/>
                        <a:t>10</a:t>
                      </a:r>
                      <a:endParaRPr lang="id-ID" dirty="0"/>
                    </a:p>
                  </a:txBody>
                  <a:tcPr/>
                </a:tc>
                <a:tc>
                  <a:txBody>
                    <a:bodyPr/>
                    <a:lstStyle/>
                    <a:p>
                      <a:r>
                        <a:rPr lang="id-ID" dirty="0" err="1"/>
                        <a:t>Eredivisie</a:t>
                      </a:r>
                      <a:endParaRPr lang="id-ID" dirty="0"/>
                    </a:p>
                  </a:txBody>
                  <a:tcPr/>
                </a:tc>
                <a:extLst>
                  <a:ext uri="{0D108BD9-81ED-4DB2-BD59-A6C34878D82A}">
                    <a16:rowId xmlns:a16="http://schemas.microsoft.com/office/drawing/2014/main" val="4196947265"/>
                  </a:ext>
                </a:extLst>
              </a:tr>
            </a:tbl>
          </a:graphicData>
        </a:graphic>
      </p:graphicFrame>
    </p:spTree>
    <p:extLst>
      <p:ext uri="{BB962C8B-B14F-4D97-AF65-F5344CB8AC3E}">
        <p14:creationId xmlns:p14="http://schemas.microsoft.com/office/powerpoint/2010/main" val="4027838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FC8E6-E7F8-8E99-5BB3-B9CC0C98E07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28D70BF3-2614-961E-A590-425E806C793A}"/>
              </a:ext>
            </a:extLst>
          </p:cNvPr>
          <p:cNvSpPr>
            <a:spLocks noGrp="1"/>
          </p:cNvSpPr>
          <p:nvPr>
            <p:ph type="title"/>
          </p:nvPr>
        </p:nvSpPr>
        <p:spPr>
          <a:xfrm>
            <a:off x="1205593" y="203200"/>
            <a:ext cx="4318908" cy="703263"/>
          </a:xfrm>
        </p:spPr>
        <p:txBody>
          <a:bodyPr rtlCol="0"/>
          <a:lstStyle/>
          <a:p>
            <a:r>
              <a:rPr lang="id-ID" dirty="0" err="1"/>
              <a:t>Preprocessing</a:t>
            </a:r>
            <a:endParaRPr lang="id-ID" dirty="0"/>
          </a:p>
        </p:txBody>
      </p:sp>
      <p:sp>
        <p:nvSpPr>
          <p:cNvPr id="9" name="Tampungan Nomor Slide 8">
            <a:extLst>
              <a:ext uri="{FF2B5EF4-FFF2-40B4-BE49-F238E27FC236}">
                <a16:creationId xmlns:a16="http://schemas.microsoft.com/office/drawing/2014/main" id="{BBB34BB3-A2D5-BD47-AFB9-791F49CDF5D9}"/>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28</a:t>
            </a:fld>
            <a:endParaRPr lang="id-ID"/>
          </a:p>
        </p:txBody>
      </p:sp>
      <p:graphicFrame>
        <p:nvGraphicFramePr>
          <p:cNvPr id="7" name="Table 6">
            <a:extLst>
              <a:ext uri="{FF2B5EF4-FFF2-40B4-BE49-F238E27FC236}">
                <a16:creationId xmlns:a16="http://schemas.microsoft.com/office/drawing/2014/main" id="{9A4CD66B-54D8-298C-1BD3-7B031C233883}"/>
              </a:ext>
            </a:extLst>
          </p:cNvPr>
          <p:cNvGraphicFramePr>
            <a:graphicFrameLocks noGrp="1"/>
          </p:cNvGraphicFramePr>
          <p:nvPr>
            <p:extLst>
              <p:ext uri="{D42A27DB-BD31-4B8C-83A1-F6EECF244321}">
                <p14:modId xmlns:p14="http://schemas.microsoft.com/office/powerpoint/2010/main" val="4005870269"/>
              </p:ext>
            </p:extLst>
          </p:nvPr>
        </p:nvGraphicFramePr>
        <p:xfrm>
          <a:off x="381001" y="825644"/>
          <a:ext cx="11095630" cy="5829156"/>
        </p:xfrm>
        <a:graphic>
          <a:graphicData uri="http://schemas.openxmlformats.org/drawingml/2006/table">
            <a:tbl>
              <a:tblPr/>
              <a:tblGrid>
                <a:gridCol w="853510">
                  <a:extLst>
                    <a:ext uri="{9D8B030D-6E8A-4147-A177-3AD203B41FA5}">
                      <a16:colId xmlns:a16="http://schemas.microsoft.com/office/drawing/2014/main" val="4213752306"/>
                    </a:ext>
                  </a:extLst>
                </a:gridCol>
                <a:gridCol w="853510">
                  <a:extLst>
                    <a:ext uri="{9D8B030D-6E8A-4147-A177-3AD203B41FA5}">
                      <a16:colId xmlns:a16="http://schemas.microsoft.com/office/drawing/2014/main" val="4285172871"/>
                    </a:ext>
                  </a:extLst>
                </a:gridCol>
                <a:gridCol w="853510">
                  <a:extLst>
                    <a:ext uri="{9D8B030D-6E8A-4147-A177-3AD203B41FA5}">
                      <a16:colId xmlns:a16="http://schemas.microsoft.com/office/drawing/2014/main" val="1486237304"/>
                    </a:ext>
                  </a:extLst>
                </a:gridCol>
                <a:gridCol w="853510">
                  <a:extLst>
                    <a:ext uri="{9D8B030D-6E8A-4147-A177-3AD203B41FA5}">
                      <a16:colId xmlns:a16="http://schemas.microsoft.com/office/drawing/2014/main" val="2338071561"/>
                    </a:ext>
                  </a:extLst>
                </a:gridCol>
                <a:gridCol w="853510">
                  <a:extLst>
                    <a:ext uri="{9D8B030D-6E8A-4147-A177-3AD203B41FA5}">
                      <a16:colId xmlns:a16="http://schemas.microsoft.com/office/drawing/2014/main" val="504446260"/>
                    </a:ext>
                  </a:extLst>
                </a:gridCol>
                <a:gridCol w="853510">
                  <a:extLst>
                    <a:ext uri="{9D8B030D-6E8A-4147-A177-3AD203B41FA5}">
                      <a16:colId xmlns:a16="http://schemas.microsoft.com/office/drawing/2014/main" val="414530467"/>
                    </a:ext>
                  </a:extLst>
                </a:gridCol>
                <a:gridCol w="853510">
                  <a:extLst>
                    <a:ext uri="{9D8B030D-6E8A-4147-A177-3AD203B41FA5}">
                      <a16:colId xmlns:a16="http://schemas.microsoft.com/office/drawing/2014/main" val="1247453320"/>
                    </a:ext>
                  </a:extLst>
                </a:gridCol>
                <a:gridCol w="853510">
                  <a:extLst>
                    <a:ext uri="{9D8B030D-6E8A-4147-A177-3AD203B41FA5}">
                      <a16:colId xmlns:a16="http://schemas.microsoft.com/office/drawing/2014/main" val="392557103"/>
                    </a:ext>
                  </a:extLst>
                </a:gridCol>
                <a:gridCol w="853510">
                  <a:extLst>
                    <a:ext uri="{9D8B030D-6E8A-4147-A177-3AD203B41FA5}">
                      <a16:colId xmlns:a16="http://schemas.microsoft.com/office/drawing/2014/main" val="4033896000"/>
                    </a:ext>
                  </a:extLst>
                </a:gridCol>
                <a:gridCol w="853510">
                  <a:extLst>
                    <a:ext uri="{9D8B030D-6E8A-4147-A177-3AD203B41FA5}">
                      <a16:colId xmlns:a16="http://schemas.microsoft.com/office/drawing/2014/main" val="1667640388"/>
                    </a:ext>
                  </a:extLst>
                </a:gridCol>
                <a:gridCol w="853510">
                  <a:extLst>
                    <a:ext uri="{9D8B030D-6E8A-4147-A177-3AD203B41FA5}">
                      <a16:colId xmlns:a16="http://schemas.microsoft.com/office/drawing/2014/main" val="2285496908"/>
                    </a:ext>
                  </a:extLst>
                </a:gridCol>
                <a:gridCol w="853510">
                  <a:extLst>
                    <a:ext uri="{9D8B030D-6E8A-4147-A177-3AD203B41FA5}">
                      <a16:colId xmlns:a16="http://schemas.microsoft.com/office/drawing/2014/main" val="1682058579"/>
                    </a:ext>
                  </a:extLst>
                </a:gridCol>
                <a:gridCol w="853510">
                  <a:extLst>
                    <a:ext uri="{9D8B030D-6E8A-4147-A177-3AD203B41FA5}">
                      <a16:colId xmlns:a16="http://schemas.microsoft.com/office/drawing/2014/main" val="883632005"/>
                    </a:ext>
                  </a:extLst>
                </a:gridCol>
              </a:tblGrid>
              <a:tr h="474184">
                <a:tc>
                  <a:txBody>
                    <a:bodyPr/>
                    <a:lstStyle/>
                    <a:p>
                      <a:pPr algn="ctr">
                        <a:buNone/>
                      </a:pPr>
                      <a:r>
                        <a:rPr lang="en-GB" sz="1300" b="1" dirty="0">
                          <a:effectLst/>
                        </a:rPr>
                        <a:t>id</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err="1">
                          <a:effectLst/>
                        </a:rPr>
                        <a:t>period</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err="1">
                          <a:effectLst/>
                        </a:rPr>
                        <a:t>timestamp</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a:effectLst/>
                        </a:rPr>
                        <a:t>minute</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err="1">
                          <a:effectLst/>
                        </a:rPr>
                        <a:t>second</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a:effectLst/>
                        </a:rPr>
                        <a:t>possession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err="1">
                          <a:effectLst/>
                        </a:rPr>
                        <a:t>duration</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type.id</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type.name</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300" b="1" dirty="0">
                          <a:effectLst/>
                        </a:rPr>
                        <a:t>---</a:t>
                      </a:r>
                      <a:endParaRPr lang="id-ID" sz="1300" b="1"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substitution.outcome.id</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substitution.outcome.name</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b="1" dirty="0">
                          <a:effectLst/>
                        </a:rPr>
                        <a:t>substitution.replacement.id</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45317407"/>
                  </a:ext>
                </a:extLst>
              </a:tr>
              <a:tr h="767063">
                <a:tc>
                  <a:txBody>
                    <a:bodyPr/>
                    <a:lstStyle/>
                    <a:p>
                      <a:pPr algn="ctr">
                        <a:buNone/>
                      </a:pPr>
                      <a:r>
                        <a:rPr lang="id-ID" sz="1300">
                          <a:effectLst/>
                        </a:rPr>
                        <a:t>50aa204f-5d65-4145-8597-5d5628fb7898</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35</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Starting XI</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NaN</a:t>
                      </a:r>
                      <a:endParaRPr lang="id-ID" sz="1300"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17330512"/>
                  </a:ext>
                </a:extLst>
              </a:tr>
              <a:tr h="767063">
                <a:tc>
                  <a:txBody>
                    <a:bodyPr/>
                    <a:lstStyle/>
                    <a:p>
                      <a:pPr algn="ctr">
                        <a:buNone/>
                      </a:pPr>
                      <a:r>
                        <a:rPr lang="id-ID" sz="1300">
                          <a:effectLst/>
                        </a:rPr>
                        <a:t>a279cbee-9ab3-4cfb-9c51-27cacc1bf2a2</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dirty="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00:00:00.000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35</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Starting XI</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dirty="0" err="1">
                          <a:effectLst/>
                        </a:rPr>
                        <a:t>NaN</a:t>
                      </a:r>
                      <a:endParaRPr lang="id-ID" sz="1300"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extLst>
                  <a:ext uri="{0D108BD9-81ED-4DB2-BD59-A6C34878D82A}">
                    <a16:rowId xmlns:a16="http://schemas.microsoft.com/office/drawing/2014/main" val="194490072"/>
                  </a:ext>
                </a:extLst>
              </a:tr>
              <a:tr h="767063">
                <a:tc>
                  <a:txBody>
                    <a:bodyPr/>
                    <a:lstStyle/>
                    <a:p>
                      <a:pPr algn="ctr">
                        <a:buNone/>
                      </a:pPr>
                      <a:r>
                        <a:rPr lang="id-ID" sz="1300">
                          <a:effectLst/>
                        </a:rPr>
                        <a:t>d2126e70-9f04-4bb7-ba2b-9377836d1757</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18</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Half Start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17838426"/>
                  </a:ext>
                </a:extLst>
              </a:tr>
              <a:tr h="808903">
                <a:tc>
                  <a:txBody>
                    <a:bodyPr/>
                    <a:lstStyle/>
                    <a:p>
                      <a:pPr algn="ctr">
                        <a:buNone/>
                      </a:pPr>
                      <a:r>
                        <a:rPr lang="id-ID" sz="1300">
                          <a:effectLst/>
                        </a:rPr>
                        <a:t>54d78bfa-4146-42bd-acdc-97bcd393dd81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18</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Half Start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NaN</a:t>
                      </a:r>
                      <a:endParaRPr lang="id-ID" sz="1300"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02614973"/>
                  </a:ext>
                </a:extLst>
              </a:tr>
              <a:tr h="767063">
                <a:tc>
                  <a:txBody>
                    <a:bodyPr/>
                    <a:lstStyle/>
                    <a:p>
                      <a:pPr algn="ctr">
                        <a:buNone/>
                      </a:pPr>
                      <a:r>
                        <a:rPr lang="id-ID" sz="1300" dirty="0">
                          <a:effectLst/>
                        </a:rPr>
                        <a:t>152820f0-6ca9-4df3-943b-a67d568ff472</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a:effectLst/>
                        </a:rPr>
                        <a:t>1</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00:00:00.340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2</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2.529454</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30</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Pass</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a:effectLst/>
                        </a:rPr>
                        <a:t>NaN</a:t>
                      </a: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300" dirty="0" err="1">
                          <a:effectLst/>
                        </a:rPr>
                        <a:t>NaN</a:t>
                      </a:r>
                      <a:endParaRPr lang="id-ID" sz="1300" dirty="0">
                        <a:effectLst/>
                      </a:endParaRPr>
                    </a:p>
                  </a:txBody>
                  <a:tcPr marL="13947" marR="13947" marT="6973" marB="69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04782655"/>
                  </a:ext>
                </a:extLst>
              </a:tr>
            </a:tbl>
          </a:graphicData>
        </a:graphic>
      </p:graphicFrame>
    </p:spTree>
    <p:extLst>
      <p:ext uri="{BB962C8B-B14F-4D97-AF65-F5344CB8AC3E}">
        <p14:creationId xmlns:p14="http://schemas.microsoft.com/office/powerpoint/2010/main" val="400703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B2FF8-F892-B4AA-AE51-8F35FBF1F54E}"/>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514E9DDC-D2CC-3C35-29CB-55DB3624961E}"/>
              </a:ext>
            </a:extLst>
          </p:cNvPr>
          <p:cNvSpPr>
            <a:spLocks noGrp="1"/>
          </p:cNvSpPr>
          <p:nvPr>
            <p:ph type="title"/>
          </p:nvPr>
        </p:nvSpPr>
        <p:spPr>
          <a:xfrm>
            <a:off x="1049505" y="-253181"/>
            <a:ext cx="9779183" cy="1325563"/>
          </a:xfrm>
        </p:spPr>
        <p:txBody>
          <a:bodyPr rtlCol="0"/>
          <a:lstStyle/>
          <a:p>
            <a:r>
              <a:rPr lang="id-ID" dirty="0" err="1"/>
              <a:t>Preprocessing</a:t>
            </a:r>
            <a:endParaRPr lang="id-ID" dirty="0"/>
          </a:p>
        </p:txBody>
      </p:sp>
      <p:sp>
        <p:nvSpPr>
          <p:cNvPr id="9" name="Tampungan Nomor Slide 8">
            <a:extLst>
              <a:ext uri="{FF2B5EF4-FFF2-40B4-BE49-F238E27FC236}">
                <a16:creationId xmlns:a16="http://schemas.microsoft.com/office/drawing/2014/main" id="{7497A0EB-6E6D-1190-AA46-94CC7FB4C2BB}"/>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29</a:t>
            </a:fld>
            <a:endParaRPr lang="id-ID"/>
          </a:p>
        </p:txBody>
      </p:sp>
      <p:graphicFrame>
        <p:nvGraphicFramePr>
          <p:cNvPr id="7" name="Table 6">
            <a:extLst>
              <a:ext uri="{FF2B5EF4-FFF2-40B4-BE49-F238E27FC236}">
                <a16:creationId xmlns:a16="http://schemas.microsoft.com/office/drawing/2014/main" id="{E7111ABF-FC44-F419-69E4-2A997CA20A99}"/>
              </a:ext>
            </a:extLst>
          </p:cNvPr>
          <p:cNvGraphicFramePr>
            <a:graphicFrameLocks noGrp="1"/>
          </p:cNvGraphicFramePr>
          <p:nvPr>
            <p:extLst>
              <p:ext uri="{D42A27DB-BD31-4B8C-83A1-F6EECF244321}">
                <p14:modId xmlns:p14="http://schemas.microsoft.com/office/powerpoint/2010/main" val="1542767940"/>
              </p:ext>
            </p:extLst>
          </p:nvPr>
        </p:nvGraphicFramePr>
        <p:xfrm>
          <a:off x="715252" y="246949"/>
          <a:ext cx="10447688" cy="6364102"/>
        </p:xfrm>
        <a:graphic>
          <a:graphicData uri="http://schemas.openxmlformats.org/drawingml/2006/table">
            <a:tbl>
              <a:tblPr firstRow="1" firstCol="1" bandRow="1">
                <a:tableStyleId>{5C22544A-7EE6-4342-B048-85BDC9FD1C3A}</a:tableStyleId>
              </a:tblPr>
              <a:tblGrid>
                <a:gridCol w="2590577">
                  <a:extLst>
                    <a:ext uri="{9D8B030D-6E8A-4147-A177-3AD203B41FA5}">
                      <a16:colId xmlns:a16="http://schemas.microsoft.com/office/drawing/2014/main" val="3539816364"/>
                    </a:ext>
                  </a:extLst>
                </a:gridCol>
                <a:gridCol w="7857111">
                  <a:extLst>
                    <a:ext uri="{9D8B030D-6E8A-4147-A177-3AD203B41FA5}">
                      <a16:colId xmlns:a16="http://schemas.microsoft.com/office/drawing/2014/main" val="886879569"/>
                    </a:ext>
                  </a:extLst>
                </a:gridCol>
              </a:tblGrid>
              <a:tr h="332300">
                <a:tc>
                  <a:txBody>
                    <a:bodyPr/>
                    <a:lstStyle/>
                    <a:p>
                      <a:pPr algn="ctr">
                        <a:lnSpc>
                          <a:spcPct val="150000"/>
                        </a:lnSpc>
                        <a:buNone/>
                      </a:pPr>
                      <a:r>
                        <a:rPr lang="id-ID" sz="1600" kern="0">
                          <a:effectLst/>
                        </a:rPr>
                        <a:t>Nama Kolom</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600" kern="0">
                          <a:effectLst/>
                        </a:rPr>
                        <a:t>Deskripsi</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96588790"/>
                  </a:ext>
                </a:extLst>
              </a:tr>
              <a:tr h="332300">
                <a:tc>
                  <a:txBody>
                    <a:bodyPr/>
                    <a:lstStyle/>
                    <a:p>
                      <a:pPr algn="l">
                        <a:lnSpc>
                          <a:spcPct val="150000"/>
                        </a:lnSpc>
                        <a:buNone/>
                      </a:pPr>
                      <a:r>
                        <a:rPr lang="id-ID" sz="1600" kern="0" dirty="0" err="1">
                          <a:effectLst/>
                        </a:rPr>
                        <a:t>period</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Periode / babak pertandingan saat tembakan terjadi</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67490963"/>
                  </a:ext>
                </a:extLst>
              </a:tr>
              <a:tr h="332300">
                <a:tc>
                  <a:txBody>
                    <a:bodyPr/>
                    <a:lstStyle/>
                    <a:p>
                      <a:pPr algn="l">
                        <a:lnSpc>
                          <a:spcPct val="150000"/>
                        </a:lnSpc>
                        <a:buNone/>
                      </a:pPr>
                      <a:r>
                        <a:rPr lang="id-ID" sz="1600" kern="0">
                          <a:effectLst/>
                        </a:rPr>
                        <a:t>minute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Menit pertandingan saat tembakan dilakukan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0126199"/>
                  </a:ext>
                </a:extLst>
              </a:tr>
              <a:tr h="332300">
                <a:tc>
                  <a:txBody>
                    <a:bodyPr/>
                    <a:lstStyle/>
                    <a:p>
                      <a:pPr algn="l">
                        <a:lnSpc>
                          <a:spcPct val="150000"/>
                        </a:lnSpc>
                        <a:buNone/>
                      </a:pPr>
                      <a:r>
                        <a:rPr lang="id-ID" sz="1600" kern="0">
                          <a:effectLst/>
                        </a:rPr>
                        <a:t>second</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Detik pertandingan saat tembakan dilakukan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38522776"/>
                  </a:ext>
                </a:extLst>
              </a:tr>
              <a:tr h="332300">
                <a:tc>
                  <a:txBody>
                    <a:bodyPr/>
                    <a:lstStyle/>
                    <a:p>
                      <a:pPr algn="l">
                        <a:lnSpc>
                          <a:spcPct val="150000"/>
                        </a:lnSpc>
                        <a:buNone/>
                      </a:pPr>
                      <a:r>
                        <a:rPr lang="id-ID" sz="1600" kern="0">
                          <a:effectLst/>
                        </a:rPr>
                        <a:t>Location (dipecah menjadi start_x dan start_y)</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Koordinat awal tembakan (arah serangan selalu menuju gawang lawan di sisi kanan) </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64695925"/>
                  </a:ext>
                </a:extLst>
              </a:tr>
              <a:tr h="332300">
                <a:tc>
                  <a:txBody>
                    <a:bodyPr/>
                    <a:lstStyle/>
                    <a:p>
                      <a:pPr algn="l">
                        <a:lnSpc>
                          <a:spcPct val="150000"/>
                        </a:lnSpc>
                        <a:buNone/>
                      </a:pPr>
                      <a:r>
                        <a:rPr lang="id-ID" sz="1600" kern="0">
                          <a:effectLst/>
                        </a:rPr>
                        <a:t>position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dirty="0">
                          <a:effectLst/>
                        </a:rPr>
                        <a:t>Posisi pemain di dalam tim (Bek, Gelandang, Penyerang)</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34007141"/>
                  </a:ext>
                </a:extLst>
              </a:tr>
              <a:tr h="332300">
                <a:tc>
                  <a:txBody>
                    <a:bodyPr/>
                    <a:lstStyle/>
                    <a:p>
                      <a:pPr algn="l">
                        <a:lnSpc>
                          <a:spcPct val="150000"/>
                        </a:lnSpc>
                        <a:buNone/>
                      </a:pPr>
                      <a:r>
                        <a:rPr lang="id-ID" sz="1600" kern="0">
                          <a:effectLst/>
                        </a:rPr>
                        <a:t>shot_outcome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dirty="0">
                          <a:effectLst/>
                        </a:rPr>
                        <a:t>Hasil tembakan (0 = tidak gol, 1 = gol)</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24800876"/>
                  </a:ext>
                </a:extLst>
              </a:tr>
              <a:tr h="332300">
                <a:tc>
                  <a:txBody>
                    <a:bodyPr/>
                    <a:lstStyle/>
                    <a:p>
                      <a:pPr algn="l">
                        <a:lnSpc>
                          <a:spcPct val="150000"/>
                        </a:lnSpc>
                        <a:buNone/>
                      </a:pPr>
                      <a:r>
                        <a:rPr lang="id-ID" sz="1600" kern="0">
                          <a:effectLst/>
                        </a:rPr>
                        <a:t>shot_body_part</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dirty="0">
                          <a:effectLst/>
                        </a:rPr>
                        <a:t>Bagian tubuh yang digunakan dalam menembak</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06699828"/>
                  </a:ext>
                </a:extLst>
              </a:tr>
              <a:tr h="332300">
                <a:tc>
                  <a:txBody>
                    <a:bodyPr/>
                    <a:lstStyle/>
                    <a:p>
                      <a:pPr algn="l">
                        <a:lnSpc>
                          <a:spcPct val="150000"/>
                        </a:lnSpc>
                        <a:buNone/>
                      </a:pPr>
                      <a:r>
                        <a:rPr lang="id-ID" sz="1600" kern="0">
                          <a:effectLst/>
                        </a:rPr>
                        <a:t>shot_first_time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tembakan dilakukan secara langsung tanpa kontrol bola</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28350774"/>
                  </a:ext>
                </a:extLst>
              </a:tr>
              <a:tr h="332300">
                <a:tc>
                  <a:txBody>
                    <a:bodyPr/>
                    <a:lstStyle/>
                    <a:p>
                      <a:pPr algn="l">
                        <a:lnSpc>
                          <a:spcPct val="150000"/>
                        </a:lnSpc>
                        <a:buNone/>
                      </a:pPr>
                      <a:r>
                        <a:rPr lang="id-ID" sz="1600" kern="0">
                          <a:effectLst/>
                        </a:rPr>
                        <a:t>shot_one_on_one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tembakan dilakukan dalam situasi satu lawan satu dengan kiper</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53791494"/>
                  </a:ext>
                </a:extLst>
              </a:tr>
              <a:tr h="332300">
                <a:tc>
                  <a:txBody>
                    <a:bodyPr/>
                    <a:lstStyle/>
                    <a:p>
                      <a:pPr algn="l">
                        <a:lnSpc>
                          <a:spcPct val="150000"/>
                        </a:lnSpc>
                        <a:buNone/>
                      </a:pPr>
                      <a:r>
                        <a:rPr lang="id-ID" sz="1600" kern="0">
                          <a:effectLst/>
                        </a:rPr>
                        <a:t>shot_open_goal</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tembakan dilakukan ke gawang yang kosong</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64286707"/>
                  </a:ext>
                </a:extLst>
              </a:tr>
              <a:tr h="332300">
                <a:tc>
                  <a:txBody>
                    <a:bodyPr/>
                    <a:lstStyle/>
                    <a:p>
                      <a:pPr algn="l">
                        <a:lnSpc>
                          <a:spcPct val="150000"/>
                        </a:lnSpc>
                        <a:buNone/>
                      </a:pPr>
                      <a:r>
                        <a:rPr lang="id-ID" sz="1600" kern="0">
                          <a:effectLst/>
                        </a:rPr>
                        <a:t>shot_aerial_won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pemain memenangkan duel udara sebelum tembakan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4404232"/>
                  </a:ext>
                </a:extLst>
              </a:tr>
              <a:tr h="332300">
                <a:tc>
                  <a:txBody>
                    <a:bodyPr/>
                    <a:lstStyle/>
                    <a:p>
                      <a:pPr algn="l">
                        <a:lnSpc>
                          <a:spcPct val="150000"/>
                        </a:lnSpc>
                        <a:buNone/>
                      </a:pPr>
                      <a:r>
                        <a:rPr lang="id-ID" sz="1600" kern="0">
                          <a:effectLst/>
                        </a:rPr>
                        <a:t>shot_key_pass</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tembakan didahului oleh umpan kunci</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8366095"/>
                  </a:ext>
                </a:extLst>
              </a:tr>
              <a:tr h="332300">
                <a:tc>
                  <a:txBody>
                    <a:bodyPr/>
                    <a:lstStyle/>
                    <a:p>
                      <a:pPr algn="l">
                        <a:lnSpc>
                          <a:spcPct val="150000"/>
                        </a:lnSpc>
                        <a:buNone/>
                      </a:pPr>
                      <a:r>
                        <a:rPr lang="id-ID" sz="1600" kern="0">
                          <a:effectLst/>
                        </a:rPr>
                        <a:t>possession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Nomor penguasaan bola dari tim pada pertandingan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68376901"/>
                  </a:ext>
                </a:extLst>
              </a:tr>
              <a:tr h="332300">
                <a:tc>
                  <a:txBody>
                    <a:bodyPr/>
                    <a:lstStyle/>
                    <a:p>
                      <a:pPr algn="l">
                        <a:lnSpc>
                          <a:spcPct val="150000"/>
                        </a:lnSpc>
                        <a:buNone/>
                      </a:pPr>
                      <a:r>
                        <a:rPr lang="id-ID" sz="1600" kern="0">
                          <a:effectLst/>
                        </a:rPr>
                        <a:t>play_pattern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Pola permainan yang terjadi sebelum tembakan (Regular Play, From Corner, From Free Kick)</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56214127"/>
                  </a:ext>
                </a:extLst>
              </a:tr>
              <a:tr h="332300">
                <a:tc>
                  <a:txBody>
                    <a:bodyPr/>
                    <a:lstStyle/>
                    <a:p>
                      <a:pPr algn="l">
                        <a:lnSpc>
                          <a:spcPct val="150000"/>
                        </a:lnSpc>
                        <a:buNone/>
                      </a:pPr>
                      <a:r>
                        <a:rPr lang="id-ID" sz="1600" kern="0">
                          <a:effectLst/>
                        </a:rPr>
                        <a:t>under_pressure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a:effectLst/>
                        </a:rPr>
                        <a:t>Apakah pemain berada dalam tekanan saat melakukan tembakan</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36655458"/>
                  </a:ext>
                </a:extLst>
              </a:tr>
              <a:tr h="332300">
                <a:tc>
                  <a:txBody>
                    <a:bodyPr/>
                    <a:lstStyle/>
                    <a:p>
                      <a:pPr algn="l">
                        <a:lnSpc>
                          <a:spcPct val="150000"/>
                        </a:lnSpc>
                        <a:buNone/>
                      </a:pPr>
                      <a:r>
                        <a:rPr lang="id-ID" sz="1600" kern="0">
                          <a:effectLst/>
                        </a:rPr>
                        <a:t>shot_technique</a:t>
                      </a:r>
                      <a:endParaRPr lang="id-ID" sz="2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buNone/>
                      </a:pPr>
                      <a:r>
                        <a:rPr lang="id-ID" sz="1600" kern="0" dirty="0">
                          <a:effectLst/>
                        </a:rPr>
                        <a:t>Teknik tembakan yang digunakan (Normal, </a:t>
                      </a:r>
                      <a:r>
                        <a:rPr lang="id-ID" sz="1600" kern="0" dirty="0" err="1">
                          <a:effectLst/>
                        </a:rPr>
                        <a:t>Volley</a:t>
                      </a:r>
                      <a:r>
                        <a:rPr lang="id-ID" sz="1600" kern="0" dirty="0">
                          <a:effectLst/>
                        </a:rPr>
                        <a:t>, </a:t>
                      </a:r>
                      <a:r>
                        <a:rPr lang="id-ID" sz="1600" kern="0" dirty="0" err="1">
                          <a:effectLst/>
                        </a:rPr>
                        <a:t>Half</a:t>
                      </a:r>
                      <a:r>
                        <a:rPr lang="id-ID" sz="1600" kern="0" dirty="0">
                          <a:effectLst/>
                        </a:rPr>
                        <a:t> </a:t>
                      </a:r>
                      <a:r>
                        <a:rPr lang="id-ID" sz="1600" kern="0" dirty="0" err="1">
                          <a:effectLst/>
                        </a:rPr>
                        <a:t>Volley</a:t>
                      </a:r>
                      <a:r>
                        <a:rPr lang="id-ID" sz="1600" kern="0" dirty="0">
                          <a:effectLst/>
                        </a:rPr>
                        <a:t>, Lob, </a:t>
                      </a:r>
                      <a:r>
                        <a:rPr lang="id-ID" sz="1600" kern="0" dirty="0" err="1">
                          <a:effectLst/>
                        </a:rPr>
                        <a:t>Bicycle</a:t>
                      </a:r>
                      <a:r>
                        <a:rPr lang="id-ID" sz="1600" kern="0" dirty="0">
                          <a:effectLst/>
                        </a:rPr>
                        <a:t> </a:t>
                      </a:r>
                      <a:r>
                        <a:rPr lang="id-ID" sz="1600" kern="0" dirty="0" err="1">
                          <a:effectLst/>
                        </a:rPr>
                        <a:t>Kick</a:t>
                      </a:r>
                      <a:r>
                        <a:rPr lang="id-ID" sz="1600" kern="0" dirty="0">
                          <a:effectLst/>
                        </a:rPr>
                        <a:t>)</a:t>
                      </a:r>
                      <a:endParaRPr lang="id-ID" sz="2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79934971"/>
                  </a:ext>
                </a:extLst>
              </a:tr>
            </a:tbl>
          </a:graphicData>
        </a:graphic>
      </p:graphicFrame>
    </p:spTree>
    <p:extLst>
      <p:ext uri="{BB962C8B-B14F-4D97-AF65-F5344CB8AC3E}">
        <p14:creationId xmlns:p14="http://schemas.microsoft.com/office/powerpoint/2010/main" val="187980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B36EC-A545-012E-BDD0-F5D2DCDBD63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5D89092-EE91-4D69-E60A-C7F9CFB7567F}"/>
              </a:ext>
            </a:extLst>
          </p:cNvPr>
          <p:cNvSpPr>
            <a:spLocks noGrp="1"/>
          </p:cNvSpPr>
          <p:nvPr>
            <p:ph type="title"/>
          </p:nvPr>
        </p:nvSpPr>
        <p:spPr>
          <a:xfrm>
            <a:off x="1167492" y="381000"/>
            <a:ext cx="9779183" cy="1325563"/>
          </a:xfrm>
        </p:spPr>
        <p:txBody>
          <a:bodyPr rtlCol="0"/>
          <a:lstStyle/>
          <a:p>
            <a:r>
              <a:rPr lang="id-ID" dirty="0" err="1"/>
              <a:t>Preprocessing</a:t>
            </a:r>
            <a:endParaRPr lang="id-ID" dirty="0"/>
          </a:p>
        </p:txBody>
      </p:sp>
      <p:sp>
        <p:nvSpPr>
          <p:cNvPr id="4" name="Tampungan Konten 3">
            <a:extLst>
              <a:ext uri="{FF2B5EF4-FFF2-40B4-BE49-F238E27FC236}">
                <a16:creationId xmlns:a16="http://schemas.microsoft.com/office/drawing/2014/main" id="{5C5F6033-5C57-E463-F2C7-E57396118DC3}"/>
              </a:ext>
            </a:extLst>
          </p:cNvPr>
          <p:cNvSpPr>
            <a:spLocks noGrp="1"/>
          </p:cNvSpPr>
          <p:nvPr>
            <p:ph idx="1"/>
          </p:nvPr>
        </p:nvSpPr>
        <p:spPr>
          <a:xfrm>
            <a:off x="1167493" y="2020529"/>
            <a:ext cx="5675760" cy="3657600"/>
          </a:xfrm>
        </p:spPr>
        <p:txBody>
          <a:bodyPr vert="horz" lIns="91440" tIns="45720" rIns="91440" bIns="45720" rtlCol="0" anchor="t">
            <a:normAutofit fontScale="85000" lnSpcReduction="10000"/>
          </a:bodyPr>
          <a:lstStyle/>
          <a:p>
            <a:pPr marL="342900" indent="-342900">
              <a:buFont typeface="Arial" panose="020B0604020202020204" pitchFamily="34" charset="0"/>
              <a:buChar char="•"/>
            </a:pPr>
            <a:r>
              <a:rPr lang="id-ID" sz="3200" dirty="0"/>
              <a:t>Data mentah kemudian melalui tahap </a:t>
            </a:r>
            <a:r>
              <a:rPr lang="id-ID" sz="3200" dirty="0" err="1"/>
              <a:t>preprocessing</a:t>
            </a:r>
            <a:r>
              <a:rPr lang="id-ID" sz="3200" dirty="0"/>
              <a:t>. Proses ini meliputi </a:t>
            </a:r>
            <a:r>
              <a:rPr lang="id-ID" sz="3200" dirty="0" err="1"/>
              <a:t>filtering</a:t>
            </a:r>
            <a:r>
              <a:rPr lang="id-ID" sz="3200" dirty="0"/>
              <a:t> untuk mengambil 73.844 data tembakan dari permainan terbuka. Analisis data eksploratif (EDA) yang dilakukan pada tahap ini mengonfirmasi adanya hubungan non-linear antara lokasi tembakan dan peluang gol.</a:t>
            </a:r>
          </a:p>
        </p:txBody>
      </p:sp>
      <p:sp>
        <p:nvSpPr>
          <p:cNvPr id="9" name="Tampungan Nomor Slide 8">
            <a:extLst>
              <a:ext uri="{FF2B5EF4-FFF2-40B4-BE49-F238E27FC236}">
                <a16:creationId xmlns:a16="http://schemas.microsoft.com/office/drawing/2014/main" id="{13781056-71CF-68A1-1A2D-F1816519B5F4}"/>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30</a:t>
            </a:fld>
            <a:endParaRPr lang="id-ID"/>
          </a:p>
        </p:txBody>
      </p:sp>
      <p:pic>
        <p:nvPicPr>
          <p:cNvPr id="3" name="Picture 2">
            <a:extLst>
              <a:ext uri="{FF2B5EF4-FFF2-40B4-BE49-F238E27FC236}">
                <a16:creationId xmlns:a16="http://schemas.microsoft.com/office/drawing/2014/main" id="{5047DBF4-75AA-2A9D-186B-E29EABA5FBD2}"/>
              </a:ext>
            </a:extLst>
          </p:cNvPr>
          <p:cNvPicPr>
            <a:picLocks noChangeAspect="1"/>
          </p:cNvPicPr>
          <p:nvPr/>
        </p:nvPicPr>
        <p:blipFill>
          <a:blip r:embed="rId3"/>
          <a:stretch>
            <a:fillRect/>
          </a:stretch>
        </p:blipFill>
        <p:spPr>
          <a:xfrm>
            <a:off x="6970980" y="2816941"/>
            <a:ext cx="4840019" cy="914401"/>
          </a:xfrm>
          <a:prstGeom prst="rect">
            <a:avLst/>
          </a:prstGeom>
        </p:spPr>
      </p:pic>
    </p:spTree>
    <p:extLst>
      <p:ext uri="{BB962C8B-B14F-4D97-AF65-F5344CB8AC3E}">
        <p14:creationId xmlns:p14="http://schemas.microsoft.com/office/powerpoint/2010/main" val="1229848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6AC7F-B03D-28FE-C379-D973A464B55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7440B9E4-FE90-87B4-96CE-D5C896BCC3D4}"/>
              </a:ext>
            </a:extLst>
          </p:cNvPr>
          <p:cNvSpPr>
            <a:spLocks noGrp="1"/>
          </p:cNvSpPr>
          <p:nvPr>
            <p:ph type="title"/>
          </p:nvPr>
        </p:nvSpPr>
        <p:spPr>
          <a:xfrm>
            <a:off x="1002392" y="241300"/>
            <a:ext cx="9779183" cy="665163"/>
          </a:xfrm>
        </p:spPr>
        <p:txBody>
          <a:bodyPr rtlCol="0"/>
          <a:lstStyle/>
          <a:p>
            <a:r>
              <a:rPr lang="id-ID" dirty="0" err="1"/>
              <a:t>Preprocessing</a:t>
            </a:r>
            <a:endParaRPr lang="id-ID" dirty="0"/>
          </a:p>
        </p:txBody>
      </p:sp>
      <p:sp>
        <p:nvSpPr>
          <p:cNvPr id="9" name="Tampungan Nomor Slide 8">
            <a:extLst>
              <a:ext uri="{FF2B5EF4-FFF2-40B4-BE49-F238E27FC236}">
                <a16:creationId xmlns:a16="http://schemas.microsoft.com/office/drawing/2014/main" id="{F4986F52-2B13-4229-B3A1-79CE103B0708}"/>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31</a:t>
            </a:fld>
            <a:endParaRPr lang="id-ID"/>
          </a:p>
        </p:txBody>
      </p:sp>
      <p:graphicFrame>
        <p:nvGraphicFramePr>
          <p:cNvPr id="7" name="Table 6">
            <a:extLst>
              <a:ext uri="{FF2B5EF4-FFF2-40B4-BE49-F238E27FC236}">
                <a16:creationId xmlns:a16="http://schemas.microsoft.com/office/drawing/2014/main" id="{04A2A6C3-C89C-ED2C-440F-935885D86522}"/>
              </a:ext>
            </a:extLst>
          </p:cNvPr>
          <p:cNvGraphicFramePr>
            <a:graphicFrameLocks noGrp="1"/>
          </p:cNvGraphicFramePr>
          <p:nvPr>
            <p:extLst>
              <p:ext uri="{D42A27DB-BD31-4B8C-83A1-F6EECF244321}">
                <p14:modId xmlns:p14="http://schemas.microsoft.com/office/powerpoint/2010/main" val="3947364571"/>
              </p:ext>
            </p:extLst>
          </p:nvPr>
        </p:nvGraphicFramePr>
        <p:xfrm>
          <a:off x="400957" y="1129203"/>
          <a:ext cx="11390085" cy="4699073"/>
        </p:xfrm>
        <a:graphic>
          <a:graphicData uri="http://schemas.openxmlformats.org/drawingml/2006/table">
            <a:tbl>
              <a:tblPr/>
              <a:tblGrid>
                <a:gridCol w="670005">
                  <a:extLst>
                    <a:ext uri="{9D8B030D-6E8A-4147-A177-3AD203B41FA5}">
                      <a16:colId xmlns:a16="http://schemas.microsoft.com/office/drawing/2014/main" val="2719621720"/>
                    </a:ext>
                  </a:extLst>
                </a:gridCol>
                <a:gridCol w="670005">
                  <a:extLst>
                    <a:ext uri="{9D8B030D-6E8A-4147-A177-3AD203B41FA5}">
                      <a16:colId xmlns:a16="http://schemas.microsoft.com/office/drawing/2014/main" val="166257965"/>
                    </a:ext>
                  </a:extLst>
                </a:gridCol>
                <a:gridCol w="670005">
                  <a:extLst>
                    <a:ext uri="{9D8B030D-6E8A-4147-A177-3AD203B41FA5}">
                      <a16:colId xmlns:a16="http://schemas.microsoft.com/office/drawing/2014/main" val="948716326"/>
                    </a:ext>
                  </a:extLst>
                </a:gridCol>
                <a:gridCol w="670005">
                  <a:extLst>
                    <a:ext uri="{9D8B030D-6E8A-4147-A177-3AD203B41FA5}">
                      <a16:colId xmlns:a16="http://schemas.microsoft.com/office/drawing/2014/main" val="1750440033"/>
                    </a:ext>
                  </a:extLst>
                </a:gridCol>
                <a:gridCol w="670005">
                  <a:extLst>
                    <a:ext uri="{9D8B030D-6E8A-4147-A177-3AD203B41FA5}">
                      <a16:colId xmlns:a16="http://schemas.microsoft.com/office/drawing/2014/main" val="314674447"/>
                    </a:ext>
                  </a:extLst>
                </a:gridCol>
                <a:gridCol w="670005">
                  <a:extLst>
                    <a:ext uri="{9D8B030D-6E8A-4147-A177-3AD203B41FA5}">
                      <a16:colId xmlns:a16="http://schemas.microsoft.com/office/drawing/2014/main" val="2668934852"/>
                    </a:ext>
                  </a:extLst>
                </a:gridCol>
                <a:gridCol w="670005">
                  <a:extLst>
                    <a:ext uri="{9D8B030D-6E8A-4147-A177-3AD203B41FA5}">
                      <a16:colId xmlns:a16="http://schemas.microsoft.com/office/drawing/2014/main" val="618433314"/>
                    </a:ext>
                  </a:extLst>
                </a:gridCol>
                <a:gridCol w="670005">
                  <a:extLst>
                    <a:ext uri="{9D8B030D-6E8A-4147-A177-3AD203B41FA5}">
                      <a16:colId xmlns:a16="http://schemas.microsoft.com/office/drawing/2014/main" val="22344406"/>
                    </a:ext>
                  </a:extLst>
                </a:gridCol>
                <a:gridCol w="670005">
                  <a:extLst>
                    <a:ext uri="{9D8B030D-6E8A-4147-A177-3AD203B41FA5}">
                      <a16:colId xmlns:a16="http://schemas.microsoft.com/office/drawing/2014/main" val="2223711823"/>
                    </a:ext>
                  </a:extLst>
                </a:gridCol>
                <a:gridCol w="670005">
                  <a:extLst>
                    <a:ext uri="{9D8B030D-6E8A-4147-A177-3AD203B41FA5}">
                      <a16:colId xmlns:a16="http://schemas.microsoft.com/office/drawing/2014/main" val="578418936"/>
                    </a:ext>
                  </a:extLst>
                </a:gridCol>
                <a:gridCol w="670005">
                  <a:extLst>
                    <a:ext uri="{9D8B030D-6E8A-4147-A177-3AD203B41FA5}">
                      <a16:colId xmlns:a16="http://schemas.microsoft.com/office/drawing/2014/main" val="1015198956"/>
                    </a:ext>
                  </a:extLst>
                </a:gridCol>
                <a:gridCol w="670005">
                  <a:extLst>
                    <a:ext uri="{9D8B030D-6E8A-4147-A177-3AD203B41FA5}">
                      <a16:colId xmlns:a16="http://schemas.microsoft.com/office/drawing/2014/main" val="329968207"/>
                    </a:ext>
                  </a:extLst>
                </a:gridCol>
                <a:gridCol w="670005">
                  <a:extLst>
                    <a:ext uri="{9D8B030D-6E8A-4147-A177-3AD203B41FA5}">
                      <a16:colId xmlns:a16="http://schemas.microsoft.com/office/drawing/2014/main" val="2597232853"/>
                    </a:ext>
                  </a:extLst>
                </a:gridCol>
                <a:gridCol w="670005">
                  <a:extLst>
                    <a:ext uri="{9D8B030D-6E8A-4147-A177-3AD203B41FA5}">
                      <a16:colId xmlns:a16="http://schemas.microsoft.com/office/drawing/2014/main" val="58912381"/>
                    </a:ext>
                  </a:extLst>
                </a:gridCol>
                <a:gridCol w="670005">
                  <a:extLst>
                    <a:ext uri="{9D8B030D-6E8A-4147-A177-3AD203B41FA5}">
                      <a16:colId xmlns:a16="http://schemas.microsoft.com/office/drawing/2014/main" val="3670658664"/>
                    </a:ext>
                  </a:extLst>
                </a:gridCol>
                <a:gridCol w="670005">
                  <a:extLst>
                    <a:ext uri="{9D8B030D-6E8A-4147-A177-3AD203B41FA5}">
                      <a16:colId xmlns:a16="http://schemas.microsoft.com/office/drawing/2014/main" val="88464592"/>
                    </a:ext>
                  </a:extLst>
                </a:gridCol>
                <a:gridCol w="670005">
                  <a:extLst>
                    <a:ext uri="{9D8B030D-6E8A-4147-A177-3AD203B41FA5}">
                      <a16:colId xmlns:a16="http://schemas.microsoft.com/office/drawing/2014/main" val="4071068656"/>
                    </a:ext>
                  </a:extLst>
                </a:gridCol>
              </a:tblGrid>
              <a:tr h="1138613">
                <a:tc>
                  <a:txBody>
                    <a:bodyPr/>
                    <a:lstStyle/>
                    <a:p>
                      <a:pPr algn="ctr">
                        <a:buNone/>
                      </a:pPr>
                      <a:r>
                        <a:rPr lang="id-ID" sz="1600" b="1" dirty="0" err="1">
                          <a:effectLst/>
                        </a:rPr>
                        <a:t>minute</a:t>
                      </a:r>
                      <a:endParaRPr lang="id-ID" sz="1600" b="1" dirty="0">
                        <a:effectLst/>
                      </a:endParaRP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second</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play_pattern</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position</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shot_technique</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shot_body_part</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shot_type</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shot_open_goal</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shot_one_on_one</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shot_aerial_won</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under_pressure</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dirty="0" err="1">
                          <a:effectLst/>
                        </a:rPr>
                        <a:t>start_x</a:t>
                      </a:r>
                      <a:endParaRPr lang="id-ID" sz="1600" b="1" dirty="0">
                        <a:effectLst/>
                      </a:endParaRP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start_y</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distance_to_goal</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angle_to_goal</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a:effectLst/>
                        </a:rPr>
                        <a:t>shot_outcome_actual</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b="1" dirty="0" err="1">
                          <a:effectLst/>
                        </a:rPr>
                        <a:t>shot_outcome_pred</a:t>
                      </a:r>
                      <a:endParaRPr lang="id-ID" sz="1600" b="1" dirty="0">
                        <a:effectLst/>
                      </a:endParaRP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2170437"/>
                  </a:ext>
                </a:extLst>
              </a:tr>
              <a:tr h="599271">
                <a:tc>
                  <a:txBody>
                    <a:bodyPr/>
                    <a:lstStyle/>
                    <a:p>
                      <a:pPr algn="ctr">
                        <a:buNone/>
                      </a:pPr>
                      <a:r>
                        <a:rPr lang="id-ID" sz="1600">
                          <a:effectLst/>
                        </a:rPr>
                        <a:t>30.0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50.0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21.0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91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40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dirty="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111.699997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54.400002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112.624374</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0.128210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dirty="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0.009168</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4421890"/>
                  </a:ext>
                </a:extLst>
              </a:tr>
              <a:tr h="779052">
                <a:tc>
                  <a:txBody>
                    <a:bodyPr/>
                    <a:lstStyle/>
                    <a:p>
                      <a:pPr algn="ctr">
                        <a:buNone/>
                      </a:pPr>
                      <a:r>
                        <a:rPr lang="id-ID" sz="1600">
                          <a:effectLst/>
                        </a:rPr>
                        <a:t>57.0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8.0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13.0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93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40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97.599998</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34.799999</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dirty="0">
                          <a:effectLst/>
                        </a:rPr>
                        <a:t>22.995651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-2.913490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dirty="0">
                          <a:effectLst/>
                        </a:rPr>
                        <a:t>0.151052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5246436"/>
                  </a:ext>
                </a:extLst>
              </a:tr>
              <a:tr h="779052">
                <a:tc>
                  <a:txBody>
                    <a:bodyPr/>
                    <a:lstStyle/>
                    <a:p>
                      <a:pPr algn="ctr">
                        <a:buNone/>
                      </a:pPr>
                      <a:r>
                        <a:rPr lang="id-ID" sz="1600">
                          <a:effectLst/>
                        </a:rPr>
                        <a:t>79.0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22.0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4</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17.0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93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37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114.300003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31.299999</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dirty="0">
                          <a:effectLst/>
                        </a:rPr>
                        <a:t>10.400962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-2.150799</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0.116132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219818"/>
                  </a:ext>
                </a:extLst>
              </a:tr>
              <a:tr h="779052">
                <a:tc>
                  <a:txBody>
                    <a:bodyPr/>
                    <a:lstStyle/>
                    <a:p>
                      <a:pPr algn="ctr">
                        <a:buNone/>
                      </a:pPr>
                      <a:r>
                        <a:rPr lang="id-ID" sz="1600">
                          <a:effectLst/>
                        </a:rPr>
                        <a:t>39.0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36.0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21.0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93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38</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114.800003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33.200001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8.560374</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-2.223643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0.481743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2351923"/>
                  </a:ext>
                </a:extLst>
              </a:tr>
              <a:tr h="599271">
                <a:tc>
                  <a:txBody>
                    <a:bodyPr/>
                    <a:lstStyle/>
                    <a:p>
                      <a:pPr algn="ctr">
                        <a:buNone/>
                      </a:pPr>
                      <a:r>
                        <a:rPr lang="id-ID" sz="1600" dirty="0">
                          <a:effectLst/>
                        </a:rPr>
                        <a:t>12.0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42.0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23.0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93</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40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87</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102.400002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54.900002</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23.060139</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2.439081</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a:effectLst/>
                        </a:rPr>
                        <a:t>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id-ID" sz="1600" dirty="0">
                          <a:effectLst/>
                        </a:rPr>
                        <a:t>0.065330</a:t>
                      </a:r>
                    </a:p>
                  </a:txBody>
                  <a:tcPr marL="55786" marR="55786" marT="27893" marB="278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8860514"/>
                  </a:ext>
                </a:extLst>
              </a:tr>
            </a:tbl>
          </a:graphicData>
        </a:graphic>
      </p:graphicFrame>
      <p:sp>
        <p:nvSpPr>
          <p:cNvPr id="8" name="Rectangle 1">
            <a:extLst>
              <a:ext uri="{FF2B5EF4-FFF2-40B4-BE49-F238E27FC236}">
                <a16:creationId xmlns:a16="http://schemas.microsoft.com/office/drawing/2014/main" id="{9BA6C5B7-E9F3-B02D-0179-805FBF599C56}"/>
              </a:ext>
            </a:extLst>
          </p:cNvPr>
          <p:cNvSpPr>
            <a:spLocks noChangeArrowheads="1"/>
          </p:cNvSpPr>
          <p:nvPr/>
        </p:nvSpPr>
        <p:spPr bwMode="auto">
          <a:xfrm>
            <a:off x="1002887" y="1129203"/>
            <a:ext cx="155542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id-ID" altLang="id-ID" sz="1800" b="0" i="0" u="none" strike="noStrike" cap="none" normalizeH="0" baseline="0">
                <a:ln>
                  <a:noFill/>
                </a:ln>
                <a:solidFill>
                  <a:schemeClr val="tx1"/>
                </a:solidFill>
                <a:effectLst/>
                <a:latin typeface="Arial" panose="020B0604020202020204" pitchFamily="34" charset="0"/>
              </a:rPr>
            </a:br>
            <a:endParaRPr kumimoji="0" lang="id-ID" altLang="id-ID"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5984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3AB57-2353-6A5F-C7AE-F147CB3409A0}"/>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BB6CAC7A-D4A1-7DCF-7E2E-AC8E6F6140EB}"/>
              </a:ext>
            </a:extLst>
          </p:cNvPr>
          <p:cNvSpPr>
            <a:spLocks noGrp="1"/>
          </p:cNvSpPr>
          <p:nvPr>
            <p:ph type="title"/>
          </p:nvPr>
        </p:nvSpPr>
        <p:spPr>
          <a:xfrm>
            <a:off x="1167492" y="522807"/>
            <a:ext cx="9779183" cy="1325563"/>
          </a:xfrm>
        </p:spPr>
        <p:txBody>
          <a:bodyPr rtlCol="0"/>
          <a:lstStyle/>
          <a:p>
            <a:pPr rtl="0"/>
            <a:r>
              <a:rPr lang="en-GB" sz="5400" dirty="0"/>
              <a:t>Transformation</a:t>
            </a:r>
            <a:endParaRPr lang="id-ID" sz="5400" dirty="0"/>
          </a:p>
        </p:txBody>
      </p:sp>
      <p:sp>
        <p:nvSpPr>
          <p:cNvPr id="6" name="Tampungan Nomor Slide 5">
            <a:extLst>
              <a:ext uri="{FF2B5EF4-FFF2-40B4-BE49-F238E27FC236}">
                <a16:creationId xmlns:a16="http://schemas.microsoft.com/office/drawing/2014/main" id="{70AA5EB0-2DAA-0BA7-0BC6-9FC0722F51B1}"/>
              </a:ext>
            </a:extLst>
          </p:cNvPr>
          <p:cNvSpPr>
            <a:spLocks noGrp="1"/>
          </p:cNvSpPr>
          <p:nvPr>
            <p:ph type="sldNum" sz="quarter" idx="4"/>
          </p:nvPr>
        </p:nvSpPr>
        <p:spPr/>
        <p:txBody>
          <a:bodyPr rtlCol="0"/>
          <a:lstStyle/>
          <a:p>
            <a:pPr rtl="0"/>
            <a:fld id="{294A09A9-5501-47C1-A89A-A340965A2BE2}" type="slidenum">
              <a:rPr lang="id-ID" smtClean="0"/>
              <a:pPr rtl="0"/>
              <a:t>32</a:t>
            </a:fld>
            <a:endParaRPr lang="id-ID"/>
          </a:p>
        </p:txBody>
      </p:sp>
      <p:sp>
        <p:nvSpPr>
          <p:cNvPr id="8" name="Content Placeholder 7">
            <a:extLst>
              <a:ext uri="{FF2B5EF4-FFF2-40B4-BE49-F238E27FC236}">
                <a16:creationId xmlns:a16="http://schemas.microsoft.com/office/drawing/2014/main" id="{8E740096-F6E8-2107-DCB4-B5BFB5F07C4E}"/>
              </a:ext>
            </a:extLst>
          </p:cNvPr>
          <p:cNvSpPr>
            <a:spLocks noGrp="1"/>
          </p:cNvSpPr>
          <p:nvPr>
            <p:ph idx="1"/>
          </p:nvPr>
        </p:nvSpPr>
        <p:spPr>
          <a:xfrm>
            <a:off x="1202955" y="1780801"/>
            <a:ext cx="9779182" cy="2687637"/>
          </a:xfrm>
        </p:spPr>
        <p:txBody>
          <a:bodyPr/>
          <a:lstStyle/>
          <a:p>
            <a:r>
              <a:rPr lang="id-ID" dirty="0"/>
              <a:t>Pada tahap transformasi, dilakukan rekayasa fitur untuk menciptakan variabel baru yang lebih informatif, seperti jarak tembakan ke gawang (</a:t>
            </a:r>
            <a:r>
              <a:rPr lang="id-ID" dirty="0" err="1"/>
              <a:t>distance_to_goal</a:t>
            </a:r>
            <a:r>
              <a:rPr lang="id-ID" dirty="0"/>
              <a:t>), sudut tembak (</a:t>
            </a:r>
            <a:r>
              <a:rPr lang="id-ID" dirty="0" err="1"/>
              <a:t>angle_to_goal</a:t>
            </a:r>
            <a:r>
              <a:rPr lang="id-ID" dirty="0"/>
              <a:t>), dan jenis kejadian sebelum tembakan (</a:t>
            </a:r>
            <a:r>
              <a:rPr lang="id-ID" dirty="0" err="1"/>
              <a:t>type_before</a:t>
            </a:r>
            <a:r>
              <a:rPr lang="id-ID" dirty="0"/>
              <a:t>). </a:t>
            </a:r>
            <a:r>
              <a:rPr lang="id-ID" dirty="0" err="1"/>
              <a:t>Dataset</a:t>
            </a:r>
            <a:r>
              <a:rPr lang="id-ID" dirty="0"/>
              <a:t> akhir kemudian dibagi menjadi 90% data latih dan 10% data uji.</a:t>
            </a:r>
          </a:p>
        </p:txBody>
      </p:sp>
      <p:pic>
        <p:nvPicPr>
          <p:cNvPr id="10" name="Picture 9">
            <a:extLst>
              <a:ext uri="{FF2B5EF4-FFF2-40B4-BE49-F238E27FC236}">
                <a16:creationId xmlns:a16="http://schemas.microsoft.com/office/drawing/2014/main" id="{4C2A3E13-FFE9-2FBA-A537-9B008745847F}"/>
              </a:ext>
            </a:extLst>
          </p:cNvPr>
          <p:cNvPicPr>
            <a:picLocks noChangeAspect="1"/>
          </p:cNvPicPr>
          <p:nvPr/>
        </p:nvPicPr>
        <p:blipFill>
          <a:blip r:embed="rId3"/>
          <a:stretch>
            <a:fillRect/>
          </a:stretch>
        </p:blipFill>
        <p:spPr>
          <a:xfrm>
            <a:off x="1336316" y="4247487"/>
            <a:ext cx="1731349" cy="2410747"/>
          </a:xfrm>
          <a:prstGeom prst="rect">
            <a:avLst/>
          </a:prstGeom>
        </p:spPr>
      </p:pic>
      <p:pic>
        <p:nvPicPr>
          <p:cNvPr id="11" name="Picture 10">
            <a:extLst>
              <a:ext uri="{FF2B5EF4-FFF2-40B4-BE49-F238E27FC236}">
                <a16:creationId xmlns:a16="http://schemas.microsoft.com/office/drawing/2014/main" id="{EE9D0727-291D-E94D-85FA-6329863E3276}"/>
              </a:ext>
            </a:extLst>
          </p:cNvPr>
          <p:cNvPicPr>
            <a:picLocks noChangeAspect="1"/>
          </p:cNvPicPr>
          <p:nvPr/>
        </p:nvPicPr>
        <p:blipFill rotWithShape="1">
          <a:blip r:embed="rId4">
            <a:extLst>
              <a:ext uri="{28A0092B-C50C-407E-A947-70E740481C1C}">
                <a14:useLocalDpi xmlns:a14="http://schemas.microsoft.com/office/drawing/2010/main" val="0"/>
              </a:ext>
            </a:extLst>
          </a:blip>
          <a:srcRect l="43635" t="17786" r="24000" b="21018"/>
          <a:stretch>
            <a:fillRect/>
          </a:stretch>
        </p:blipFill>
        <p:spPr bwMode="auto">
          <a:xfrm>
            <a:off x="3499658" y="4247488"/>
            <a:ext cx="1657723" cy="239144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46955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B62B8-AAFF-8209-0704-E7B59C7E0FA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686D818-4586-C4E2-4021-6B4F5D5ED5A9}"/>
              </a:ext>
            </a:extLst>
          </p:cNvPr>
          <p:cNvSpPr>
            <a:spLocks noGrp="1"/>
          </p:cNvSpPr>
          <p:nvPr>
            <p:ph type="title"/>
          </p:nvPr>
        </p:nvSpPr>
        <p:spPr>
          <a:xfrm>
            <a:off x="1167492" y="522807"/>
            <a:ext cx="9779183" cy="1325563"/>
          </a:xfrm>
        </p:spPr>
        <p:txBody>
          <a:bodyPr rtlCol="0"/>
          <a:lstStyle/>
          <a:p>
            <a:pPr rtl="0"/>
            <a:r>
              <a:rPr lang="en-GB" sz="5400" dirty="0"/>
              <a:t>Transformation</a:t>
            </a:r>
            <a:endParaRPr lang="id-ID" sz="5400" dirty="0"/>
          </a:p>
        </p:txBody>
      </p:sp>
      <p:sp>
        <p:nvSpPr>
          <p:cNvPr id="6" name="Tampungan Nomor Slide 5">
            <a:extLst>
              <a:ext uri="{FF2B5EF4-FFF2-40B4-BE49-F238E27FC236}">
                <a16:creationId xmlns:a16="http://schemas.microsoft.com/office/drawing/2014/main" id="{B9C508BF-C045-B5A5-71E9-1A51E1BB6217}"/>
              </a:ext>
            </a:extLst>
          </p:cNvPr>
          <p:cNvSpPr>
            <a:spLocks noGrp="1"/>
          </p:cNvSpPr>
          <p:nvPr>
            <p:ph type="sldNum" sz="quarter" idx="4"/>
          </p:nvPr>
        </p:nvSpPr>
        <p:spPr/>
        <p:txBody>
          <a:bodyPr rtlCol="0"/>
          <a:lstStyle/>
          <a:p>
            <a:pPr rtl="0"/>
            <a:fld id="{294A09A9-5501-47C1-A89A-A340965A2BE2}" type="slidenum">
              <a:rPr lang="id-ID" smtClean="0"/>
              <a:pPr rtl="0"/>
              <a:t>33</a:t>
            </a:fld>
            <a:endParaRPr lang="id-ID"/>
          </a:p>
        </p:txBody>
      </p:sp>
      <p:pic>
        <p:nvPicPr>
          <p:cNvPr id="10" name="Picture 9">
            <a:extLst>
              <a:ext uri="{FF2B5EF4-FFF2-40B4-BE49-F238E27FC236}">
                <a16:creationId xmlns:a16="http://schemas.microsoft.com/office/drawing/2014/main" id="{E6B7E322-4BA0-0CAC-2242-931BFC86AEF8}"/>
              </a:ext>
            </a:extLst>
          </p:cNvPr>
          <p:cNvPicPr>
            <a:picLocks noChangeAspect="1"/>
          </p:cNvPicPr>
          <p:nvPr/>
        </p:nvPicPr>
        <p:blipFill>
          <a:blip r:embed="rId3"/>
          <a:stretch>
            <a:fillRect/>
          </a:stretch>
        </p:blipFill>
        <p:spPr>
          <a:xfrm>
            <a:off x="1167492" y="2087563"/>
            <a:ext cx="3124289" cy="4350290"/>
          </a:xfrm>
          <a:prstGeom prst="rect">
            <a:avLst/>
          </a:prstGeom>
        </p:spPr>
      </p:pic>
      <p:sp>
        <p:nvSpPr>
          <p:cNvPr id="4" name="Content Placeholder 3">
            <a:extLst>
              <a:ext uri="{FF2B5EF4-FFF2-40B4-BE49-F238E27FC236}">
                <a16:creationId xmlns:a16="http://schemas.microsoft.com/office/drawing/2014/main" id="{13B3DEDA-2779-05D3-EF80-DE33644C5C2A}"/>
              </a:ext>
            </a:extLst>
          </p:cNvPr>
          <p:cNvSpPr>
            <a:spLocks noGrp="1"/>
          </p:cNvSpPr>
          <p:nvPr>
            <p:ph idx="1"/>
          </p:nvPr>
        </p:nvSpPr>
        <p:spPr>
          <a:xfrm>
            <a:off x="4291781" y="2087563"/>
            <a:ext cx="6242496" cy="1629031"/>
          </a:xfrm>
        </p:spPr>
        <p:txBody>
          <a:bodyPr/>
          <a:lstStyle/>
          <a:p>
            <a:r>
              <a:rPr lang="en-GB" dirty="0" err="1"/>
              <a:t>Titik</a:t>
            </a:r>
            <a:r>
              <a:rPr lang="en-GB" dirty="0"/>
              <a:t> </a:t>
            </a:r>
            <a:r>
              <a:rPr lang="en-GB" dirty="0" err="1"/>
              <a:t>tembakan</a:t>
            </a:r>
            <a:r>
              <a:rPr lang="en-GB" dirty="0"/>
              <a:t> </a:t>
            </a:r>
            <a:r>
              <a:rPr lang="en-GB" dirty="0" err="1"/>
              <a:t>akan</a:t>
            </a:r>
            <a:r>
              <a:rPr lang="en-GB" dirty="0"/>
              <a:t> </a:t>
            </a:r>
            <a:r>
              <a:rPr lang="en-GB" dirty="0" err="1"/>
              <a:t>dihitung</a:t>
            </a:r>
            <a:r>
              <a:rPr lang="en-GB" dirty="0"/>
              <a:t> </a:t>
            </a:r>
            <a:r>
              <a:rPr lang="en-GB" dirty="0" err="1"/>
              <a:t>menggunakan</a:t>
            </a:r>
            <a:r>
              <a:rPr lang="en-GB" dirty="0"/>
              <a:t> </a:t>
            </a:r>
            <a:r>
              <a:rPr lang="en-GB" dirty="0" err="1"/>
              <a:t>start_x</a:t>
            </a:r>
            <a:r>
              <a:rPr lang="en-GB" dirty="0"/>
              <a:t> dan </a:t>
            </a:r>
            <a:r>
              <a:rPr lang="en-GB" dirty="0" err="1"/>
              <a:t>start_y</a:t>
            </a:r>
            <a:r>
              <a:rPr lang="en-GB" dirty="0"/>
              <a:t> </a:t>
            </a:r>
            <a:r>
              <a:rPr lang="en-GB" dirty="0" err="1"/>
              <a:t>untuk</a:t>
            </a:r>
            <a:r>
              <a:rPr lang="en-GB" dirty="0"/>
              <a:t> </a:t>
            </a:r>
            <a:r>
              <a:rPr lang="en-GB" dirty="0" err="1"/>
              <a:t>menghitung</a:t>
            </a:r>
            <a:r>
              <a:rPr lang="en-GB" dirty="0"/>
              <a:t> </a:t>
            </a:r>
            <a:r>
              <a:rPr lang="en-GB" dirty="0" err="1"/>
              <a:t>jarak</a:t>
            </a:r>
            <a:r>
              <a:rPr lang="en-GB" dirty="0"/>
              <a:t> </a:t>
            </a:r>
            <a:r>
              <a:rPr lang="en-GB" dirty="0" err="1"/>
              <a:t>ke</a:t>
            </a:r>
            <a:r>
              <a:rPr lang="en-GB" dirty="0"/>
              <a:t> </a:t>
            </a:r>
            <a:r>
              <a:rPr lang="en-GB" dirty="0" err="1"/>
              <a:t>gawang</a:t>
            </a:r>
            <a:r>
              <a:rPr lang="en-GB" dirty="0"/>
              <a:t> meng</a:t>
            </a:r>
            <a:r>
              <a:rPr lang="id-ID" dirty="0"/>
              <a:t>gunakan rumus Jarak </a:t>
            </a:r>
            <a:r>
              <a:rPr lang="id-ID" dirty="0" err="1"/>
              <a:t>Euclidean</a:t>
            </a:r>
            <a:r>
              <a:rPr lang="id-ID" dirty="0"/>
              <a:t>:</a:t>
            </a:r>
            <a:endParaRPr lang="en-GB" dirty="0"/>
          </a:p>
          <a:p>
            <a:endParaRPr lang="id-ID"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936B4C51-9C8B-6B8D-24D5-498113AE0A1B}"/>
                  </a:ext>
                </a:extLst>
              </p:cNvPr>
              <p:cNvSpPr txBox="1">
                <a:spLocks/>
              </p:cNvSpPr>
              <p:nvPr/>
            </p:nvSpPr>
            <p:spPr>
              <a:xfrm>
                <a:off x="3333135" y="3955787"/>
                <a:ext cx="9497962" cy="162903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m:rPr>
                          <m:nor/>
                        </m:rPr>
                        <a:rPr lang="id-ID" sz="2000" dirty="0">
                          <a:latin typeface="Cambria Math" panose="02040503050406030204" pitchFamily="18" charset="0"/>
                        </a:rPr>
                        <m:t>Jar</m:t>
                      </m:r>
                      <m:r>
                        <m:rPr>
                          <m:sty m:val="p"/>
                        </m:rPr>
                        <a:rPr lang="en-GB" sz="2000" i="1" dirty="0">
                          <a:latin typeface="Cambria Math" panose="02040503050406030204" pitchFamily="18" charset="0"/>
                        </a:rPr>
                        <m:t>ak</m:t>
                      </m:r>
                      <m:r>
                        <a:rPr lang="id-ID" sz="2000" i="1" dirty="0">
                          <a:latin typeface="Cambria Math" panose="02040503050406030204" pitchFamily="18" charset="0"/>
                        </a:rPr>
                        <m:t>=</m:t>
                      </m:r>
                      <m:rad>
                        <m:radPr>
                          <m:degHide m:val="on"/>
                          <m:ctrlPr>
                            <a:rPr lang="id-ID" sz="2000" i="1" dirty="0">
                              <a:latin typeface="Cambria Math" panose="02040503050406030204" pitchFamily="18" charset="0"/>
                            </a:rPr>
                          </m:ctrlPr>
                        </m:radPr>
                        <m:deg/>
                        <m:e>
                          <m:sSup>
                            <m:sSupPr>
                              <m:ctrlPr>
                                <a:rPr lang="id-ID" sz="2000" i="1" dirty="0">
                                  <a:latin typeface="Cambria Math" panose="02040503050406030204" pitchFamily="18" charset="0"/>
                                </a:rPr>
                              </m:ctrlPr>
                            </m:sSupPr>
                            <m:e>
                              <m:d>
                                <m:dPr>
                                  <m:ctrlPr>
                                    <a:rPr lang="id-ID" sz="2000" i="1" dirty="0">
                                      <a:latin typeface="Cambria Math" panose="02040503050406030204" pitchFamily="18" charset="0"/>
                                    </a:rPr>
                                  </m:ctrlPr>
                                </m:dPr>
                                <m:e>
                                  <m:sSub>
                                    <m:sSubPr>
                                      <m:ctrlPr>
                                        <a:rPr lang="id-ID" sz="2000" i="1" dirty="0">
                                          <a:latin typeface="Cambria Math" panose="02040503050406030204" pitchFamily="18" charset="0"/>
                                        </a:rPr>
                                      </m:ctrlPr>
                                    </m:sSubPr>
                                    <m:e>
                                      <m:r>
                                        <a:rPr lang="id-ID" sz="2000" i="1" dirty="0">
                                          <a:latin typeface="Cambria Math" panose="02040503050406030204" pitchFamily="18" charset="0"/>
                                        </a:rPr>
                                        <m:t>𝑥</m:t>
                                      </m:r>
                                    </m:e>
                                    <m:sub>
                                      <m:r>
                                        <m:rPr>
                                          <m:nor/>
                                        </m:rPr>
                                        <a:rPr lang="id-ID" sz="2000" dirty="0">
                                          <a:latin typeface="Cambria Math" panose="02040503050406030204" pitchFamily="18" charset="0"/>
                                        </a:rPr>
                                        <m:t>gawang</m:t>
                                      </m:r>
                                    </m:sub>
                                  </m:sSub>
                                  <m:r>
                                    <a:rPr lang="id-ID" sz="2000" i="1" dirty="0">
                                      <a:latin typeface="Cambria Math" panose="02040503050406030204" pitchFamily="18" charset="0"/>
                                    </a:rPr>
                                    <m:t>−</m:t>
                                  </m:r>
                                  <m:sSub>
                                    <m:sSubPr>
                                      <m:ctrlPr>
                                        <a:rPr lang="id-ID" sz="2000" i="1" dirty="0">
                                          <a:latin typeface="Cambria Math" panose="02040503050406030204" pitchFamily="18" charset="0"/>
                                        </a:rPr>
                                      </m:ctrlPr>
                                    </m:sSubPr>
                                    <m:e>
                                      <m:r>
                                        <a:rPr lang="id-ID" sz="2000" i="1" dirty="0">
                                          <a:latin typeface="Cambria Math" panose="02040503050406030204" pitchFamily="18" charset="0"/>
                                        </a:rPr>
                                        <m:t>𝑥</m:t>
                                      </m:r>
                                    </m:e>
                                    <m:sub>
                                      <m:r>
                                        <m:rPr>
                                          <m:nor/>
                                        </m:rPr>
                                        <a:rPr lang="id-ID" sz="2000" dirty="0">
                                          <a:latin typeface="Cambria Math" panose="02040503050406030204" pitchFamily="18" charset="0"/>
                                        </a:rPr>
                                        <m:t>tembakan</m:t>
                                      </m:r>
                                    </m:sub>
                                  </m:sSub>
                                </m:e>
                              </m:d>
                            </m:e>
                            <m:sup>
                              <m:r>
                                <a:rPr lang="id-ID" sz="2000" i="1" dirty="0">
                                  <a:latin typeface="Cambria Math" panose="02040503050406030204" pitchFamily="18" charset="0"/>
                                </a:rPr>
                                <m:t>2</m:t>
                              </m:r>
                            </m:sup>
                          </m:sSup>
                          <m:r>
                            <a:rPr lang="id-ID" sz="2000" i="1" dirty="0">
                              <a:latin typeface="Cambria Math" panose="02040503050406030204" pitchFamily="18" charset="0"/>
                            </a:rPr>
                            <m:t>+</m:t>
                          </m:r>
                          <m:sSup>
                            <m:sSupPr>
                              <m:ctrlPr>
                                <a:rPr lang="id-ID" sz="2000" i="1" dirty="0">
                                  <a:latin typeface="Cambria Math" panose="02040503050406030204" pitchFamily="18" charset="0"/>
                                </a:rPr>
                              </m:ctrlPr>
                            </m:sSupPr>
                            <m:e>
                              <m:d>
                                <m:dPr>
                                  <m:ctrlPr>
                                    <a:rPr lang="id-ID" sz="2000" i="1" dirty="0">
                                      <a:latin typeface="Cambria Math" panose="02040503050406030204" pitchFamily="18" charset="0"/>
                                    </a:rPr>
                                  </m:ctrlPr>
                                </m:dPr>
                                <m:e>
                                  <m:sSub>
                                    <m:sSubPr>
                                      <m:ctrlPr>
                                        <a:rPr lang="id-ID" sz="2000" i="1" dirty="0">
                                          <a:latin typeface="Cambria Math" panose="02040503050406030204" pitchFamily="18" charset="0"/>
                                        </a:rPr>
                                      </m:ctrlPr>
                                    </m:sSubPr>
                                    <m:e>
                                      <m:r>
                                        <a:rPr lang="id-ID" sz="2000" i="1" dirty="0">
                                          <a:latin typeface="Cambria Math" panose="02040503050406030204" pitchFamily="18" charset="0"/>
                                        </a:rPr>
                                        <m:t>𝑦</m:t>
                                      </m:r>
                                    </m:e>
                                    <m:sub>
                                      <m:r>
                                        <m:rPr>
                                          <m:nor/>
                                        </m:rPr>
                                        <a:rPr lang="id-ID" sz="2000" dirty="0">
                                          <a:latin typeface="Cambria Math" panose="02040503050406030204" pitchFamily="18" charset="0"/>
                                        </a:rPr>
                                        <m:t>gawang</m:t>
                                      </m:r>
                                    </m:sub>
                                  </m:sSub>
                                  <m:r>
                                    <a:rPr lang="id-ID" sz="2000" i="1" dirty="0">
                                      <a:latin typeface="Cambria Math" panose="02040503050406030204" pitchFamily="18" charset="0"/>
                                    </a:rPr>
                                    <m:t>−</m:t>
                                  </m:r>
                                  <m:sSub>
                                    <m:sSubPr>
                                      <m:ctrlPr>
                                        <a:rPr lang="id-ID" sz="2000" i="1" dirty="0">
                                          <a:latin typeface="Cambria Math" panose="02040503050406030204" pitchFamily="18" charset="0"/>
                                        </a:rPr>
                                      </m:ctrlPr>
                                    </m:sSubPr>
                                    <m:e>
                                      <m:r>
                                        <a:rPr lang="id-ID" sz="2000" i="1" dirty="0">
                                          <a:latin typeface="Cambria Math" panose="02040503050406030204" pitchFamily="18" charset="0"/>
                                        </a:rPr>
                                        <m:t>𝑦</m:t>
                                      </m:r>
                                    </m:e>
                                    <m:sub>
                                      <m:r>
                                        <m:rPr>
                                          <m:nor/>
                                        </m:rPr>
                                        <a:rPr lang="id-ID" sz="2000" dirty="0">
                                          <a:latin typeface="Cambria Math" panose="02040503050406030204" pitchFamily="18" charset="0"/>
                                        </a:rPr>
                                        <m:t>tembakan</m:t>
                                      </m:r>
                                    </m:sub>
                                  </m:sSub>
                                </m:e>
                              </m:d>
                            </m:e>
                            <m:sup>
                              <m:r>
                                <a:rPr lang="id-ID" sz="2000" i="1" dirty="0">
                                  <a:latin typeface="Cambria Math" panose="02040503050406030204" pitchFamily="18" charset="0"/>
                                </a:rPr>
                                <m:t>2</m:t>
                              </m:r>
                            </m:sup>
                          </m:sSup>
                        </m:e>
                      </m:rad>
                    </m:oMath>
                  </m:oMathPara>
                </a14:m>
                <a:endParaRPr lang="id-ID" sz="2000" dirty="0"/>
              </a:p>
            </p:txBody>
          </p:sp>
        </mc:Choice>
        <mc:Fallback xmlns="">
          <p:sp>
            <p:nvSpPr>
              <p:cNvPr id="5" name="Content Placeholder 3">
                <a:extLst>
                  <a:ext uri="{FF2B5EF4-FFF2-40B4-BE49-F238E27FC236}">
                    <a16:creationId xmlns:a16="http://schemas.microsoft.com/office/drawing/2014/main" id="{936B4C51-9C8B-6B8D-24D5-498113AE0A1B}"/>
                  </a:ext>
                </a:extLst>
              </p:cNvPr>
              <p:cNvSpPr txBox="1">
                <a:spLocks noRot="1" noChangeAspect="1" noMove="1" noResize="1" noEditPoints="1" noAdjustHandles="1" noChangeArrowheads="1" noChangeShapeType="1" noTextEdit="1"/>
              </p:cNvSpPr>
              <p:nvPr/>
            </p:nvSpPr>
            <p:spPr>
              <a:xfrm>
                <a:off x="3333135" y="3955787"/>
                <a:ext cx="9497962" cy="1629031"/>
              </a:xfrm>
              <a:prstGeom prst="rect">
                <a:avLst/>
              </a:prstGeom>
              <a:blipFill>
                <a:blip r:embed="rId4"/>
                <a:stretch>
                  <a:fillRect/>
                </a:stretch>
              </a:blipFill>
            </p:spPr>
            <p:txBody>
              <a:bodyPr/>
              <a:lstStyle/>
              <a:p>
                <a:r>
                  <a:rPr lang="id-ID">
                    <a:noFill/>
                  </a:rPr>
                  <a:t> </a:t>
                </a:r>
              </a:p>
            </p:txBody>
          </p:sp>
        </mc:Fallback>
      </mc:AlternateContent>
    </p:spTree>
    <p:extLst>
      <p:ext uri="{BB962C8B-B14F-4D97-AF65-F5344CB8AC3E}">
        <p14:creationId xmlns:p14="http://schemas.microsoft.com/office/powerpoint/2010/main" val="877046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BBE7-73CF-3AD9-E644-21570FD3382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9B80593-0587-35B7-91D4-837E2DB7A97B}"/>
              </a:ext>
            </a:extLst>
          </p:cNvPr>
          <p:cNvSpPr>
            <a:spLocks noGrp="1"/>
          </p:cNvSpPr>
          <p:nvPr>
            <p:ph type="title"/>
          </p:nvPr>
        </p:nvSpPr>
        <p:spPr>
          <a:xfrm>
            <a:off x="1167492" y="522807"/>
            <a:ext cx="9779183" cy="1325563"/>
          </a:xfrm>
        </p:spPr>
        <p:txBody>
          <a:bodyPr rtlCol="0"/>
          <a:lstStyle/>
          <a:p>
            <a:pPr rtl="0"/>
            <a:r>
              <a:rPr lang="en-GB" sz="5400" dirty="0"/>
              <a:t>Transformation</a:t>
            </a:r>
            <a:endParaRPr lang="id-ID" sz="5400" dirty="0"/>
          </a:p>
        </p:txBody>
      </p:sp>
      <p:sp>
        <p:nvSpPr>
          <p:cNvPr id="6" name="Tampungan Nomor Slide 5">
            <a:extLst>
              <a:ext uri="{FF2B5EF4-FFF2-40B4-BE49-F238E27FC236}">
                <a16:creationId xmlns:a16="http://schemas.microsoft.com/office/drawing/2014/main" id="{C545AA01-D51F-A74B-9532-81D79B299245}"/>
              </a:ext>
            </a:extLst>
          </p:cNvPr>
          <p:cNvSpPr>
            <a:spLocks noGrp="1"/>
          </p:cNvSpPr>
          <p:nvPr>
            <p:ph type="sldNum" sz="quarter" idx="4"/>
          </p:nvPr>
        </p:nvSpPr>
        <p:spPr/>
        <p:txBody>
          <a:bodyPr rtlCol="0"/>
          <a:lstStyle/>
          <a:p>
            <a:pPr rtl="0"/>
            <a:fld id="{294A09A9-5501-47C1-A89A-A340965A2BE2}" type="slidenum">
              <a:rPr lang="id-ID" smtClean="0"/>
              <a:pPr rtl="0"/>
              <a:t>34</a:t>
            </a:fld>
            <a:endParaRPr lang="id-ID"/>
          </a:p>
        </p:txBody>
      </p:sp>
      <p:pic>
        <p:nvPicPr>
          <p:cNvPr id="11" name="Picture 10">
            <a:extLst>
              <a:ext uri="{FF2B5EF4-FFF2-40B4-BE49-F238E27FC236}">
                <a16:creationId xmlns:a16="http://schemas.microsoft.com/office/drawing/2014/main" id="{508817F4-8EE0-8759-6C58-E87BDD9C4EE0}"/>
              </a:ext>
            </a:extLst>
          </p:cNvPr>
          <p:cNvPicPr>
            <a:picLocks noChangeAspect="1"/>
          </p:cNvPicPr>
          <p:nvPr/>
        </p:nvPicPr>
        <p:blipFill rotWithShape="1">
          <a:blip r:embed="rId3">
            <a:extLst>
              <a:ext uri="{28A0092B-C50C-407E-A947-70E740481C1C}">
                <a14:useLocalDpi xmlns:a14="http://schemas.microsoft.com/office/drawing/2010/main" val="0"/>
              </a:ext>
            </a:extLst>
          </a:blip>
          <a:srcRect l="43635" t="17786" r="24000" b="21018"/>
          <a:stretch>
            <a:fillRect/>
          </a:stretch>
        </p:blipFill>
        <p:spPr bwMode="auto">
          <a:xfrm>
            <a:off x="1167493" y="2087563"/>
            <a:ext cx="3039170" cy="4384330"/>
          </a:xfrm>
          <a:prstGeom prst="rect">
            <a:avLst/>
          </a:prstGeom>
          <a:noFill/>
          <a:ln>
            <a:noFill/>
          </a:ln>
          <a:extLst>
            <a:ext uri="{53640926-AAD7-44D8-BBD7-CCE9431645EC}">
              <a14:shadowObscured xmlns:a14="http://schemas.microsoft.com/office/drawing/2010/main"/>
            </a:ext>
          </a:extLst>
        </p:spPr>
      </p:pic>
      <p:sp>
        <p:nvSpPr>
          <p:cNvPr id="4" name="Content Placeholder 3">
            <a:extLst>
              <a:ext uri="{FF2B5EF4-FFF2-40B4-BE49-F238E27FC236}">
                <a16:creationId xmlns:a16="http://schemas.microsoft.com/office/drawing/2014/main" id="{D5822055-2448-F8A1-276B-15078812A69C}"/>
              </a:ext>
            </a:extLst>
          </p:cNvPr>
          <p:cNvSpPr>
            <a:spLocks noGrp="1"/>
          </p:cNvSpPr>
          <p:nvPr>
            <p:ph idx="1"/>
          </p:nvPr>
        </p:nvSpPr>
        <p:spPr>
          <a:xfrm>
            <a:off x="4291781" y="2087563"/>
            <a:ext cx="6242496" cy="1629031"/>
          </a:xfrm>
        </p:spPr>
        <p:txBody>
          <a:bodyPr/>
          <a:lstStyle/>
          <a:p>
            <a:r>
              <a:rPr lang="id-ID" dirty="0"/>
              <a:t>Untuk menghitung besar sudut dari lokasi tembakan terhadap gawang, digunakan rumus Hukum Kosinus (Law </a:t>
            </a:r>
            <a:r>
              <a:rPr lang="id-ID" dirty="0" err="1"/>
              <a:t>of</a:t>
            </a:r>
            <a:r>
              <a:rPr lang="id-ID" dirty="0"/>
              <a:t> </a:t>
            </a:r>
            <a:r>
              <a:rPr lang="id-ID" dirty="0" err="1"/>
              <a:t>Cosines</a:t>
            </a:r>
            <a:r>
              <a:rPr lang="id-ID" dirty="0"/>
              <a:t>):</a:t>
            </a:r>
          </a:p>
          <a:p>
            <a:endParaRPr lang="id-ID"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19CEBB2E-C90D-EBAE-654A-8D29C1C25827}"/>
                  </a:ext>
                </a:extLst>
              </p:cNvPr>
              <p:cNvSpPr txBox="1">
                <a:spLocks/>
              </p:cNvSpPr>
              <p:nvPr/>
            </p:nvSpPr>
            <p:spPr>
              <a:xfrm>
                <a:off x="2313037" y="3791763"/>
                <a:ext cx="9497962" cy="80794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id-ID" sz="2000" i="1" dirty="0" smtClean="0">
                          <a:latin typeface="Cambria Math" panose="02040503050406030204" pitchFamily="18" charset="0"/>
                        </a:rPr>
                        <m:t>𝜃</m:t>
                      </m:r>
                      <m:r>
                        <a:rPr lang="id-ID" sz="2000" i="1" dirty="0">
                          <a:latin typeface="Cambria Math" panose="02040503050406030204" pitchFamily="18" charset="0"/>
                        </a:rPr>
                        <m:t>=</m:t>
                      </m:r>
                      <m:func>
                        <m:funcPr>
                          <m:ctrlPr>
                            <a:rPr lang="id-ID" sz="2000" i="1" dirty="0">
                              <a:latin typeface="Cambria Math" panose="02040503050406030204" pitchFamily="18" charset="0"/>
                            </a:rPr>
                          </m:ctrlPr>
                        </m:funcPr>
                        <m:fName>
                          <m:r>
                            <m:rPr>
                              <m:sty m:val="p"/>
                            </m:rPr>
                            <a:rPr lang="id-ID" sz="2000" i="0" dirty="0" err="1">
                              <a:latin typeface="Cambria Math" panose="02040503050406030204" pitchFamily="18" charset="0"/>
                            </a:rPr>
                            <m:t>arccos</m:t>
                          </m:r>
                        </m:fName>
                        <m:e>
                          <m:d>
                            <m:dPr>
                              <m:ctrlPr>
                                <a:rPr lang="id-ID" sz="2000" i="1" dirty="0">
                                  <a:latin typeface="Cambria Math" panose="02040503050406030204" pitchFamily="18" charset="0"/>
                                </a:rPr>
                              </m:ctrlPr>
                            </m:dPr>
                            <m:e>
                              <m:f>
                                <m:fPr>
                                  <m:ctrlPr>
                                    <a:rPr lang="id-ID" sz="2000" i="1" dirty="0">
                                      <a:latin typeface="Cambria Math" panose="02040503050406030204" pitchFamily="18" charset="0"/>
                                    </a:rPr>
                                  </m:ctrlPr>
                                </m:fPr>
                                <m:num>
                                  <m:sSup>
                                    <m:sSupPr>
                                      <m:ctrlPr>
                                        <a:rPr lang="id-ID" sz="2000" i="1" dirty="0">
                                          <a:latin typeface="Cambria Math" panose="02040503050406030204" pitchFamily="18" charset="0"/>
                                        </a:rPr>
                                      </m:ctrlPr>
                                    </m:sSupPr>
                                    <m:e>
                                      <m:r>
                                        <a:rPr lang="id-ID" sz="2000" i="1" dirty="0">
                                          <a:latin typeface="Cambria Math" panose="02040503050406030204" pitchFamily="18" charset="0"/>
                                        </a:rPr>
                                        <m:t>𝑎</m:t>
                                      </m:r>
                                    </m:e>
                                    <m:sup>
                                      <m:r>
                                        <a:rPr lang="id-ID" sz="2000" i="1" dirty="0">
                                          <a:latin typeface="Cambria Math" panose="02040503050406030204" pitchFamily="18" charset="0"/>
                                        </a:rPr>
                                        <m:t>2</m:t>
                                      </m:r>
                                    </m:sup>
                                  </m:sSup>
                                  <m:r>
                                    <a:rPr lang="id-ID" sz="2000" i="1" dirty="0">
                                      <a:latin typeface="Cambria Math" panose="02040503050406030204" pitchFamily="18" charset="0"/>
                                    </a:rPr>
                                    <m:t>+</m:t>
                                  </m:r>
                                  <m:sSup>
                                    <m:sSupPr>
                                      <m:ctrlPr>
                                        <a:rPr lang="id-ID" sz="2000" i="1" dirty="0">
                                          <a:latin typeface="Cambria Math" panose="02040503050406030204" pitchFamily="18" charset="0"/>
                                        </a:rPr>
                                      </m:ctrlPr>
                                    </m:sSupPr>
                                    <m:e>
                                      <m:r>
                                        <a:rPr lang="id-ID" sz="2000" i="1" dirty="0">
                                          <a:latin typeface="Cambria Math" panose="02040503050406030204" pitchFamily="18" charset="0"/>
                                        </a:rPr>
                                        <m:t>𝑏</m:t>
                                      </m:r>
                                    </m:e>
                                    <m:sup>
                                      <m:r>
                                        <a:rPr lang="id-ID" sz="2000" i="1" dirty="0">
                                          <a:latin typeface="Cambria Math" panose="02040503050406030204" pitchFamily="18" charset="0"/>
                                        </a:rPr>
                                        <m:t>2</m:t>
                                      </m:r>
                                    </m:sup>
                                  </m:sSup>
                                  <m:r>
                                    <a:rPr lang="id-ID" sz="2000" i="1" dirty="0">
                                      <a:latin typeface="Cambria Math" panose="02040503050406030204" pitchFamily="18" charset="0"/>
                                    </a:rPr>
                                    <m:t>−</m:t>
                                  </m:r>
                                  <m:sSup>
                                    <m:sSupPr>
                                      <m:ctrlPr>
                                        <a:rPr lang="id-ID" sz="2000" i="1" dirty="0">
                                          <a:latin typeface="Cambria Math" panose="02040503050406030204" pitchFamily="18" charset="0"/>
                                        </a:rPr>
                                      </m:ctrlPr>
                                    </m:sSupPr>
                                    <m:e>
                                      <m:r>
                                        <a:rPr lang="id-ID" sz="2000" i="1" dirty="0">
                                          <a:latin typeface="Cambria Math" panose="02040503050406030204" pitchFamily="18" charset="0"/>
                                        </a:rPr>
                                        <m:t>𝑐</m:t>
                                      </m:r>
                                    </m:e>
                                    <m:sup>
                                      <m:r>
                                        <a:rPr lang="id-ID" sz="2000" i="1" dirty="0">
                                          <a:latin typeface="Cambria Math" panose="02040503050406030204" pitchFamily="18" charset="0"/>
                                        </a:rPr>
                                        <m:t>2</m:t>
                                      </m:r>
                                    </m:sup>
                                  </m:sSup>
                                </m:num>
                                <m:den>
                                  <m:r>
                                    <a:rPr lang="id-ID" sz="2000" i="1" dirty="0">
                                      <a:latin typeface="Cambria Math" panose="02040503050406030204" pitchFamily="18" charset="0"/>
                                    </a:rPr>
                                    <m:t>2</m:t>
                                  </m:r>
                                  <m:r>
                                    <a:rPr lang="id-ID" sz="2000" i="1" dirty="0">
                                      <a:latin typeface="Cambria Math" panose="02040503050406030204" pitchFamily="18" charset="0"/>
                                    </a:rPr>
                                    <m:t>𝑎𝑏</m:t>
                                  </m:r>
                                </m:den>
                              </m:f>
                            </m:e>
                          </m:d>
                        </m:e>
                      </m:func>
                    </m:oMath>
                  </m:oMathPara>
                </a14:m>
                <a:endParaRPr/>
              </a:p>
            </p:txBody>
          </p:sp>
        </mc:Choice>
        <mc:Fallback xmlns="">
          <p:sp>
            <p:nvSpPr>
              <p:cNvPr id="5" name="Content Placeholder 3">
                <a:extLst>
                  <a:ext uri="{FF2B5EF4-FFF2-40B4-BE49-F238E27FC236}">
                    <a16:creationId xmlns:a16="http://schemas.microsoft.com/office/drawing/2014/main" id="{19CEBB2E-C90D-EBAE-654A-8D29C1C25827}"/>
                  </a:ext>
                </a:extLst>
              </p:cNvPr>
              <p:cNvSpPr txBox="1">
                <a:spLocks noRot="1" noChangeAspect="1" noMove="1" noResize="1" noEditPoints="1" noAdjustHandles="1" noChangeArrowheads="1" noChangeShapeType="1" noTextEdit="1"/>
              </p:cNvSpPr>
              <p:nvPr/>
            </p:nvSpPr>
            <p:spPr>
              <a:xfrm>
                <a:off x="2313037" y="3791763"/>
                <a:ext cx="9497962" cy="807942"/>
              </a:xfrm>
              <a:prstGeom prst="rect">
                <a:avLst/>
              </a:prstGeom>
              <a:blipFill>
                <a:blip r:embed="rId4"/>
                <a:stretch>
                  <a:fillRect/>
                </a:stretch>
              </a:blipFill>
            </p:spPr>
            <p:txBody>
              <a:bodyPr/>
              <a:lstStyle/>
              <a:p>
                <a:r>
                  <a:rPr lang="id-ID">
                    <a:noFill/>
                  </a:rPr>
                  <a:t> </a:t>
                </a:r>
              </a:p>
            </p:txBody>
          </p:sp>
        </mc:Fallback>
      </mc:AlternateContent>
      <mc:AlternateContent xmlns:mc="http://schemas.openxmlformats.org/markup-compatibility/2006" xmlns:a14="http://schemas.microsoft.com/office/drawing/2010/main">
        <mc:Choice Requires="a14">
          <p:sp>
            <p:nvSpPr>
              <p:cNvPr id="3" name="Content Placeholder 3">
                <a:extLst>
                  <a:ext uri="{FF2B5EF4-FFF2-40B4-BE49-F238E27FC236}">
                    <a16:creationId xmlns:a16="http://schemas.microsoft.com/office/drawing/2014/main" id="{F6E379FE-19D1-3405-2C06-62CCD87A1959}"/>
                  </a:ext>
                </a:extLst>
              </p:cNvPr>
              <p:cNvSpPr txBox="1">
                <a:spLocks/>
              </p:cNvSpPr>
              <p:nvPr/>
            </p:nvSpPr>
            <p:spPr>
              <a:xfrm>
                <a:off x="4291781" y="4599705"/>
                <a:ext cx="6242496" cy="162903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sz="2000" dirty="0"/>
                  <a:t>Keterangan:</a:t>
                </a:r>
                <a:endParaRPr lang="en-GB" sz="2000" dirty="0"/>
              </a:p>
              <a:p>
                <a14:m>
                  <m:oMath xmlns:m="http://schemas.openxmlformats.org/officeDocument/2006/math">
                    <m:r>
                      <a:rPr lang="id-ID" sz="2000" i="1" dirty="0" smtClean="0">
                        <a:latin typeface="Cambria Math" panose="02040503050406030204" pitchFamily="18" charset="0"/>
                      </a:rPr>
                      <m:t>𝜃</m:t>
                    </m:r>
                  </m:oMath>
                </a14:m>
                <a:r>
                  <a:rPr lang="id-ID" sz="2000" dirty="0"/>
                  <a:t>: Besar sudut tembakan ke gawang (dalam derajat).</a:t>
                </a:r>
                <a:endParaRPr lang="en-GB" sz="2000" dirty="0"/>
              </a:p>
              <a:p>
                <a14:m>
                  <m:oMath xmlns:m="http://schemas.openxmlformats.org/officeDocument/2006/math">
                    <m:r>
                      <a:rPr lang="id-ID" sz="2000" i="1" dirty="0" smtClean="0">
                        <a:latin typeface="Cambria Math" panose="02040503050406030204" pitchFamily="18" charset="0"/>
                      </a:rPr>
                      <m:t>𝑎</m:t>
                    </m:r>
                  </m:oMath>
                </a14:m>
                <a:r>
                  <a:rPr lang="id-ID" sz="2000" dirty="0"/>
                  <a:t>: Jarak dari titik tembakan ke tiang gawang pertama.</a:t>
                </a:r>
                <a:endParaRPr lang="en-GB" sz="2000" dirty="0"/>
              </a:p>
              <a:p>
                <a14:m>
                  <m:oMath xmlns:m="http://schemas.openxmlformats.org/officeDocument/2006/math">
                    <m:r>
                      <a:rPr lang="id-ID" sz="2000" i="1" dirty="0" smtClean="0">
                        <a:latin typeface="Cambria Math" panose="02040503050406030204" pitchFamily="18" charset="0"/>
                      </a:rPr>
                      <m:t>𝑏</m:t>
                    </m:r>
                  </m:oMath>
                </a14:m>
                <a:r>
                  <a:rPr lang="id-ID" sz="2000" dirty="0"/>
                  <a:t>: Jarak dari titik tembakan ke tiang gawang kedua.</a:t>
                </a:r>
                <a:endParaRPr lang="en-GB" sz="2000" dirty="0"/>
              </a:p>
              <a:p>
                <a14:m>
                  <m:oMath xmlns:m="http://schemas.openxmlformats.org/officeDocument/2006/math">
                    <m:r>
                      <a:rPr lang="id-ID" sz="2000" i="1" dirty="0" smtClean="0">
                        <a:latin typeface="Cambria Math" panose="02040503050406030204" pitchFamily="18" charset="0"/>
                      </a:rPr>
                      <m:t>𝑐</m:t>
                    </m:r>
                  </m:oMath>
                </a14:m>
                <a:r>
                  <a:rPr lang="id-ID" sz="2000" dirty="0"/>
                  <a:t>: Lebar gawang (jarak antara kedua tiang).</a:t>
                </a:r>
              </a:p>
            </p:txBody>
          </p:sp>
        </mc:Choice>
        <mc:Fallback xmlns="">
          <p:sp>
            <p:nvSpPr>
              <p:cNvPr id="3" name="Content Placeholder 3">
                <a:extLst>
                  <a:ext uri="{FF2B5EF4-FFF2-40B4-BE49-F238E27FC236}">
                    <a16:creationId xmlns:a16="http://schemas.microsoft.com/office/drawing/2014/main" id="{F6E379FE-19D1-3405-2C06-62CCD87A1959}"/>
                  </a:ext>
                </a:extLst>
              </p:cNvPr>
              <p:cNvSpPr txBox="1">
                <a:spLocks noRot="1" noChangeAspect="1" noMove="1" noResize="1" noEditPoints="1" noAdjustHandles="1" noChangeArrowheads="1" noChangeShapeType="1" noTextEdit="1"/>
              </p:cNvSpPr>
              <p:nvPr/>
            </p:nvSpPr>
            <p:spPr>
              <a:xfrm>
                <a:off x="4291781" y="4599705"/>
                <a:ext cx="6242496" cy="1629031"/>
              </a:xfrm>
              <a:prstGeom prst="rect">
                <a:avLst/>
              </a:prstGeom>
              <a:blipFill>
                <a:blip r:embed="rId5"/>
                <a:stretch>
                  <a:fillRect l="-977" t="-4120" r="-879" b="-27715"/>
                </a:stretch>
              </a:blipFill>
            </p:spPr>
            <p:txBody>
              <a:bodyPr/>
              <a:lstStyle/>
              <a:p>
                <a:r>
                  <a:rPr lang="id-ID">
                    <a:noFill/>
                  </a:rPr>
                  <a:t> </a:t>
                </a:r>
              </a:p>
            </p:txBody>
          </p:sp>
        </mc:Fallback>
      </mc:AlternateContent>
    </p:spTree>
    <p:extLst>
      <p:ext uri="{BB962C8B-B14F-4D97-AF65-F5344CB8AC3E}">
        <p14:creationId xmlns:p14="http://schemas.microsoft.com/office/powerpoint/2010/main" val="4172381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084D-8DB6-BDB2-B348-DD81C5A6CB1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504ADEA-C549-59BF-C540-CF4D7380F311}"/>
              </a:ext>
            </a:extLst>
          </p:cNvPr>
          <p:cNvSpPr>
            <a:spLocks noGrp="1"/>
          </p:cNvSpPr>
          <p:nvPr>
            <p:ph type="title"/>
          </p:nvPr>
        </p:nvSpPr>
        <p:spPr>
          <a:xfrm>
            <a:off x="1167492" y="522807"/>
            <a:ext cx="9779183" cy="1325563"/>
          </a:xfrm>
        </p:spPr>
        <p:txBody>
          <a:bodyPr rtlCol="0"/>
          <a:lstStyle/>
          <a:p>
            <a:pPr rtl="0"/>
            <a:r>
              <a:rPr lang="en-GB" sz="5400" dirty="0"/>
              <a:t>Transformation</a:t>
            </a:r>
            <a:endParaRPr lang="id-ID" sz="5400" dirty="0"/>
          </a:p>
        </p:txBody>
      </p:sp>
      <p:sp>
        <p:nvSpPr>
          <p:cNvPr id="6" name="Tampungan Nomor Slide 5">
            <a:extLst>
              <a:ext uri="{FF2B5EF4-FFF2-40B4-BE49-F238E27FC236}">
                <a16:creationId xmlns:a16="http://schemas.microsoft.com/office/drawing/2014/main" id="{EFC9E222-A232-6C83-22DD-2B15B12194B4}"/>
              </a:ext>
            </a:extLst>
          </p:cNvPr>
          <p:cNvSpPr>
            <a:spLocks noGrp="1"/>
          </p:cNvSpPr>
          <p:nvPr>
            <p:ph type="sldNum" sz="quarter" idx="4"/>
          </p:nvPr>
        </p:nvSpPr>
        <p:spPr/>
        <p:txBody>
          <a:bodyPr rtlCol="0"/>
          <a:lstStyle/>
          <a:p>
            <a:pPr rtl="0"/>
            <a:fld id="{294A09A9-5501-47C1-A89A-A340965A2BE2}" type="slidenum">
              <a:rPr lang="id-ID" smtClean="0"/>
              <a:pPr rtl="0"/>
              <a:t>35</a:t>
            </a:fld>
            <a:endParaRPr lang="id-ID"/>
          </a:p>
        </p:txBody>
      </p:sp>
      <p:graphicFrame>
        <p:nvGraphicFramePr>
          <p:cNvPr id="15" name="Content Placeholder 14">
            <a:extLst>
              <a:ext uri="{FF2B5EF4-FFF2-40B4-BE49-F238E27FC236}">
                <a16:creationId xmlns:a16="http://schemas.microsoft.com/office/drawing/2014/main" id="{004EB7D5-19EE-D839-C882-B0C4559F98AA}"/>
              </a:ext>
            </a:extLst>
          </p:cNvPr>
          <p:cNvGraphicFramePr>
            <a:graphicFrameLocks noGrp="1"/>
          </p:cNvGraphicFramePr>
          <p:nvPr>
            <p:ph idx="1"/>
            <p:extLst>
              <p:ext uri="{D42A27DB-BD31-4B8C-83A1-F6EECF244321}">
                <p14:modId xmlns:p14="http://schemas.microsoft.com/office/powerpoint/2010/main" val="3508697416"/>
              </p:ext>
            </p:extLst>
          </p:nvPr>
        </p:nvGraphicFramePr>
        <p:xfrm>
          <a:off x="1167490" y="2022954"/>
          <a:ext cx="5665110" cy="1532070"/>
        </p:xfrm>
        <a:graphic>
          <a:graphicData uri="http://schemas.openxmlformats.org/drawingml/2006/table">
            <a:tbl>
              <a:tblPr/>
              <a:tblGrid>
                <a:gridCol w="1133022">
                  <a:extLst>
                    <a:ext uri="{9D8B030D-6E8A-4147-A177-3AD203B41FA5}">
                      <a16:colId xmlns:a16="http://schemas.microsoft.com/office/drawing/2014/main" val="3219093819"/>
                    </a:ext>
                  </a:extLst>
                </a:gridCol>
                <a:gridCol w="1357088">
                  <a:extLst>
                    <a:ext uri="{9D8B030D-6E8A-4147-A177-3AD203B41FA5}">
                      <a16:colId xmlns:a16="http://schemas.microsoft.com/office/drawing/2014/main" val="2683222152"/>
                    </a:ext>
                  </a:extLst>
                </a:gridCol>
                <a:gridCol w="1066800">
                  <a:extLst>
                    <a:ext uri="{9D8B030D-6E8A-4147-A177-3AD203B41FA5}">
                      <a16:colId xmlns:a16="http://schemas.microsoft.com/office/drawing/2014/main" val="3367586873"/>
                    </a:ext>
                  </a:extLst>
                </a:gridCol>
                <a:gridCol w="1524000">
                  <a:extLst>
                    <a:ext uri="{9D8B030D-6E8A-4147-A177-3AD203B41FA5}">
                      <a16:colId xmlns:a16="http://schemas.microsoft.com/office/drawing/2014/main" val="2944925943"/>
                    </a:ext>
                  </a:extLst>
                </a:gridCol>
                <a:gridCol w="584200">
                  <a:extLst>
                    <a:ext uri="{9D8B030D-6E8A-4147-A177-3AD203B41FA5}">
                      <a16:colId xmlns:a16="http://schemas.microsoft.com/office/drawing/2014/main" val="4254937303"/>
                    </a:ext>
                  </a:extLst>
                </a:gridCol>
              </a:tblGrid>
              <a:tr h="263169">
                <a:tc>
                  <a:txBody>
                    <a:bodyPr/>
                    <a:lstStyle/>
                    <a:p>
                      <a:pPr algn="ctr">
                        <a:buNone/>
                      </a:pPr>
                      <a:r>
                        <a:rPr lang="id-ID" sz="1800" dirty="0" err="1">
                          <a:effectLst/>
                        </a:rPr>
                        <a:t>type_id</a:t>
                      </a:r>
                      <a:endParaRPr lang="id-ID" sz="1800" dirty="0">
                        <a:effectLst/>
                      </a:endParaRP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800">
                          <a:effectLst/>
                        </a:rPr>
                        <a:t>event_type</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800">
                          <a:effectLst/>
                        </a:rPr>
                        <a:t>start_x</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id-ID" sz="1800" dirty="0" err="1">
                          <a:effectLst/>
                        </a:rPr>
                        <a:t>start_y</a:t>
                      </a:r>
                      <a:endParaRPr lang="id-ID" sz="1800" dirty="0">
                        <a:effectLst/>
                      </a:endParaRP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GB" sz="1800" dirty="0">
                          <a:effectLst/>
                        </a:rPr>
                        <a:t>…</a:t>
                      </a:r>
                      <a:endParaRPr lang="id-ID" sz="1800" dirty="0">
                        <a:effectLst/>
                      </a:endParaRP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11244086"/>
                  </a:ext>
                </a:extLst>
              </a:tr>
              <a:tr h="263169">
                <a:tc>
                  <a:txBody>
                    <a:bodyPr/>
                    <a:lstStyle/>
                    <a:p>
                      <a:pPr algn="ctr" fontAlgn="t">
                        <a:buNone/>
                      </a:pPr>
                      <a:r>
                        <a:rPr lang="id-ID" sz="1800" dirty="0">
                          <a:effectLst/>
                        </a:rPr>
                        <a:t>6</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ctr" fontAlgn="t">
                        <a:buNone/>
                      </a:pPr>
                      <a:r>
                        <a:rPr lang="id-ID" sz="1800" dirty="0" err="1">
                          <a:effectLst/>
                        </a:rPr>
                        <a:t>Block</a:t>
                      </a:r>
                      <a:endParaRPr lang="id-ID" sz="1800" dirty="0">
                        <a:effectLst/>
                      </a:endParaRP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ctr" fontAlgn="t">
                        <a:buNone/>
                      </a:pPr>
                      <a:r>
                        <a:rPr lang="id-ID" sz="1800" dirty="0">
                          <a:effectLst/>
                        </a:rPr>
                        <a:t>4.1</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ctr" fontAlgn="t">
                        <a:buNone/>
                      </a:pPr>
                      <a:r>
                        <a:rPr lang="id-ID" sz="1800" dirty="0">
                          <a:effectLst/>
                        </a:rPr>
                        <a:t>50.8</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ctr" fontAlgn="t">
                        <a:buNone/>
                      </a:pPr>
                      <a:r>
                        <a:rPr lang="en-GB" sz="1800" dirty="0">
                          <a:effectLst/>
                        </a:rPr>
                        <a:t>…</a:t>
                      </a:r>
                      <a:endParaRPr lang="id-ID" sz="1800" dirty="0">
                        <a:effectLst/>
                      </a:endParaRP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2014112227"/>
                  </a:ext>
                </a:extLst>
              </a:tr>
              <a:tr h="263169">
                <a:tc>
                  <a:txBody>
                    <a:bodyPr/>
                    <a:lstStyle/>
                    <a:p>
                      <a:pPr algn="ctr" fontAlgn="t">
                        <a:buNone/>
                      </a:pPr>
                      <a:r>
                        <a:rPr lang="id-ID" sz="1800">
                          <a:effectLst/>
                        </a:rPr>
                        <a:t>16</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buNone/>
                      </a:pPr>
                      <a:r>
                        <a:rPr lang="id-ID" sz="1800">
                          <a:effectLst/>
                        </a:rPr>
                        <a:t>Shot</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buNone/>
                      </a:pPr>
                      <a:r>
                        <a:rPr lang="id-ID" sz="1800" dirty="0">
                          <a:effectLst/>
                        </a:rPr>
                        <a:t>112.9</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buNone/>
                      </a:pPr>
                      <a:r>
                        <a:rPr lang="id-ID" sz="1800">
                          <a:effectLst/>
                        </a:rPr>
                        <a:t>36.2</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buNone/>
                      </a:pPr>
                      <a:r>
                        <a:rPr lang="en-GB" sz="1800" dirty="0">
                          <a:effectLst/>
                        </a:rPr>
                        <a:t>…</a:t>
                      </a:r>
                      <a:endParaRPr lang="id-ID" sz="1800" dirty="0">
                        <a:effectLst/>
                      </a:endParaRP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94200224"/>
                  </a:ext>
                </a:extLst>
              </a:tr>
              <a:tr h="263169">
                <a:tc>
                  <a:txBody>
                    <a:bodyPr/>
                    <a:lstStyle/>
                    <a:p>
                      <a:pPr algn="ctr" fontAlgn="t">
                        <a:buNone/>
                      </a:pPr>
                      <a:r>
                        <a:rPr lang="id-ID" sz="1800">
                          <a:effectLst/>
                        </a:rPr>
                        <a:t>23</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ctr" fontAlgn="t">
                        <a:buNone/>
                      </a:pPr>
                      <a:r>
                        <a:rPr lang="id-ID" sz="1800">
                          <a:effectLst/>
                        </a:rPr>
                        <a:t>Goal Keeper</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ctr" fontAlgn="t">
                        <a:buNone/>
                      </a:pPr>
                      <a:r>
                        <a:rPr lang="id-ID" sz="1800" dirty="0">
                          <a:effectLst/>
                        </a:rPr>
                        <a:t>1.1</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ctr" fontAlgn="t">
                        <a:buNone/>
                      </a:pPr>
                      <a:r>
                        <a:rPr lang="id-ID" sz="1800" dirty="0">
                          <a:effectLst/>
                        </a:rPr>
                        <a:t>37.6</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tc>
                  <a:txBody>
                    <a:bodyPr/>
                    <a:lstStyle/>
                    <a:p>
                      <a:pPr algn="ctr" fontAlgn="t">
                        <a:buNone/>
                      </a:pPr>
                      <a:r>
                        <a:rPr lang="en-GB" sz="1800" dirty="0">
                          <a:effectLst/>
                        </a:rPr>
                        <a:t>…</a:t>
                      </a:r>
                      <a:endParaRPr lang="id-ID" sz="1800" dirty="0">
                        <a:effectLst/>
                      </a:endParaRP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7F7"/>
                    </a:solidFill>
                  </a:tcPr>
                </a:tc>
                <a:extLst>
                  <a:ext uri="{0D108BD9-81ED-4DB2-BD59-A6C34878D82A}">
                    <a16:rowId xmlns:a16="http://schemas.microsoft.com/office/drawing/2014/main" val="3547519645"/>
                  </a:ext>
                </a:extLst>
              </a:tr>
              <a:tr h="263169">
                <a:tc>
                  <a:txBody>
                    <a:bodyPr/>
                    <a:lstStyle/>
                    <a:p>
                      <a:pPr algn="ctr" fontAlgn="t">
                        <a:buNone/>
                      </a:pPr>
                      <a:r>
                        <a:rPr lang="id-ID" sz="1800" dirty="0">
                          <a:effectLst/>
                        </a:rPr>
                        <a:t>16</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buNone/>
                      </a:pPr>
                      <a:r>
                        <a:rPr lang="id-ID" sz="1800">
                          <a:effectLst/>
                        </a:rPr>
                        <a:t>Shot</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buNone/>
                      </a:pPr>
                      <a:r>
                        <a:rPr lang="id-ID" sz="1800">
                          <a:effectLst/>
                        </a:rPr>
                        <a:t>96.2</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buNone/>
                      </a:pPr>
                      <a:r>
                        <a:rPr lang="id-ID" sz="1800" dirty="0">
                          <a:effectLst/>
                        </a:rPr>
                        <a:t>40.8</a:t>
                      </a: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buNone/>
                      </a:pPr>
                      <a:r>
                        <a:rPr lang="en-GB" sz="1800" dirty="0">
                          <a:effectLst/>
                        </a:rPr>
                        <a:t>…</a:t>
                      </a:r>
                      <a:endParaRPr lang="id-ID" sz="1800" dirty="0">
                        <a:effectLst/>
                      </a:endParaRPr>
                    </a:p>
                  </a:txBody>
                  <a:tcPr marL="77025" marR="77025" marT="16047" marB="160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97969584"/>
                  </a:ext>
                </a:extLst>
              </a:tr>
            </a:tbl>
          </a:graphicData>
        </a:graphic>
      </p:graphicFrame>
      <p:sp>
        <p:nvSpPr>
          <p:cNvPr id="17" name="Arrow: Bent-Up 16">
            <a:extLst>
              <a:ext uri="{FF2B5EF4-FFF2-40B4-BE49-F238E27FC236}">
                <a16:creationId xmlns:a16="http://schemas.microsoft.com/office/drawing/2014/main" id="{D34768E5-ABC2-A5B5-A597-FCB0966963FC}"/>
              </a:ext>
            </a:extLst>
          </p:cNvPr>
          <p:cNvSpPr/>
          <p:nvPr/>
        </p:nvSpPr>
        <p:spPr>
          <a:xfrm rot="5400000">
            <a:off x="4896053" y="3781064"/>
            <a:ext cx="973394" cy="1165122"/>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graphicFrame>
        <p:nvGraphicFramePr>
          <p:cNvPr id="20" name="Table 19">
            <a:extLst>
              <a:ext uri="{FF2B5EF4-FFF2-40B4-BE49-F238E27FC236}">
                <a16:creationId xmlns:a16="http://schemas.microsoft.com/office/drawing/2014/main" id="{F0FF8C90-D839-09A3-5CF3-93A877DF3889}"/>
              </a:ext>
            </a:extLst>
          </p:cNvPr>
          <p:cNvGraphicFramePr>
            <a:graphicFrameLocks noGrp="1"/>
          </p:cNvGraphicFramePr>
          <p:nvPr>
            <p:extLst>
              <p:ext uri="{D42A27DB-BD31-4B8C-83A1-F6EECF244321}">
                <p14:modId xmlns:p14="http://schemas.microsoft.com/office/powerpoint/2010/main" val="3213487023"/>
              </p:ext>
            </p:extLst>
          </p:nvPr>
        </p:nvGraphicFramePr>
        <p:xfrm>
          <a:off x="6426200" y="4232073"/>
          <a:ext cx="5156199" cy="1828800"/>
        </p:xfrm>
        <a:graphic>
          <a:graphicData uri="http://schemas.openxmlformats.org/drawingml/2006/table">
            <a:tbl>
              <a:tblPr/>
              <a:tblGrid>
                <a:gridCol w="315685">
                  <a:extLst>
                    <a:ext uri="{9D8B030D-6E8A-4147-A177-3AD203B41FA5}">
                      <a16:colId xmlns:a16="http://schemas.microsoft.com/office/drawing/2014/main" val="105642514"/>
                    </a:ext>
                  </a:extLst>
                </a:gridCol>
                <a:gridCol w="1911468">
                  <a:extLst>
                    <a:ext uri="{9D8B030D-6E8A-4147-A177-3AD203B41FA5}">
                      <a16:colId xmlns:a16="http://schemas.microsoft.com/office/drawing/2014/main" val="2571676644"/>
                    </a:ext>
                  </a:extLst>
                </a:gridCol>
                <a:gridCol w="1444276">
                  <a:extLst>
                    <a:ext uri="{9D8B030D-6E8A-4147-A177-3AD203B41FA5}">
                      <a16:colId xmlns:a16="http://schemas.microsoft.com/office/drawing/2014/main" val="2435135470"/>
                    </a:ext>
                  </a:extLst>
                </a:gridCol>
                <a:gridCol w="1484770">
                  <a:extLst>
                    <a:ext uri="{9D8B030D-6E8A-4147-A177-3AD203B41FA5}">
                      <a16:colId xmlns:a16="http://schemas.microsoft.com/office/drawing/2014/main" val="672980241"/>
                    </a:ext>
                  </a:extLst>
                </a:gridCol>
              </a:tblGrid>
              <a:tr h="0">
                <a:tc>
                  <a:txBody>
                    <a:bodyPr/>
                    <a:lstStyle/>
                    <a:p>
                      <a:pPr algn="r">
                        <a:buNone/>
                      </a:pPr>
                      <a:r>
                        <a:rPr lang="en-GB" b="1" dirty="0">
                          <a:effectLst/>
                        </a:rPr>
                        <a:t>…</a:t>
                      </a:r>
                      <a:endParaRPr lang="id-ID"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b="1" dirty="0" err="1">
                          <a:effectLst/>
                        </a:rPr>
                        <a:t>distance_to_goal</a:t>
                      </a:r>
                      <a:endParaRPr lang="id-ID"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b="1" dirty="0" err="1">
                          <a:effectLst/>
                        </a:rPr>
                        <a:t>post_angle</a:t>
                      </a:r>
                      <a:endParaRPr lang="id-ID"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b="1" dirty="0" err="1">
                          <a:effectLst/>
                        </a:rPr>
                        <a:t>type_before</a:t>
                      </a:r>
                      <a:endParaRPr lang="id-ID"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96085726"/>
                  </a:ext>
                </a:extLst>
              </a:tr>
              <a:tr h="0">
                <a:tc>
                  <a:txBody>
                    <a:bodyPr/>
                    <a:lstStyle/>
                    <a:p>
                      <a:pPr algn="r">
                        <a:buNone/>
                      </a:pPr>
                      <a:r>
                        <a:rPr lang="en-GB" dirty="0">
                          <a:effectLst/>
                        </a:rPr>
                        <a:t>…</a:t>
                      </a:r>
                      <a:endParaRPr lang="id-ID"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11.555085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15.658684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66296716"/>
                  </a:ext>
                </a:extLst>
              </a:tr>
              <a:tr h="0">
                <a:tc>
                  <a:txBody>
                    <a:bodyPr/>
                    <a:lstStyle/>
                    <a:p>
                      <a:pPr algn="r">
                        <a:buNone/>
                      </a:pPr>
                      <a:r>
                        <a:rPr lang="en-GB" dirty="0">
                          <a:effectLst/>
                        </a:rPr>
                        <a:t>…</a:t>
                      </a:r>
                      <a:endParaRPr lang="id-ID"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24.316661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13.463007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28508269"/>
                  </a:ext>
                </a:extLst>
              </a:tr>
              <a:tr h="0">
                <a:tc>
                  <a:txBody>
                    <a:bodyPr/>
                    <a:lstStyle/>
                    <a:p>
                      <a:pPr algn="r">
                        <a:buNone/>
                      </a:pPr>
                      <a:r>
                        <a:rPr lang="en-GB" dirty="0">
                          <a:effectLst/>
                        </a:rPr>
                        <a:t>…</a:t>
                      </a:r>
                      <a:endParaRPr lang="id-ID"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11.241441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23.153330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56548867"/>
                  </a:ext>
                </a:extLst>
              </a:tr>
              <a:tr h="0">
                <a:tc>
                  <a:txBody>
                    <a:bodyPr/>
                    <a:lstStyle/>
                    <a:p>
                      <a:pPr algn="r">
                        <a:buNone/>
                      </a:pPr>
                      <a:r>
                        <a:rPr lang="en-GB" dirty="0">
                          <a:effectLst/>
                        </a:rPr>
                        <a:t>…</a:t>
                      </a:r>
                      <a:endParaRPr lang="id-ID"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9.525755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a:effectLst/>
                        </a:rPr>
                        <a:t>41.958567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buNone/>
                      </a:pPr>
                      <a:r>
                        <a:rPr lang="id-ID" dirty="0">
                          <a:effectLs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78848668"/>
                  </a:ext>
                </a:extLst>
              </a:tr>
            </a:tbl>
          </a:graphicData>
        </a:graphic>
      </p:graphicFrame>
    </p:spTree>
    <p:extLst>
      <p:ext uri="{BB962C8B-B14F-4D97-AF65-F5344CB8AC3E}">
        <p14:creationId xmlns:p14="http://schemas.microsoft.com/office/powerpoint/2010/main" val="3528682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A8EC-DA5A-B5F7-AC4F-15566A9F9BA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119A1BD0-04CF-893D-7999-9A26BDBDD997}"/>
              </a:ext>
            </a:extLst>
          </p:cNvPr>
          <p:cNvSpPr>
            <a:spLocks noGrp="1"/>
          </p:cNvSpPr>
          <p:nvPr>
            <p:ph type="title"/>
          </p:nvPr>
        </p:nvSpPr>
        <p:spPr>
          <a:xfrm>
            <a:off x="824174" y="376750"/>
            <a:ext cx="10678142" cy="1325563"/>
          </a:xfrm>
        </p:spPr>
        <p:txBody>
          <a:bodyPr rtlCol="0"/>
          <a:lstStyle/>
          <a:p>
            <a:r>
              <a:rPr lang="id-ID" dirty="0"/>
              <a:t>Data Mining</a:t>
            </a:r>
          </a:p>
        </p:txBody>
      </p:sp>
      <p:sp>
        <p:nvSpPr>
          <p:cNvPr id="3" name="Tampungan Tanggal 2">
            <a:extLst>
              <a:ext uri="{FF2B5EF4-FFF2-40B4-BE49-F238E27FC236}">
                <a16:creationId xmlns:a16="http://schemas.microsoft.com/office/drawing/2014/main" id="{7C210DFE-C317-47FB-9704-A3ED269F3C25}"/>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7D3E9E9B-EA43-631A-89C3-7FCD821CC81E}"/>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36</a:t>
            </a:fld>
            <a:endParaRPr lang="id-ID"/>
          </a:p>
        </p:txBody>
      </p:sp>
      <p:sp>
        <p:nvSpPr>
          <p:cNvPr id="78" name="Content Placeholder 7">
            <a:extLst>
              <a:ext uri="{FF2B5EF4-FFF2-40B4-BE49-F238E27FC236}">
                <a16:creationId xmlns:a16="http://schemas.microsoft.com/office/drawing/2014/main" id="{C699F3B8-B598-FB65-4137-EE669993D8CB}"/>
              </a:ext>
            </a:extLst>
          </p:cNvPr>
          <p:cNvSpPr txBox="1">
            <a:spLocks/>
          </p:cNvSpPr>
          <p:nvPr/>
        </p:nvSpPr>
        <p:spPr>
          <a:xfrm>
            <a:off x="750430" y="1706563"/>
            <a:ext cx="10751885" cy="35291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2400" dirty="0"/>
              <a:t>Tahap </a:t>
            </a:r>
            <a:r>
              <a:rPr lang="en-GB" sz="2400" dirty="0"/>
              <a:t>data mining</a:t>
            </a:r>
            <a:r>
              <a:rPr lang="id-ID" sz="2400" dirty="0"/>
              <a:t> </a:t>
            </a:r>
            <a:r>
              <a:rPr lang="en-GB" sz="2400" dirty="0" err="1"/>
              <a:t>yaitu</a:t>
            </a:r>
            <a:r>
              <a:rPr lang="id-ID" sz="2400" dirty="0"/>
              <a:t> pemodelan menggunakan </a:t>
            </a:r>
            <a:r>
              <a:rPr lang="id-ID" sz="2400" dirty="0" err="1"/>
              <a:t>LightGBM</a:t>
            </a:r>
            <a:r>
              <a:rPr lang="id-ID" sz="2400" dirty="0"/>
              <a:t>. Model dioptimalkan melalui proses </a:t>
            </a:r>
            <a:r>
              <a:rPr lang="id-ID" sz="2400" i="1" dirty="0" err="1"/>
              <a:t>hyperparameter</a:t>
            </a:r>
            <a:r>
              <a:rPr lang="id-ID" sz="2400" i="1" dirty="0"/>
              <a:t> </a:t>
            </a:r>
            <a:r>
              <a:rPr lang="id-ID" sz="2400" i="1" dirty="0" err="1"/>
              <a:t>tuning</a:t>
            </a:r>
            <a:r>
              <a:rPr lang="id-ID" sz="2400" dirty="0"/>
              <a:t> untuk menemukan konfigurasi terbaik. Selanjutnya, dilakukan kalibrasi probabilitas menggunakan regresi isotonik untuk memastikan nilai </a:t>
            </a:r>
            <a:r>
              <a:rPr lang="id-ID" sz="2400" dirty="0" err="1"/>
              <a:t>xG</a:t>
            </a:r>
            <a:r>
              <a:rPr lang="id-ID" sz="2400" dirty="0"/>
              <a:t> yang dihasilkan akurat dan sesuai dengan realitas.</a:t>
            </a:r>
          </a:p>
        </p:txBody>
      </p:sp>
    </p:spTree>
    <p:extLst>
      <p:ext uri="{BB962C8B-B14F-4D97-AF65-F5344CB8AC3E}">
        <p14:creationId xmlns:p14="http://schemas.microsoft.com/office/powerpoint/2010/main" val="2452654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17C8-9F60-9F40-EE31-CF2F1F8A95DF}"/>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F685BB4A-8A3C-97C4-A668-6F8E8C08BE98}"/>
              </a:ext>
            </a:extLst>
          </p:cNvPr>
          <p:cNvSpPr>
            <a:spLocks noGrp="1"/>
          </p:cNvSpPr>
          <p:nvPr>
            <p:ph type="title"/>
          </p:nvPr>
        </p:nvSpPr>
        <p:spPr>
          <a:xfrm>
            <a:off x="771126" y="343565"/>
            <a:ext cx="10678142" cy="802661"/>
          </a:xfrm>
        </p:spPr>
        <p:txBody>
          <a:bodyPr rtlCol="0"/>
          <a:lstStyle/>
          <a:p>
            <a:r>
              <a:rPr lang="id-ID" dirty="0"/>
              <a:t>Data Mining</a:t>
            </a:r>
          </a:p>
        </p:txBody>
      </p:sp>
      <p:sp>
        <p:nvSpPr>
          <p:cNvPr id="3" name="Tampungan Tanggal 2">
            <a:extLst>
              <a:ext uri="{FF2B5EF4-FFF2-40B4-BE49-F238E27FC236}">
                <a16:creationId xmlns:a16="http://schemas.microsoft.com/office/drawing/2014/main" id="{3E82F62E-11B0-E54E-124A-6205AABF0A40}"/>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E5343C88-2491-27E1-8E7D-C4E8976E333F}"/>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37</a:t>
            </a:fld>
            <a:endParaRPr lang="id-ID"/>
          </a:p>
        </p:txBody>
      </p:sp>
      <p:graphicFrame>
        <p:nvGraphicFramePr>
          <p:cNvPr id="6" name="Table 5">
            <a:extLst>
              <a:ext uri="{FF2B5EF4-FFF2-40B4-BE49-F238E27FC236}">
                <a16:creationId xmlns:a16="http://schemas.microsoft.com/office/drawing/2014/main" id="{91CE9139-B390-C879-26BF-1FAD13DE4C1D}"/>
              </a:ext>
            </a:extLst>
          </p:cNvPr>
          <p:cNvGraphicFramePr>
            <a:graphicFrameLocks noGrp="1"/>
          </p:cNvGraphicFramePr>
          <p:nvPr>
            <p:extLst>
              <p:ext uri="{D42A27DB-BD31-4B8C-83A1-F6EECF244321}">
                <p14:modId xmlns:p14="http://schemas.microsoft.com/office/powerpoint/2010/main" val="2037790025"/>
              </p:ext>
            </p:extLst>
          </p:nvPr>
        </p:nvGraphicFramePr>
        <p:xfrm>
          <a:off x="771126" y="1310553"/>
          <a:ext cx="8977558" cy="4352826"/>
        </p:xfrm>
        <a:graphic>
          <a:graphicData uri="http://schemas.openxmlformats.org/drawingml/2006/table">
            <a:tbl>
              <a:tblPr firstRow="1" firstCol="1" bandRow="1">
                <a:tableStyleId>{5C22544A-7EE6-4342-B048-85BDC9FD1C3A}</a:tableStyleId>
              </a:tblPr>
              <a:tblGrid>
                <a:gridCol w="3675972">
                  <a:extLst>
                    <a:ext uri="{9D8B030D-6E8A-4147-A177-3AD203B41FA5}">
                      <a16:colId xmlns:a16="http://schemas.microsoft.com/office/drawing/2014/main" val="2656392974"/>
                    </a:ext>
                  </a:extLst>
                </a:gridCol>
                <a:gridCol w="5301586">
                  <a:extLst>
                    <a:ext uri="{9D8B030D-6E8A-4147-A177-3AD203B41FA5}">
                      <a16:colId xmlns:a16="http://schemas.microsoft.com/office/drawing/2014/main" val="1213556386"/>
                    </a:ext>
                  </a:extLst>
                </a:gridCol>
              </a:tblGrid>
              <a:tr h="725471">
                <a:tc>
                  <a:txBody>
                    <a:bodyPr/>
                    <a:lstStyle/>
                    <a:p>
                      <a:pPr algn="l">
                        <a:lnSpc>
                          <a:spcPct val="115000"/>
                        </a:lnSpc>
                        <a:buNone/>
                      </a:pPr>
                      <a:r>
                        <a:rPr lang="id-ID" sz="2400" kern="0">
                          <a:effectLst/>
                        </a:rPr>
                        <a:t>Nama Hyperparameter</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dirty="0">
                          <a:effectLst/>
                        </a:rPr>
                        <a:t>Nilai yang Diuji</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88265982"/>
                  </a:ext>
                </a:extLst>
              </a:tr>
              <a:tr h="725471">
                <a:tc>
                  <a:txBody>
                    <a:bodyPr/>
                    <a:lstStyle/>
                    <a:p>
                      <a:pPr algn="l">
                        <a:lnSpc>
                          <a:spcPct val="115000"/>
                        </a:lnSpc>
                        <a:buNone/>
                      </a:pPr>
                      <a:r>
                        <a:rPr lang="id-ID" sz="2400" kern="0" dirty="0" err="1">
                          <a:effectLst/>
                        </a:rPr>
                        <a:t>min_child_samples</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a:effectLst/>
                        </a:rPr>
                        <a:t>Distribusi integer acak dari 0-200</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16104125"/>
                  </a:ext>
                </a:extLst>
              </a:tr>
              <a:tr h="725471">
                <a:tc>
                  <a:txBody>
                    <a:bodyPr/>
                    <a:lstStyle/>
                    <a:p>
                      <a:pPr algn="l">
                        <a:lnSpc>
                          <a:spcPct val="115000"/>
                        </a:lnSpc>
                        <a:buNone/>
                      </a:pPr>
                      <a:r>
                        <a:rPr lang="id-ID" sz="2400" kern="0">
                          <a:effectLst/>
                        </a:rPr>
                        <a:t>num_leaves</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dirty="0">
                          <a:effectLst/>
                        </a:rPr>
                        <a:t>Distribusi integer acak dari 2-500</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77251401"/>
                  </a:ext>
                </a:extLst>
              </a:tr>
              <a:tr h="725471">
                <a:tc>
                  <a:txBody>
                    <a:bodyPr/>
                    <a:lstStyle/>
                    <a:p>
                      <a:pPr algn="l">
                        <a:lnSpc>
                          <a:spcPct val="115000"/>
                        </a:lnSpc>
                        <a:buNone/>
                      </a:pPr>
                      <a:r>
                        <a:rPr lang="id-ID" sz="2400" kern="0">
                          <a:effectLst/>
                        </a:rPr>
                        <a:t>reg_lambda</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a:effectLst/>
                        </a:rPr>
                        <a:t>Distribusi uniform acak dari 0-1</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99080159"/>
                  </a:ext>
                </a:extLst>
              </a:tr>
              <a:tr h="725471">
                <a:tc>
                  <a:txBody>
                    <a:bodyPr/>
                    <a:lstStyle/>
                    <a:p>
                      <a:pPr algn="l">
                        <a:lnSpc>
                          <a:spcPct val="115000"/>
                        </a:lnSpc>
                        <a:buNone/>
                      </a:pPr>
                      <a:r>
                        <a:rPr lang="id-ID" sz="2400" kern="0">
                          <a:effectLst/>
                        </a:rPr>
                        <a:t>reg_alpha</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dirty="0">
                          <a:effectLst/>
                        </a:rPr>
                        <a:t>Distribusi uniform acak dari 0-1</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64721062"/>
                  </a:ext>
                </a:extLst>
              </a:tr>
              <a:tr h="725471">
                <a:tc>
                  <a:txBody>
                    <a:bodyPr/>
                    <a:lstStyle/>
                    <a:p>
                      <a:pPr algn="l">
                        <a:lnSpc>
                          <a:spcPct val="115000"/>
                        </a:lnSpc>
                        <a:buNone/>
                      </a:pPr>
                      <a:r>
                        <a:rPr lang="id-ID" sz="2400" kern="0">
                          <a:effectLst/>
                        </a:rPr>
                        <a:t>max_depth</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15000"/>
                        </a:lnSpc>
                        <a:buNone/>
                      </a:pPr>
                      <a:r>
                        <a:rPr lang="id-ID" sz="2400" kern="0" dirty="0">
                          <a:effectLst/>
                        </a:rPr>
                        <a:t>Distribusi integer acak dari 0-500</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05021421"/>
                  </a:ext>
                </a:extLst>
              </a:tr>
            </a:tbl>
          </a:graphicData>
        </a:graphic>
      </p:graphicFrame>
    </p:spTree>
    <p:extLst>
      <p:ext uri="{BB962C8B-B14F-4D97-AF65-F5344CB8AC3E}">
        <p14:creationId xmlns:p14="http://schemas.microsoft.com/office/powerpoint/2010/main" val="261215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CC768-07AA-EEF5-7990-B47D7BC95BC1}"/>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9819B9B2-82FD-FF13-C1AF-B31A952262E7}"/>
              </a:ext>
            </a:extLst>
          </p:cNvPr>
          <p:cNvSpPr>
            <a:spLocks noGrp="1"/>
          </p:cNvSpPr>
          <p:nvPr>
            <p:ph type="title"/>
          </p:nvPr>
        </p:nvSpPr>
        <p:spPr>
          <a:xfrm>
            <a:off x="771126" y="343565"/>
            <a:ext cx="10678142" cy="802661"/>
          </a:xfrm>
        </p:spPr>
        <p:txBody>
          <a:bodyPr rtlCol="0"/>
          <a:lstStyle/>
          <a:p>
            <a:r>
              <a:rPr lang="id-ID" dirty="0"/>
              <a:t>Data Mining</a:t>
            </a:r>
          </a:p>
        </p:txBody>
      </p:sp>
      <p:sp>
        <p:nvSpPr>
          <p:cNvPr id="3" name="Tampungan Tanggal 2">
            <a:extLst>
              <a:ext uri="{FF2B5EF4-FFF2-40B4-BE49-F238E27FC236}">
                <a16:creationId xmlns:a16="http://schemas.microsoft.com/office/drawing/2014/main" id="{092084A5-DF71-2939-DC06-0E5D25D914AF}"/>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43FACFE9-163D-633D-1177-19771BE26EE4}"/>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38</a:t>
            </a:fld>
            <a:endParaRPr lang="id-ID"/>
          </a:p>
        </p:txBody>
      </p:sp>
      <p:graphicFrame>
        <p:nvGraphicFramePr>
          <p:cNvPr id="4" name="Table 3">
            <a:extLst>
              <a:ext uri="{FF2B5EF4-FFF2-40B4-BE49-F238E27FC236}">
                <a16:creationId xmlns:a16="http://schemas.microsoft.com/office/drawing/2014/main" id="{C44B9AEA-607B-6401-E1C3-5374E00B1D3B}"/>
              </a:ext>
            </a:extLst>
          </p:cNvPr>
          <p:cNvGraphicFramePr>
            <a:graphicFrameLocks noGrp="1"/>
          </p:cNvGraphicFramePr>
          <p:nvPr>
            <p:extLst>
              <p:ext uri="{D42A27DB-BD31-4B8C-83A1-F6EECF244321}">
                <p14:modId xmlns:p14="http://schemas.microsoft.com/office/powerpoint/2010/main" val="1529559750"/>
              </p:ext>
            </p:extLst>
          </p:nvPr>
        </p:nvGraphicFramePr>
        <p:xfrm>
          <a:off x="5377495" y="1377238"/>
          <a:ext cx="5826717" cy="3374643"/>
        </p:xfrm>
        <a:graphic>
          <a:graphicData uri="http://schemas.openxmlformats.org/drawingml/2006/table">
            <a:tbl>
              <a:tblPr firstRow="1" firstCol="1" bandRow="1">
                <a:tableStyleId>{5C22544A-7EE6-4342-B048-85BDC9FD1C3A}</a:tableStyleId>
              </a:tblPr>
              <a:tblGrid>
                <a:gridCol w="1650852">
                  <a:extLst>
                    <a:ext uri="{9D8B030D-6E8A-4147-A177-3AD203B41FA5}">
                      <a16:colId xmlns:a16="http://schemas.microsoft.com/office/drawing/2014/main" val="1920469064"/>
                    </a:ext>
                  </a:extLst>
                </a:gridCol>
                <a:gridCol w="4175865">
                  <a:extLst>
                    <a:ext uri="{9D8B030D-6E8A-4147-A177-3AD203B41FA5}">
                      <a16:colId xmlns:a16="http://schemas.microsoft.com/office/drawing/2014/main" val="2925692599"/>
                    </a:ext>
                  </a:extLst>
                </a:gridCol>
              </a:tblGrid>
              <a:tr h="948830">
                <a:tc>
                  <a:txBody>
                    <a:bodyPr/>
                    <a:lstStyle/>
                    <a:p>
                      <a:pPr algn="just">
                        <a:lnSpc>
                          <a:spcPct val="115000"/>
                        </a:lnSpc>
                        <a:buNone/>
                      </a:pPr>
                      <a:r>
                        <a:rPr lang="id-ID" sz="2400" kern="0">
                          <a:effectLst/>
                        </a:rPr>
                        <a:t>Skor ROC AUC</a:t>
                      </a:r>
                      <a:endParaRPr lang="id-ID" sz="36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15000"/>
                        </a:lnSpc>
                        <a:buNone/>
                      </a:pPr>
                      <a:r>
                        <a:rPr lang="id-ID" sz="2400" kern="0" dirty="0">
                          <a:effectLst/>
                        </a:rPr>
                        <a:t>Konfigurasi </a:t>
                      </a:r>
                      <a:r>
                        <a:rPr lang="id-ID" sz="2400" kern="0" dirty="0" err="1">
                          <a:effectLst/>
                        </a:rPr>
                        <a:t>Hyperparameter</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10073653"/>
                  </a:ext>
                </a:extLst>
              </a:tr>
              <a:tr h="2425813">
                <a:tc>
                  <a:txBody>
                    <a:bodyPr/>
                    <a:lstStyle/>
                    <a:p>
                      <a:pPr algn="just">
                        <a:lnSpc>
                          <a:spcPct val="115000"/>
                        </a:lnSpc>
                        <a:buNone/>
                      </a:pPr>
                      <a:r>
                        <a:rPr lang="id-ID" sz="2400" kern="0" dirty="0">
                          <a:effectLst/>
                        </a:rPr>
                        <a:t>0.922487</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15000"/>
                        </a:lnSpc>
                        <a:buNone/>
                      </a:pPr>
                      <a:r>
                        <a:rPr lang="id-ID" sz="2400" kern="0" dirty="0" err="1">
                          <a:effectLst/>
                        </a:rPr>
                        <a:t>max_depth</a:t>
                      </a:r>
                      <a:r>
                        <a:rPr lang="id-ID" sz="2400" kern="0" dirty="0">
                          <a:effectLst/>
                        </a:rPr>
                        <a:t>: 3</a:t>
                      </a:r>
                      <a:endParaRPr lang="id-ID" sz="3600" kern="100" dirty="0">
                        <a:effectLst/>
                      </a:endParaRPr>
                    </a:p>
                    <a:p>
                      <a:pPr algn="just">
                        <a:lnSpc>
                          <a:spcPct val="115000"/>
                        </a:lnSpc>
                        <a:buNone/>
                      </a:pPr>
                      <a:r>
                        <a:rPr lang="id-ID" sz="2400" kern="0" dirty="0" err="1">
                          <a:effectLst/>
                        </a:rPr>
                        <a:t>min_child_samples</a:t>
                      </a:r>
                      <a:r>
                        <a:rPr lang="id-ID" sz="2400" kern="0" dirty="0">
                          <a:effectLst/>
                        </a:rPr>
                        <a:t>: 38</a:t>
                      </a:r>
                      <a:endParaRPr lang="id-ID" sz="3600" kern="100" dirty="0">
                        <a:effectLst/>
                      </a:endParaRPr>
                    </a:p>
                    <a:p>
                      <a:pPr algn="just">
                        <a:lnSpc>
                          <a:spcPct val="115000"/>
                        </a:lnSpc>
                        <a:buNone/>
                      </a:pPr>
                      <a:r>
                        <a:rPr lang="id-ID" sz="2400" kern="0" dirty="0" err="1">
                          <a:effectLst/>
                        </a:rPr>
                        <a:t>num_leaves</a:t>
                      </a:r>
                      <a:r>
                        <a:rPr lang="id-ID" sz="2400" kern="0" dirty="0">
                          <a:effectLst/>
                        </a:rPr>
                        <a:t>: 247</a:t>
                      </a:r>
                      <a:endParaRPr lang="id-ID" sz="3600" kern="100" dirty="0">
                        <a:effectLst/>
                      </a:endParaRPr>
                    </a:p>
                    <a:p>
                      <a:pPr algn="just">
                        <a:lnSpc>
                          <a:spcPct val="115000"/>
                        </a:lnSpc>
                        <a:buNone/>
                      </a:pPr>
                      <a:r>
                        <a:rPr lang="id-ID" sz="2400" kern="0" dirty="0" err="1">
                          <a:effectLst/>
                        </a:rPr>
                        <a:t>reg_alpha</a:t>
                      </a:r>
                      <a:r>
                        <a:rPr lang="id-ID" sz="2400" kern="0" dirty="0">
                          <a:effectLst/>
                        </a:rPr>
                        <a:t>: 0.00374</a:t>
                      </a:r>
                      <a:endParaRPr lang="id-ID" sz="3600" kern="100" dirty="0">
                        <a:effectLst/>
                      </a:endParaRPr>
                    </a:p>
                    <a:p>
                      <a:pPr algn="just">
                        <a:lnSpc>
                          <a:spcPct val="115000"/>
                        </a:lnSpc>
                        <a:buNone/>
                      </a:pPr>
                      <a:r>
                        <a:rPr lang="id-ID" sz="2400" kern="0" dirty="0" err="1">
                          <a:effectLst/>
                        </a:rPr>
                        <a:t>reg_lambda</a:t>
                      </a:r>
                      <a:r>
                        <a:rPr lang="id-ID" sz="2400" kern="0" dirty="0">
                          <a:effectLst/>
                        </a:rPr>
                        <a:t>: 0.08957</a:t>
                      </a:r>
                      <a:endParaRPr lang="id-ID" sz="36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5375198"/>
                  </a:ext>
                </a:extLst>
              </a:tr>
            </a:tbl>
          </a:graphicData>
        </a:graphic>
      </p:graphicFrame>
      <p:sp>
        <p:nvSpPr>
          <p:cNvPr id="9" name="TextBox 8">
            <a:extLst>
              <a:ext uri="{FF2B5EF4-FFF2-40B4-BE49-F238E27FC236}">
                <a16:creationId xmlns:a16="http://schemas.microsoft.com/office/drawing/2014/main" id="{57A749A1-F16E-0790-CB53-E6FA11413508}"/>
              </a:ext>
            </a:extLst>
          </p:cNvPr>
          <p:cNvSpPr txBox="1"/>
          <p:nvPr/>
        </p:nvSpPr>
        <p:spPr>
          <a:xfrm>
            <a:off x="742731" y="1377238"/>
            <a:ext cx="4360210" cy="2585323"/>
          </a:xfrm>
          <a:prstGeom prst="rect">
            <a:avLst/>
          </a:prstGeom>
          <a:noFill/>
        </p:spPr>
        <p:txBody>
          <a:bodyPr wrap="square">
            <a:spAutoFit/>
          </a:bodyPr>
          <a:lstStyle/>
          <a:p>
            <a:pPr>
              <a:buNone/>
            </a:pPr>
            <a:r>
              <a:rPr lang="id-ID" b="0" dirty="0" err="1">
                <a:solidFill>
                  <a:srgbClr val="000000"/>
                </a:solidFill>
                <a:effectLst/>
                <a:latin typeface="Courier New" panose="02070309020205020404" pitchFamily="49" charset="0"/>
              </a:rPr>
              <a:t>searchcv</a:t>
            </a:r>
            <a:r>
              <a:rPr lang="id-ID" b="0" dirty="0">
                <a:solidFill>
                  <a:srgbClr val="000000"/>
                </a:solidFill>
                <a:effectLst/>
                <a:latin typeface="Courier New" panose="02070309020205020404" pitchFamily="49" charset="0"/>
              </a:rPr>
              <a:t> = </a:t>
            </a:r>
            <a:r>
              <a:rPr lang="id-ID" b="0" dirty="0" err="1">
                <a:solidFill>
                  <a:srgbClr val="000000"/>
                </a:solidFill>
                <a:effectLst/>
                <a:latin typeface="Courier New" panose="02070309020205020404" pitchFamily="49" charset="0"/>
              </a:rPr>
              <a:t>RandomizedSearchCV</a:t>
            </a:r>
            <a:r>
              <a:rPr lang="id-ID" b="0" dirty="0">
                <a:solidFill>
                  <a:srgbClr val="000000"/>
                </a:solidFill>
                <a:effectLst/>
                <a:latin typeface="Courier New" panose="02070309020205020404" pitchFamily="49" charset="0"/>
              </a:rPr>
              <a:t>(</a:t>
            </a:r>
            <a:endParaRPr lang="en-GB" b="0" dirty="0">
              <a:solidFill>
                <a:srgbClr val="000000"/>
              </a:solidFill>
              <a:effectLst/>
              <a:latin typeface="Courier New" panose="02070309020205020404" pitchFamily="49" charset="0"/>
            </a:endParaRPr>
          </a:p>
          <a:p>
            <a:pPr>
              <a:buNone/>
            </a:pPr>
            <a:r>
              <a:rPr lang="id-ID" b="0" dirty="0" err="1">
                <a:solidFill>
                  <a:srgbClr val="000000"/>
                </a:solidFill>
                <a:effectLst/>
                <a:latin typeface="Courier New" panose="02070309020205020404" pitchFamily="49" charset="0"/>
              </a:rPr>
              <a:t>estimator</a:t>
            </a:r>
            <a:r>
              <a:rPr lang="id-ID" b="0" dirty="0">
                <a:solidFill>
                  <a:srgbClr val="000000"/>
                </a:solidFill>
                <a:effectLst/>
                <a:latin typeface="Courier New" panose="02070309020205020404" pitchFamily="49" charset="0"/>
              </a:rPr>
              <a:t>=</a:t>
            </a:r>
            <a:r>
              <a:rPr lang="id-ID" b="0" dirty="0" err="1">
                <a:solidFill>
                  <a:srgbClr val="000000"/>
                </a:solidFill>
                <a:effectLst/>
                <a:latin typeface="Courier New" panose="02070309020205020404" pitchFamily="49" charset="0"/>
              </a:rPr>
              <a:t>lgbm</a:t>
            </a:r>
            <a:r>
              <a:rPr lang="id-ID" b="0" dirty="0">
                <a:solidFill>
                  <a:srgbClr val="000000"/>
                </a:solidFill>
                <a:effectLst/>
                <a:latin typeface="Courier New" panose="02070309020205020404" pitchFamily="49" charset="0"/>
              </a:rPr>
              <a:t>,</a:t>
            </a:r>
            <a:endParaRPr lang="en-GB" dirty="0">
              <a:solidFill>
                <a:srgbClr val="000000"/>
              </a:solidFill>
              <a:latin typeface="Courier New" panose="02070309020205020404" pitchFamily="49" charset="0"/>
            </a:endParaRPr>
          </a:p>
          <a:p>
            <a:pPr>
              <a:buNone/>
            </a:pPr>
            <a:r>
              <a:rPr lang="id-ID" b="0" dirty="0" err="1">
                <a:solidFill>
                  <a:srgbClr val="000000"/>
                </a:solidFill>
                <a:effectLst/>
                <a:latin typeface="Courier New" panose="02070309020205020404" pitchFamily="49" charset="0"/>
              </a:rPr>
              <a:t>n_iter</a:t>
            </a:r>
            <a:r>
              <a:rPr lang="id-ID" b="0" dirty="0">
                <a:solidFill>
                  <a:srgbClr val="000000"/>
                </a:solidFill>
                <a:effectLst/>
                <a:latin typeface="Courier New" panose="02070309020205020404" pitchFamily="49" charset="0"/>
              </a:rPr>
              <a:t>=</a:t>
            </a:r>
            <a:r>
              <a:rPr lang="id-ID" b="0" dirty="0">
                <a:solidFill>
                  <a:srgbClr val="116644"/>
                </a:solidFill>
                <a:effectLst/>
                <a:latin typeface="Courier New" panose="02070309020205020404" pitchFamily="49" charset="0"/>
              </a:rPr>
              <a:t>100</a:t>
            </a:r>
            <a:r>
              <a:rPr lang="en-GB" b="0" dirty="0">
                <a:solidFill>
                  <a:srgbClr val="116644"/>
                </a:solidFill>
                <a:effectLst/>
                <a:latin typeface="Courier New" panose="02070309020205020404" pitchFamily="49" charset="0"/>
              </a:rPr>
              <a:t>,</a:t>
            </a:r>
          </a:p>
          <a:p>
            <a:pPr>
              <a:buNone/>
            </a:pPr>
            <a:r>
              <a:rPr lang="id-ID" b="0" dirty="0" err="1">
                <a:solidFill>
                  <a:srgbClr val="000000"/>
                </a:solidFill>
                <a:effectLst/>
                <a:latin typeface="Courier New" panose="02070309020205020404" pitchFamily="49" charset="0"/>
              </a:rPr>
              <a:t>param_distributions</a:t>
            </a:r>
            <a:r>
              <a:rPr lang="id-ID" b="0" dirty="0">
                <a:solidFill>
                  <a:srgbClr val="000000"/>
                </a:solidFill>
                <a:effectLst/>
                <a:latin typeface="Courier New" panose="02070309020205020404" pitchFamily="49" charset="0"/>
              </a:rPr>
              <a:t>=</a:t>
            </a:r>
            <a:r>
              <a:rPr lang="id-ID" b="0" dirty="0" err="1">
                <a:solidFill>
                  <a:srgbClr val="000000"/>
                </a:solidFill>
                <a:effectLst/>
                <a:latin typeface="Courier New" panose="02070309020205020404" pitchFamily="49" charset="0"/>
              </a:rPr>
              <a:t>lgbm_param_grid</a:t>
            </a:r>
            <a:r>
              <a:rPr lang="id-ID" b="0" dirty="0">
                <a:solidFill>
                  <a:srgbClr val="000000"/>
                </a:solidFill>
                <a:effectLst/>
                <a:latin typeface="Courier New" panose="02070309020205020404" pitchFamily="49" charset="0"/>
              </a:rPr>
              <a:t>,</a:t>
            </a:r>
            <a:endParaRPr lang="en-GB" b="0" dirty="0">
              <a:solidFill>
                <a:srgbClr val="000000"/>
              </a:solidFill>
              <a:effectLst/>
              <a:latin typeface="Courier New" panose="02070309020205020404" pitchFamily="49" charset="0"/>
            </a:endParaRPr>
          </a:p>
          <a:p>
            <a:pPr>
              <a:buNone/>
            </a:pPr>
            <a:r>
              <a:rPr lang="id-ID" b="0" dirty="0">
                <a:solidFill>
                  <a:srgbClr val="000000"/>
                </a:solidFill>
                <a:effectLst/>
                <a:latin typeface="Courier New" panose="02070309020205020404" pitchFamily="49" charset="0"/>
              </a:rPr>
              <a:t>cv=</a:t>
            </a:r>
            <a:r>
              <a:rPr lang="id-ID" b="0" dirty="0">
                <a:solidFill>
                  <a:srgbClr val="116644"/>
                </a:solidFill>
                <a:effectLst/>
                <a:latin typeface="Courier New" panose="02070309020205020404" pitchFamily="49" charset="0"/>
              </a:rPr>
              <a:t>5</a:t>
            </a:r>
            <a:r>
              <a:rPr lang="id-ID" b="0" dirty="0">
                <a:solidFill>
                  <a:srgbClr val="000000"/>
                </a:solidFill>
                <a:effectLst/>
                <a:latin typeface="Courier New" panose="02070309020205020404" pitchFamily="49" charset="0"/>
              </a:rPr>
              <a:t>,</a:t>
            </a:r>
            <a:endParaRPr lang="en-GB" b="0" dirty="0">
              <a:solidFill>
                <a:srgbClr val="000000"/>
              </a:solidFill>
              <a:effectLst/>
              <a:latin typeface="Courier New" panose="02070309020205020404" pitchFamily="49" charset="0"/>
            </a:endParaRPr>
          </a:p>
          <a:p>
            <a:pPr>
              <a:buNone/>
            </a:pPr>
            <a:r>
              <a:rPr lang="id-ID" b="0" dirty="0" err="1">
                <a:solidFill>
                  <a:srgbClr val="000000"/>
                </a:solidFill>
                <a:effectLst/>
                <a:latin typeface="Courier New" panose="02070309020205020404" pitchFamily="49" charset="0"/>
              </a:rPr>
              <a:t>scoring</a:t>
            </a:r>
            <a:r>
              <a:rPr lang="id-ID" b="0" dirty="0">
                <a:solidFill>
                  <a:srgbClr val="000000"/>
                </a:solidFill>
                <a:effectLst/>
                <a:latin typeface="Courier New" panose="02070309020205020404" pitchFamily="49" charset="0"/>
              </a:rPr>
              <a:t>=</a:t>
            </a:r>
            <a:r>
              <a:rPr lang="id-ID" b="0" dirty="0" err="1">
                <a:solidFill>
                  <a:srgbClr val="000000"/>
                </a:solidFill>
                <a:effectLst/>
                <a:latin typeface="Courier New" panose="02070309020205020404" pitchFamily="49" charset="0"/>
              </a:rPr>
              <a:t>scoring</a:t>
            </a:r>
            <a:r>
              <a:rPr lang="id-ID" b="0" dirty="0">
                <a:solidFill>
                  <a:srgbClr val="000000"/>
                </a:solidFill>
                <a:effectLst/>
                <a:latin typeface="Courier New" panose="02070309020205020404" pitchFamily="49" charset="0"/>
              </a:rPr>
              <a:t>,</a:t>
            </a:r>
            <a:endParaRPr lang="en-GB" b="0" dirty="0">
              <a:solidFill>
                <a:srgbClr val="000000"/>
              </a:solidFill>
              <a:effectLst/>
              <a:latin typeface="Courier New" panose="02070309020205020404" pitchFamily="49" charset="0"/>
            </a:endParaRPr>
          </a:p>
          <a:p>
            <a:pPr>
              <a:buNone/>
            </a:pPr>
            <a:r>
              <a:rPr lang="id-ID" b="0" dirty="0" err="1">
                <a:solidFill>
                  <a:srgbClr val="000000"/>
                </a:solidFill>
                <a:effectLst/>
                <a:latin typeface="Courier New" panose="02070309020205020404" pitchFamily="49" charset="0"/>
              </a:rPr>
              <a:t>refit</a:t>
            </a:r>
            <a:r>
              <a:rPr lang="id-ID" b="0" dirty="0">
                <a:solidFill>
                  <a:srgbClr val="000000"/>
                </a:solidFill>
                <a:effectLst/>
                <a:latin typeface="Courier New" panose="02070309020205020404" pitchFamily="49" charset="0"/>
              </a:rPr>
              <a:t>=</a:t>
            </a:r>
            <a:r>
              <a:rPr lang="id-ID" b="0" dirty="0">
                <a:solidFill>
                  <a:srgbClr val="A31515"/>
                </a:solidFill>
                <a:effectLst/>
                <a:latin typeface="Courier New" panose="02070309020205020404" pitchFamily="49" charset="0"/>
              </a:rPr>
              <a:t>'</a:t>
            </a:r>
            <a:r>
              <a:rPr lang="id-ID" b="0" dirty="0" err="1">
                <a:solidFill>
                  <a:srgbClr val="A31515"/>
                </a:solidFill>
                <a:effectLst/>
                <a:latin typeface="Courier New" panose="02070309020205020404" pitchFamily="49" charset="0"/>
              </a:rPr>
              <a:t>roc_aug</a:t>
            </a:r>
            <a:r>
              <a:rPr lang="id-ID" b="0" dirty="0">
                <a:solidFill>
                  <a:srgbClr val="A31515"/>
                </a:solidFill>
                <a:effectLst/>
                <a:latin typeface="Courier New" panose="02070309020205020404" pitchFamily="49" charset="0"/>
              </a:rPr>
              <a:t>’</a:t>
            </a:r>
            <a:r>
              <a:rPr lang="id-ID" b="0" dirty="0">
                <a:solidFill>
                  <a:srgbClr val="000000"/>
                </a:solidFill>
                <a:effectLst/>
                <a:latin typeface="Courier New" panose="02070309020205020404" pitchFamily="49" charset="0"/>
              </a:rPr>
              <a:t>,</a:t>
            </a:r>
            <a:endParaRPr lang="en-GB" dirty="0">
              <a:solidFill>
                <a:srgbClr val="000000"/>
              </a:solidFill>
              <a:latin typeface="Courier New" panose="02070309020205020404" pitchFamily="49" charset="0"/>
            </a:endParaRPr>
          </a:p>
          <a:p>
            <a:pPr>
              <a:buNone/>
            </a:pPr>
            <a:r>
              <a:rPr lang="id-ID" b="0" dirty="0" err="1">
                <a:solidFill>
                  <a:srgbClr val="000000"/>
                </a:solidFill>
                <a:effectLst/>
                <a:latin typeface="Courier New" panose="02070309020205020404" pitchFamily="49" charset="0"/>
              </a:rPr>
              <a:t>n_jobs</a:t>
            </a:r>
            <a:r>
              <a:rPr lang="id-ID" b="0" dirty="0">
                <a:solidFill>
                  <a:srgbClr val="000000"/>
                </a:solidFill>
                <a:effectLst/>
                <a:latin typeface="Courier New" panose="02070309020205020404" pitchFamily="49" charset="0"/>
              </a:rPr>
              <a:t>=</a:t>
            </a:r>
            <a:r>
              <a:rPr lang="id-ID" b="0" dirty="0">
                <a:solidFill>
                  <a:srgbClr val="116644"/>
                </a:solidFill>
                <a:effectLst/>
                <a:latin typeface="Courier New" panose="02070309020205020404" pitchFamily="49" charset="0"/>
              </a:rPr>
              <a:t>-1</a:t>
            </a:r>
            <a:r>
              <a:rPr lang="id-ID"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11434845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9A4C9-5303-D951-9D02-7048D08A845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0088EE7A-612E-7B88-F1A6-9D7BDDAC54F0}"/>
              </a:ext>
            </a:extLst>
          </p:cNvPr>
          <p:cNvSpPr>
            <a:spLocks noGrp="1"/>
          </p:cNvSpPr>
          <p:nvPr>
            <p:ph type="title"/>
          </p:nvPr>
        </p:nvSpPr>
        <p:spPr>
          <a:xfrm>
            <a:off x="771126" y="343565"/>
            <a:ext cx="10678142" cy="802661"/>
          </a:xfrm>
        </p:spPr>
        <p:txBody>
          <a:bodyPr rtlCol="0"/>
          <a:lstStyle/>
          <a:p>
            <a:r>
              <a:rPr lang="id-ID" dirty="0"/>
              <a:t>Data Mining</a:t>
            </a:r>
          </a:p>
        </p:txBody>
      </p:sp>
      <p:sp>
        <p:nvSpPr>
          <p:cNvPr id="3" name="Tampungan Tanggal 2">
            <a:extLst>
              <a:ext uri="{FF2B5EF4-FFF2-40B4-BE49-F238E27FC236}">
                <a16:creationId xmlns:a16="http://schemas.microsoft.com/office/drawing/2014/main" id="{0F52C261-1C5D-F468-9944-70A197A937B9}"/>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13E6048B-35B9-67C6-B0D3-87A7F90FB6A5}"/>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39</a:t>
            </a:fld>
            <a:endParaRPr lang="id-ID"/>
          </a:p>
        </p:txBody>
      </p:sp>
      <p:pic>
        <p:nvPicPr>
          <p:cNvPr id="6146" name="Picture 2">
            <a:extLst>
              <a:ext uri="{FF2B5EF4-FFF2-40B4-BE49-F238E27FC236}">
                <a16:creationId xmlns:a16="http://schemas.microsoft.com/office/drawing/2014/main" id="{16A831FA-2CBD-0485-8788-7522C67461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t="30968" r="66631" b="44484"/>
          <a:stretch>
            <a:fillRect/>
          </a:stretch>
        </p:blipFill>
        <p:spPr bwMode="auto">
          <a:xfrm>
            <a:off x="771126" y="1332389"/>
            <a:ext cx="9910740" cy="4611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6569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F32C7-FB47-58EB-A9C0-3A685EB87FA8}"/>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906A093-4313-B0E5-ACBD-AACB5A4F6E11}"/>
              </a:ext>
            </a:extLst>
          </p:cNvPr>
          <p:cNvSpPr>
            <a:spLocks noGrp="1"/>
          </p:cNvSpPr>
          <p:nvPr>
            <p:ph type="title"/>
          </p:nvPr>
        </p:nvSpPr>
        <p:spPr>
          <a:xfrm>
            <a:off x="771126" y="343565"/>
            <a:ext cx="10678142" cy="802661"/>
          </a:xfrm>
        </p:spPr>
        <p:txBody>
          <a:bodyPr rtlCol="0"/>
          <a:lstStyle/>
          <a:p>
            <a:r>
              <a:rPr lang="id-ID" dirty="0"/>
              <a:t>Data Mining</a:t>
            </a:r>
          </a:p>
        </p:txBody>
      </p:sp>
      <p:sp>
        <p:nvSpPr>
          <p:cNvPr id="3" name="Tampungan Tanggal 2">
            <a:extLst>
              <a:ext uri="{FF2B5EF4-FFF2-40B4-BE49-F238E27FC236}">
                <a16:creationId xmlns:a16="http://schemas.microsoft.com/office/drawing/2014/main" id="{8026C67E-3414-C4D3-91C9-8703AE3C0857}"/>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5BDC2271-1C94-D047-46C0-D38CF0BE0D54}"/>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40</a:t>
            </a:fld>
            <a:endParaRPr lang="id-ID"/>
          </a:p>
        </p:txBody>
      </p:sp>
      <p:pic>
        <p:nvPicPr>
          <p:cNvPr id="7" name="Picture 6">
            <a:extLst>
              <a:ext uri="{FF2B5EF4-FFF2-40B4-BE49-F238E27FC236}">
                <a16:creationId xmlns:a16="http://schemas.microsoft.com/office/drawing/2014/main" id="{A45DB4BB-4787-0465-2234-1A16D2BE392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1497" y="1501802"/>
            <a:ext cx="6951010" cy="4854548"/>
          </a:xfrm>
          <a:prstGeom prst="rect">
            <a:avLst/>
          </a:prstGeom>
          <a:noFill/>
          <a:ln>
            <a:noFill/>
          </a:ln>
        </p:spPr>
      </p:pic>
      <p:sp>
        <p:nvSpPr>
          <p:cNvPr id="6" name="TextBox 5">
            <a:extLst>
              <a:ext uri="{FF2B5EF4-FFF2-40B4-BE49-F238E27FC236}">
                <a16:creationId xmlns:a16="http://schemas.microsoft.com/office/drawing/2014/main" id="{FE47A4A7-496C-CEBB-E77A-3BEB36CEAEC8}"/>
              </a:ext>
            </a:extLst>
          </p:cNvPr>
          <p:cNvSpPr txBox="1"/>
          <p:nvPr/>
        </p:nvSpPr>
        <p:spPr>
          <a:xfrm>
            <a:off x="381000" y="1501802"/>
            <a:ext cx="4073013" cy="1477328"/>
          </a:xfrm>
          <a:prstGeom prst="rect">
            <a:avLst/>
          </a:prstGeom>
          <a:noFill/>
        </p:spPr>
        <p:txBody>
          <a:bodyPr wrap="square">
            <a:spAutoFit/>
          </a:bodyPr>
          <a:lstStyle/>
          <a:p>
            <a:pPr>
              <a:buNone/>
            </a:pPr>
            <a:r>
              <a:rPr lang="id-ID" b="0" dirty="0" err="1">
                <a:solidFill>
                  <a:srgbClr val="000000"/>
                </a:solidFill>
                <a:effectLst/>
                <a:latin typeface="Courier New" panose="02070309020205020404" pitchFamily="49" charset="0"/>
              </a:rPr>
              <a:t>calibrated_lgbm</a:t>
            </a:r>
            <a:r>
              <a:rPr lang="id-ID" b="0" dirty="0">
                <a:solidFill>
                  <a:srgbClr val="000000"/>
                </a:solidFill>
                <a:effectLst/>
                <a:latin typeface="Courier New" panose="02070309020205020404" pitchFamily="49" charset="0"/>
              </a:rPr>
              <a:t> = </a:t>
            </a:r>
            <a:r>
              <a:rPr lang="id-ID" b="0" dirty="0" err="1">
                <a:solidFill>
                  <a:srgbClr val="000000"/>
                </a:solidFill>
                <a:effectLst/>
                <a:latin typeface="Courier New" panose="02070309020205020404" pitchFamily="49" charset="0"/>
              </a:rPr>
              <a:t>CalibratedClassifierCV</a:t>
            </a:r>
            <a:r>
              <a:rPr lang="id-ID" b="0" dirty="0">
                <a:solidFill>
                  <a:srgbClr val="000000"/>
                </a:solidFill>
                <a:effectLst/>
                <a:latin typeface="Courier New" panose="02070309020205020404" pitchFamily="49" charset="0"/>
              </a:rPr>
              <a:t>(</a:t>
            </a:r>
            <a:endParaRPr lang="en-GB" b="0" dirty="0">
              <a:solidFill>
                <a:srgbClr val="000000"/>
              </a:solidFill>
              <a:effectLst/>
              <a:latin typeface="Courier New" panose="02070309020205020404" pitchFamily="49" charset="0"/>
            </a:endParaRPr>
          </a:p>
          <a:p>
            <a:pPr>
              <a:buNone/>
            </a:pPr>
            <a:r>
              <a:rPr lang="id-ID" b="0" dirty="0" err="1">
                <a:solidFill>
                  <a:srgbClr val="000000"/>
                </a:solidFill>
                <a:effectLst/>
                <a:latin typeface="Courier New" panose="02070309020205020404" pitchFamily="49" charset="0"/>
              </a:rPr>
              <a:t>searchcv</a:t>
            </a:r>
            <a:r>
              <a:rPr lang="id-ID" b="0" dirty="0">
                <a:solidFill>
                  <a:srgbClr val="000000"/>
                </a:solidFill>
                <a:effectLst/>
                <a:latin typeface="Courier New" panose="02070309020205020404" pitchFamily="49" charset="0"/>
              </a:rPr>
              <a:t>,</a:t>
            </a:r>
            <a:endParaRPr lang="en-GB" b="0" dirty="0">
              <a:solidFill>
                <a:srgbClr val="000000"/>
              </a:solidFill>
              <a:effectLst/>
              <a:latin typeface="Courier New" panose="02070309020205020404" pitchFamily="49" charset="0"/>
            </a:endParaRPr>
          </a:p>
          <a:p>
            <a:pPr>
              <a:buNone/>
            </a:pPr>
            <a:r>
              <a:rPr lang="id-ID" b="0" dirty="0" err="1">
                <a:solidFill>
                  <a:srgbClr val="000000"/>
                </a:solidFill>
                <a:effectLst/>
                <a:latin typeface="Courier New" panose="02070309020205020404" pitchFamily="49" charset="0"/>
              </a:rPr>
              <a:t>method</a:t>
            </a:r>
            <a:r>
              <a:rPr lang="id-ID" b="0" dirty="0">
                <a:solidFill>
                  <a:srgbClr val="000000"/>
                </a:solidFill>
                <a:effectLst/>
                <a:latin typeface="Courier New" panose="02070309020205020404" pitchFamily="49" charset="0"/>
              </a:rPr>
              <a:t>=</a:t>
            </a:r>
            <a:r>
              <a:rPr lang="id-ID" b="0" dirty="0">
                <a:solidFill>
                  <a:srgbClr val="A31515"/>
                </a:solidFill>
                <a:effectLst/>
                <a:latin typeface="Courier New" panose="02070309020205020404" pitchFamily="49" charset="0"/>
              </a:rPr>
              <a:t>'</a:t>
            </a:r>
            <a:r>
              <a:rPr lang="id-ID" b="0" dirty="0" err="1">
                <a:solidFill>
                  <a:srgbClr val="A31515"/>
                </a:solidFill>
                <a:effectLst/>
                <a:latin typeface="Courier New" panose="02070309020205020404" pitchFamily="49" charset="0"/>
              </a:rPr>
              <a:t>isotonic</a:t>
            </a:r>
            <a:r>
              <a:rPr lang="id-ID" b="0" dirty="0">
                <a:solidFill>
                  <a:srgbClr val="A31515"/>
                </a:solidFill>
                <a:effectLst/>
                <a:latin typeface="Courier New" panose="02070309020205020404" pitchFamily="49" charset="0"/>
              </a:rPr>
              <a:t>'</a:t>
            </a:r>
            <a:r>
              <a:rPr lang="id-ID" b="0" dirty="0">
                <a:solidFill>
                  <a:srgbClr val="000000"/>
                </a:solidFill>
                <a:effectLst/>
                <a:latin typeface="Courier New" panose="02070309020205020404" pitchFamily="49" charset="0"/>
              </a:rPr>
              <a:t>, cv=</a:t>
            </a:r>
            <a:r>
              <a:rPr lang="id-ID" b="0" dirty="0">
                <a:solidFill>
                  <a:srgbClr val="A31515"/>
                </a:solidFill>
                <a:effectLst/>
                <a:latin typeface="Courier New" panose="02070309020205020404" pitchFamily="49" charset="0"/>
              </a:rPr>
              <a:t>'</a:t>
            </a:r>
            <a:r>
              <a:rPr lang="id-ID" b="0" dirty="0" err="1">
                <a:solidFill>
                  <a:srgbClr val="A31515"/>
                </a:solidFill>
                <a:effectLst/>
                <a:latin typeface="Courier New" panose="02070309020205020404" pitchFamily="49" charset="0"/>
              </a:rPr>
              <a:t>prefit</a:t>
            </a:r>
            <a:r>
              <a:rPr lang="id-ID" b="0" dirty="0">
                <a:solidFill>
                  <a:srgbClr val="A31515"/>
                </a:solidFill>
                <a:effectLst/>
                <a:latin typeface="Courier New" panose="02070309020205020404" pitchFamily="49" charset="0"/>
              </a:rPr>
              <a:t>'</a:t>
            </a:r>
            <a:r>
              <a:rPr lang="id-ID"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81053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B674F-E559-4B4C-98BC-3B6E95AEB56E}"/>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F08466F-8D58-2F31-5852-1F14F0A6731B}"/>
              </a:ext>
            </a:extLst>
          </p:cNvPr>
          <p:cNvSpPr>
            <a:spLocks noGrp="1"/>
          </p:cNvSpPr>
          <p:nvPr>
            <p:ph type="title"/>
          </p:nvPr>
        </p:nvSpPr>
        <p:spPr>
          <a:xfrm>
            <a:off x="1167492" y="381000"/>
            <a:ext cx="9779183" cy="1325563"/>
          </a:xfrm>
        </p:spPr>
        <p:txBody>
          <a:bodyPr rtlCol="0"/>
          <a:lstStyle/>
          <a:p>
            <a:r>
              <a:rPr lang="id-ID" dirty="0" err="1"/>
              <a:t>Evaluation</a:t>
            </a:r>
            <a:endParaRPr lang="id-ID" dirty="0"/>
          </a:p>
        </p:txBody>
      </p:sp>
      <p:sp>
        <p:nvSpPr>
          <p:cNvPr id="4" name="Tampungan Konten 3">
            <a:extLst>
              <a:ext uri="{FF2B5EF4-FFF2-40B4-BE49-F238E27FC236}">
                <a16:creationId xmlns:a16="http://schemas.microsoft.com/office/drawing/2014/main" id="{84F674F8-2A83-F0DB-1F2B-006305251561}"/>
              </a:ext>
            </a:extLst>
          </p:cNvPr>
          <p:cNvSpPr>
            <a:spLocks noGrp="1"/>
          </p:cNvSpPr>
          <p:nvPr>
            <p:ph idx="1"/>
          </p:nvPr>
        </p:nvSpPr>
        <p:spPr>
          <a:xfrm>
            <a:off x="1167493" y="2020527"/>
            <a:ext cx="4928507" cy="4456473"/>
          </a:xfrm>
        </p:spPr>
        <p:txBody>
          <a:bodyPr vert="horz" lIns="91440" tIns="45720" rIns="91440" bIns="45720" rtlCol="0" anchor="t">
            <a:normAutofit fontScale="92500" lnSpcReduction="10000"/>
          </a:bodyPr>
          <a:lstStyle/>
          <a:p>
            <a:pPr algn="just"/>
            <a:r>
              <a:rPr lang="id-ID" sz="3200" dirty="0"/>
              <a:t>Evaluasi pada data uji menunjukkan kinerja model yang sangat unggul, dengan skor ROC AUC sebesar 0.9209 dan </a:t>
            </a:r>
            <a:r>
              <a:rPr lang="id-ID" sz="3200" dirty="0" err="1"/>
              <a:t>Brier</a:t>
            </a:r>
            <a:r>
              <a:rPr lang="id-ID" sz="3200" dirty="0"/>
              <a:t> </a:t>
            </a:r>
            <a:r>
              <a:rPr lang="id-ID" sz="3200" dirty="0" err="1"/>
              <a:t>Score</a:t>
            </a:r>
            <a:r>
              <a:rPr lang="id-ID" sz="3200" dirty="0"/>
              <a:t> 0.0621. Dari segi efisiensi, </a:t>
            </a:r>
            <a:r>
              <a:rPr lang="id-ID" sz="3200" dirty="0" err="1"/>
              <a:t>LightGBM</a:t>
            </a:r>
            <a:r>
              <a:rPr lang="id-ID" sz="3200" dirty="0"/>
              <a:t> juga terbukti 2 hingga 3 kali lebih cepat dibandingkan algoritma pembanding populer lainnya.</a:t>
            </a:r>
          </a:p>
        </p:txBody>
      </p:sp>
      <p:sp>
        <p:nvSpPr>
          <p:cNvPr id="9" name="Tampungan Nomor Slide 8">
            <a:extLst>
              <a:ext uri="{FF2B5EF4-FFF2-40B4-BE49-F238E27FC236}">
                <a16:creationId xmlns:a16="http://schemas.microsoft.com/office/drawing/2014/main" id="{D9CC619F-BBE9-633C-1B6D-CB85F9D40021}"/>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41</a:t>
            </a:fld>
            <a:endParaRPr lang="id-ID"/>
          </a:p>
        </p:txBody>
      </p:sp>
      <p:graphicFrame>
        <p:nvGraphicFramePr>
          <p:cNvPr id="5" name="Table 4">
            <a:extLst>
              <a:ext uri="{FF2B5EF4-FFF2-40B4-BE49-F238E27FC236}">
                <a16:creationId xmlns:a16="http://schemas.microsoft.com/office/drawing/2014/main" id="{9E2D2BE7-6C69-FD81-FDC5-DE365C667D9F}"/>
              </a:ext>
            </a:extLst>
          </p:cNvPr>
          <p:cNvGraphicFramePr>
            <a:graphicFrameLocks noGrp="1"/>
          </p:cNvGraphicFramePr>
          <p:nvPr>
            <p:extLst>
              <p:ext uri="{D42A27DB-BD31-4B8C-83A1-F6EECF244321}">
                <p14:modId xmlns:p14="http://schemas.microsoft.com/office/powerpoint/2010/main" val="1414107244"/>
              </p:ext>
            </p:extLst>
          </p:nvPr>
        </p:nvGraphicFramePr>
        <p:xfrm>
          <a:off x="6266299" y="2020527"/>
          <a:ext cx="2035362" cy="3799840"/>
        </p:xfrm>
        <a:graphic>
          <a:graphicData uri="http://schemas.openxmlformats.org/drawingml/2006/table">
            <a:tbl>
              <a:tblPr firstRow="1" bandRow="1">
                <a:tableStyleId>{5C22544A-7EE6-4342-B048-85BDC9FD1C3A}</a:tableStyleId>
              </a:tblPr>
              <a:tblGrid>
                <a:gridCol w="930914">
                  <a:extLst>
                    <a:ext uri="{9D8B030D-6E8A-4147-A177-3AD203B41FA5}">
                      <a16:colId xmlns:a16="http://schemas.microsoft.com/office/drawing/2014/main" val="1357595272"/>
                    </a:ext>
                  </a:extLst>
                </a:gridCol>
                <a:gridCol w="1104448">
                  <a:extLst>
                    <a:ext uri="{9D8B030D-6E8A-4147-A177-3AD203B41FA5}">
                      <a16:colId xmlns:a16="http://schemas.microsoft.com/office/drawing/2014/main" val="97465550"/>
                    </a:ext>
                  </a:extLst>
                </a:gridCol>
              </a:tblGrid>
              <a:tr h="370840">
                <a:tc>
                  <a:txBody>
                    <a:bodyPr/>
                    <a:lstStyle/>
                    <a:p>
                      <a:r>
                        <a:rPr lang="en-GB" sz="1600" dirty="0" err="1"/>
                        <a:t>Metrik</a:t>
                      </a:r>
                      <a:endParaRPr lang="id-ID" sz="1600" dirty="0"/>
                    </a:p>
                  </a:txBody>
                  <a:tcPr/>
                </a:tc>
                <a:tc>
                  <a:txBody>
                    <a:bodyPr/>
                    <a:lstStyle/>
                    <a:p>
                      <a:r>
                        <a:rPr lang="en-GB" sz="1600" dirty="0"/>
                        <a:t>Nilai</a:t>
                      </a:r>
                      <a:endParaRPr lang="id-ID" sz="1600" dirty="0"/>
                    </a:p>
                  </a:txBody>
                  <a:tcPr/>
                </a:tc>
                <a:extLst>
                  <a:ext uri="{0D108BD9-81ED-4DB2-BD59-A6C34878D82A}">
                    <a16:rowId xmlns:a16="http://schemas.microsoft.com/office/drawing/2014/main" val="3220878361"/>
                  </a:ext>
                </a:extLst>
              </a:tr>
              <a:tr h="370840">
                <a:tc>
                  <a:txBody>
                    <a:bodyPr/>
                    <a:lstStyle/>
                    <a:p>
                      <a:r>
                        <a:rPr lang="id-ID" sz="1600" dirty="0" err="1"/>
                        <a:t>Brier</a:t>
                      </a:r>
                      <a:r>
                        <a:rPr lang="id-ID" sz="1600" dirty="0"/>
                        <a:t> </a:t>
                      </a:r>
                      <a:r>
                        <a:rPr lang="id-ID" sz="1600" dirty="0" err="1"/>
                        <a:t>Score</a:t>
                      </a:r>
                      <a:endParaRPr lang="id-ID" sz="1600" dirty="0"/>
                    </a:p>
                  </a:txBody>
                  <a:tcPr/>
                </a:tc>
                <a:tc>
                  <a:txBody>
                    <a:bodyPr/>
                    <a:lstStyle/>
                    <a:p>
                      <a:r>
                        <a:rPr lang="id-ID" sz="1600" dirty="0"/>
                        <a:t>0,0621</a:t>
                      </a:r>
                    </a:p>
                  </a:txBody>
                  <a:tcPr/>
                </a:tc>
                <a:extLst>
                  <a:ext uri="{0D108BD9-81ED-4DB2-BD59-A6C34878D82A}">
                    <a16:rowId xmlns:a16="http://schemas.microsoft.com/office/drawing/2014/main" val="1895779075"/>
                  </a:ext>
                </a:extLst>
              </a:tr>
              <a:tr h="370840">
                <a:tc>
                  <a:txBody>
                    <a:bodyPr/>
                    <a:lstStyle/>
                    <a:p>
                      <a:r>
                        <a:rPr lang="id-ID" sz="1600" dirty="0"/>
                        <a:t>ROC AUC</a:t>
                      </a:r>
                    </a:p>
                  </a:txBody>
                  <a:tcPr/>
                </a:tc>
                <a:tc>
                  <a:txBody>
                    <a:bodyPr/>
                    <a:lstStyle/>
                    <a:p>
                      <a:r>
                        <a:rPr lang="id-ID" sz="1600" dirty="0"/>
                        <a:t>0,9209</a:t>
                      </a:r>
                    </a:p>
                  </a:txBody>
                  <a:tcPr/>
                </a:tc>
                <a:extLst>
                  <a:ext uri="{0D108BD9-81ED-4DB2-BD59-A6C34878D82A}">
                    <a16:rowId xmlns:a16="http://schemas.microsoft.com/office/drawing/2014/main" val="2668786645"/>
                  </a:ext>
                </a:extLst>
              </a:tr>
              <a:tr h="370840">
                <a:tc>
                  <a:txBody>
                    <a:bodyPr/>
                    <a:lstStyle/>
                    <a:p>
                      <a:r>
                        <a:rPr lang="id-ID" sz="1600" dirty="0"/>
                        <a:t>Akurasi</a:t>
                      </a:r>
                    </a:p>
                  </a:txBody>
                  <a:tcPr/>
                </a:tc>
                <a:tc>
                  <a:txBody>
                    <a:bodyPr/>
                    <a:lstStyle/>
                    <a:p>
                      <a:r>
                        <a:rPr lang="id-ID" sz="1600" dirty="0"/>
                        <a:t>0,9113</a:t>
                      </a:r>
                    </a:p>
                  </a:txBody>
                  <a:tcPr/>
                </a:tc>
                <a:extLst>
                  <a:ext uri="{0D108BD9-81ED-4DB2-BD59-A6C34878D82A}">
                    <a16:rowId xmlns:a16="http://schemas.microsoft.com/office/drawing/2014/main" val="3232365319"/>
                  </a:ext>
                </a:extLst>
              </a:tr>
              <a:tr h="370840">
                <a:tc>
                  <a:txBody>
                    <a:bodyPr/>
                    <a:lstStyle/>
                    <a:p>
                      <a:r>
                        <a:rPr lang="id-ID" sz="1600" dirty="0"/>
                        <a:t>Presisi</a:t>
                      </a:r>
                    </a:p>
                  </a:txBody>
                  <a:tcPr/>
                </a:tc>
                <a:tc>
                  <a:txBody>
                    <a:bodyPr/>
                    <a:lstStyle/>
                    <a:p>
                      <a:r>
                        <a:rPr lang="id-ID" sz="1600" dirty="0"/>
                        <a:t>0,8996</a:t>
                      </a:r>
                    </a:p>
                  </a:txBody>
                  <a:tcPr/>
                </a:tc>
                <a:extLst>
                  <a:ext uri="{0D108BD9-81ED-4DB2-BD59-A6C34878D82A}">
                    <a16:rowId xmlns:a16="http://schemas.microsoft.com/office/drawing/2014/main" val="351837608"/>
                  </a:ext>
                </a:extLst>
              </a:tr>
              <a:tr h="370840">
                <a:tc>
                  <a:txBody>
                    <a:bodyPr/>
                    <a:lstStyle/>
                    <a:p>
                      <a:r>
                        <a:rPr lang="id-ID" sz="1600" dirty="0" err="1"/>
                        <a:t>Recall</a:t>
                      </a:r>
                      <a:endParaRPr lang="id-ID" sz="1600" dirty="0"/>
                    </a:p>
                  </a:txBody>
                  <a:tcPr/>
                </a:tc>
                <a:tc>
                  <a:txBody>
                    <a:bodyPr/>
                    <a:lstStyle/>
                    <a:p>
                      <a:r>
                        <a:rPr lang="id-ID" sz="1600" dirty="0"/>
                        <a:t>0,9113</a:t>
                      </a:r>
                    </a:p>
                  </a:txBody>
                  <a:tcPr/>
                </a:tc>
                <a:extLst>
                  <a:ext uri="{0D108BD9-81ED-4DB2-BD59-A6C34878D82A}">
                    <a16:rowId xmlns:a16="http://schemas.microsoft.com/office/drawing/2014/main" val="723408899"/>
                  </a:ext>
                </a:extLst>
              </a:tr>
              <a:tr h="370840">
                <a:tc>
                  <a:txBody>
                    <a:bodyPr/>
                    <a:lstStyle/>
                    <a:p>
                      <a:r>
                        <a:rPr lang="id-ID" sz="1600" dirty="0"/>
                        <a:t>F1-Score</a:t>
                      </a:r>
                    </a:p>
                  </a:txBody>
                  <a:tcPr/>
                </a:tc>
                <a:tc>
                  <a:txBody>
                    <a:bodyPr/>
                    <a:lstStyle/>
                    <a:p>
                      <a:r>
                        <a:rPr lang="id-ID" sz="1600" dirty="0"/>
                        <a:t>0,9010</a:t>
                      </a:r>
                    </a:p>
                  </a:txBody>
                  <a:tcPr/>
                </a:tc>
                <a:extLst>
                  <a:ext uri="{0D108BD9-81ED-4DB2-BD59-A6C34878D82A}">
                    <a16:rowId xmlns:a16="http://schemas.microsoft.com/office/drawing/2014/main" val="1264322915"/>
                  </a:ext>
                </a:extLst>
              </a:tr>
              <a:tr h="370840">
                <a:tc>
                  <a:txBody>
                    <a:bodyPr/>
                    <a:lstStyle/>
                    <a:p>
                      <a:r>
                        <a:rPr lang="id-ID" sz="1600" dirty="0"/>
                        <a:t>Log-</a:t>
                      </a:r>
                      <a:r>
                        <a:rPr lang="id-ID" sz="1600" dirty="0" err="1"/>
                        <a:t>Loss</a:t>
                      </a:r>
                      <a:endParaRPr lang="id-ID" sz="1600" dirty="0"/>
                    </a:p>
                  </a:txBody>
                  <a:tcPr/>
                </a:tc>
                <a:tc>
                  <a:txBody>
                    <a:bodyPr/>
                    <a:lstStyle/>
                    <a:p>
                      <a:r>
                        <a:rPr lang="id-ID" sz="1600" dirty="0"/>
                        <a:t>0,21</a:t>
                      </a:r>
                    </a:p>
                  </a:txBody>
                  <a:tcPr/>
                </a:tc>
                <a:extLst>
                  <a:ext uri="{0D108BD9-81ED-4DB2-BD59-A6C34878D82A}">
                    <a16:rowId xmlns:a16="http://schemas.microsoft.com/office/drawing/2014/main" val="2649130862"/>
                  </a:ext>
                </a:extLst>
              </a:tr>
            </a:tbl>
          </a:graphicData>
        </a:graphic>
      </p:graphicFrame>
      <p:graphicFrame>
        <p:nvGraphicFramePr>
          <p:cNvPr id="6" name="Table 5">
            <a:extLst>
              <a:ext uri="{FF2B5EF4-FFF2-40B4-BE49-F238E27FC236}">
                <a16:creationId xmlns:a16="http://schemas.microsoft.com/office/drawing/2014/main" id="{E1005DE8-465D-4690-D622-90BCF120B5D9}"/>
              </a:ext>
            </a:extLst>
          </p:cNvPr>
          <p:cNvGraphicFramePr>
            <a:graphicFrameLocks noGrp="1"/>
          </p:cNvGraphicFramePr>
          <p:nvPr>
            <p:extLst>
              <p:ext uri="{D42A27DB-BD31-4B8C-83A1-F6EECF244321}">
                <p14:modId xmlns:p14="http://schemas.microsoft.com/office/powerpoint/2010/main" val="1487418178"/>
              </p:ext>
            </p:extLst>
          </p:nvPr>
        </p:nvGraphicFramePr>
        <p:xfrm>
          <a:off x="8422244" y="2020527"/>
          <a:ext cx="2771782" cy="2645410"/>
        </p:xfrm>
        <a:graphic>
          <a:graphicData uri="http://schemas.openxmlformats.org/drawingml/2006/table">
            <a:tbl>
              <a:tblPr firstRow="1" firstCol="1" bandRow="1">
                <a:tableStyleId>{5C22544A-7EE6-4342-B048-85BDC9FD1C3A}</a:tableStyleId>
              </a:tblPr>
              <a:tblGrid>
                <a:gridCol w="1197314">
                  <a:extLst>
                    <a:ext uri="{9D8B030D-6E8A-4147-A177-3AD203B41FA5}">
                      <a16:colId xmlns:a16="http://schemas.microsoft.com/office/drawing/2014/main" val="171884498"/>
                    </a:ext>
                  </a:extLst>
                </a:gridCol>
                <a:gridCol w="1574468">
                  <a:extLst>
                    <a:ext uri="{9D8B030D-6E8A-4147-A177-3AD203B41FA5}">
                      <a16:colId xmlns:a16="http://schemas.microsoft.com/office/drawing/2014/main" val="2689771526"/>
                    </a:ext>
                  </a:extLst>
                </a:gridCol>
              </a:tblGrid>
              <a:tr h="344110">
                <a:tc>
                  <a:txBody>
                    <a:bodyPr/>
                    <a:lstStyle/>
                    <a:p>
                      <a:pPr algn="ctr">
                        <a:lnSpc>
                          <a:spcPct val="150000"/>
                        </a:lnSpc>
                        <a:buNone/>
                      </a:pPr>
                      <a:r>
                        <a:rPr lang="id-ID" sz="1800" kern="0">
                          <a:effectLst/>
                        </a:rPr>
                        <a:t>Model</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a:effectLst/>
                        </a:rPr>
                        <a:t>Total Waktu (detik)</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77888000"/>
                  </a:ext>
                </a:extLst>
              </a:tr>
              <a:tr h="344110">
                <a:tc>
                  <a:txBody>
                    <a:bodyPr/>
                    <a:lstStyle/>
                    <a:p>
                      <a:pPr algn="ctr">
                        <a:lnSpc>
                          <a:spcPct val="150000"/>
                        </a:lnSpc>
                        <a:buNone/>
                      </a:pPr>
                      <a:r>
                        <a:rPr lang="id-ID" sz="1800" kern="0">
                          <a:effectLst/>
                        </a:rPr>
                        <a:t>LightGBM</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dirty="0">
                          <a:effectLst/>
                        </a:rPr>
                        <a:t>49,751553</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43306476"/>
                  </a:ext>
                </a:extLst>
              </a:tr>
              <a:tr h="344110">
                <a:tc>
                  <a:txBody>
                    <a:bodyPr/>
                    <a:lstStyle/>
                    <a:p>
                      <a:pPr algn="ctr">
                        <a:lnSpc>
                          <a:spcPct val="150000"/>
                        </a:lnSpc>
                        <a:buNone/>
                      </a:pPr>
                      <a:r>
                        <a:rPr lang="id-ID" sz="1800" kern="0" dirty="0" err="1">
                          <a:effectLst/>
                        </a:rPr>
                        <a:t>AdaBoost</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dirty="0">
                          <a:effectLst/>
                        </a:rPr>
                        <a:t>106,569891</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30430014"/>
                  </a:ext>
                </a:extLst>
              </a:tr>
              <a:tr h="344110">
                <a:tc>
                  <a:txBody>
                    <a:bodyPr/>
                    <a:lstStyle/>
                    <a:p>
                      <a:pPr algn="ctr">
                        <a:lnSpc>
                          <a:spcPct val="150000"/>
                        </a:lnSpc>
                        <a:buNone/>
                      </a:pPr>
                      <a:r>
                        <a:rPr lang="id-ID" sz="1800" kern="0">
                          <a:effectLst/>
                        </a:rPr>
                        <a:t>XGBoost</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a:effectLst/>
                        </a:rPr>
                        <a:t>119,356985</a:t>
                      </a:r>
                      <a:endParaRPr lang="id-ID"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34102894"/>
                  </a:ext>
                </a:extLst>
              </a:tr>
              <a:tr h="732582">
                <a:tc>
                  <a:txBody>
                    <a:bodyPr/>
                    <a:lstStyle/>
                    <a:p>
                      <a:pPr algn="ctr">
                        <a:lnSpc>
                          <a:spcPct val="150000"/>
                        </a:lnSpc>
                        <a:buNone/>
                      </a:pPr>
                      <a:r>
                        <a:rPr lang="id-ID" sz="1800" kern="0" dirty="0" err="1">
                          <a:effectLst/>
                        </a:rPr>
                        <a:t>Random</a:t>
                      </a:r>
                      <a:r>
                        <a:rPr lang="id-ID" sz="1800" kern="0" dirty="0">
                          <a:effectLst/>
                        </a:rPr>
                        <a:t> </a:t>
                      </a:r>
                      <a:r>
                        <a:rPr lang="id-ID" sz="1800" kern="0" dirty="0" err="1">
                          <a:effectLst/>
                        </a:rPr>
                        <a:t>Forest</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buNone/>
                      </a:pPr>
                      <a:r>
                        <a:rPr lang="id-ID" sz="1800" kern="0" dirty="0">
                          <a:effectLst/>
                        </a:rPr>
                        <a:t>136,376029</a:t>
                      </a:r>
                      <a:endParaRPr lang="id-ID"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44202180"/>
                  </a:ext>
                </a:extLst>
              </a:tr>
            </a:tbl>
          </a:graphicData>
        </a:graphic>
      </p:graphicFrame>
    </p:spTree>
    <p:extLst>
      <p:ext uri="{BB962C8B-B14F-4D97-AF65-F5344CB8AC3E}">
        <p14:creationId xmlns:p14="http://schemas.microsoft.com/office/powerpoint/2010/main" val="6865905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BE9B2-BD9E-3829-CDA3-16F34DE214A4}"/>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5B1EA537-9169-02A6-EDB0-1B7D5020398D}"/>
              </a:ext>
            </a:extLst>
          </p:cNvPr>
          <p:cNvSpPr>
            <a:spLocks noGrp="1"/>
          </p:cNvSpPr>
          <p:nvPr>
            <p:ph type="title"/>
          </p:nvPr>
        </p:nvSpPr>
        <p:spPr>
          <a:xfrm>
            <a:off x="1167492" y="381000"/>
            <a:ext cx="9779183" cy="1325563"/>
          </a:xfrm>
        </p:spPr>
        <p:txBody>
          <a:bodyPr rtlCol="0"/>
          <a:lstStyle/>
          <a:p>
            <a:r>
              <a:rPr lang="id-ID" dirty="0" err="1"/>
              <a:t>Practical</a:t>
            </a:r>
            <a:r>
              <a:rPr lang="id-ID" dirty="0"/>
              <a:t> </a:t>
            </a:r>
            <a:r>
              <a:rPr lang="id-ID" dirty="0" err="1"/>
              <a:t>Application</a:t>
            </a:r>
            <a:endParaRPr lang="id-ID" dirty="0"/>
          </a:p>
        </p:txBody>
      </p:sp>
      <p:sp>
        <p:nvSpPr>
          <p:cNvPr id="4" name="Tampungan Konten 3">
            <a:extLst>
              <a:ext uri="{FF2B5EF4-FFF2-40B4-BE49-F238E27FC236}">
                <a16:creationId xmlns:a16="http://schemas.microsoft.com/office/drawing/2014/main" id="{B51669DD-E4ED-825D-E3EF-0D050271A08B}"/>
              </a:ext>
            </a:extLst>
          </p:cNvPr>
          <p:cNvSpPr>
            <a:spLocks noGrp="1"/>
          </p:cNvSpPr>
          <p:nvPr>
            <p:ph idx="1"/>
          </p:nvPr>
        </p:nvSpPr>
        <p:spPr>
          <a:xfrm>
            <a:off x="1167492" y="2020529"/>
            <a:ext cx="7888017" cy="3657600"/>
          </a:xfrm>
        </p:spPr>
        <p:txBody>
          <a:bodyPr vert="horz" lIns="91440" tIns="45720" rIns="91440" bIns="45720" rtlCol="0" anchor="t">
            <a:normAutofit/>
          </a:bodyPr>
          <a:lstStyle/>
          <a:p>
            <a:r>
              <a:rPr lang="id-ID" sz="3200" dirty="0"/>
              <a:t>Model diaplikasikan pada studi kasus pertandingan Piala Dunia 2022, dan juga diimplementasikan dalam sebuah antarmuka web interaktif menggunakan </a:t>
            </a:r>
            <a:r>
              <a:rPr lang="id-ID" sz="3200" dirty="0" err="1"/>
              <a:t>Streamlit</a:t>
            </a:r>
            <a:r>
              <a:rPr lang="id-ID" sz="3200" dirty="0"/>
              <a:t> untuk mempermudah analisis dan simulasi tembakan secara langsung.</a:t>
            </a:r>
          </a:p>
        </p:txBody>
      </p:sp>
      <p:sp>
        <p:nvSpPr>
          <p:cNvPr id="9" name="Tampungan Nomor Slide 8">
            <a:extLst>
              <a:ext uri="{FF2B5EF4-FFF2-40B4-BE49-F238E27FC236}">
                <a16:creationId xmlns:a16="http://schemas.microsoft.com/office/drawing/2014/main" id="{79D63349-4937-48E4-4810-C10138729F34}"/>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42</a:t>
            </a:fld>
            <a:endParaRPr lang="id-ID"/>
          </a:p>
        </p:txBody>
      </p:sp>
    </p:spTree>
    <p:extLst>
      <p:ext uri="{BB962C8B-B14F-4D97-AF65-F5344CB8AC3E}">
        <p14:creationId xmlns:p14="http://schemas.microsoft.com/office/powerpoint/2010/main" val="42358732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5BE3-C8BB-E402-B9A3-164F98C093BA}"/>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2F9B084-B0B4-042B-4EFB-190DB6FE22FD}"/>
              </a:ext>
            </a:extLst>
          </p:cNvPr>
          <p:cNvSpPr>
            <a:spLocks noGrp="1"/>
          </p:cNvSpPr>
          <p:nvPr>
            <p:ph type="title"/>
          </p:nvPr>
        </p:nvSpPr>
        <p:spPr>
          <a:xfrm>
            <a:off x="1167492" y="381000"/>
            <a:ext cx="9779183" cy="1325563"/>
          </a:xfrm>
        </p:spPr>
        <p:txBody>
          <a:bodyPr rtlCol="0"/>
          <a:lstStyle/>
          <a:p>
            <a:r>
              <a:rPr lang="id-ID" dirty="0" err="1"/>
              <a:t>Practical</a:t>
            </a:r>
            <a:r>
              <a:rPr lang="id-ID" dirty="0"/>
              <a:t> </a:t>
            </a:r>
            <a:r>
              <a:rPr lang="id-ID" dirty="0" err="1"/>
              <a:t>Application</a:t>
            </a:r>
            <a:endParaRPr lang="id-ID" dirty="0"/>
          </a:p>
        </p:txBody>
      </p:sp>
      <p:sp>
        <p:nvSpPr>
          <p:cNvPr id="9" name="Tampungan Nomor Slide 8">
            <a:extLst>
              <a:ext uri="{FF2B5EF4-FFF2-40B4-BE49-F238E27FC236}">
                <a16:creationId xmlns:a16="http://schemas.microsoft.com/office/drawing/2014/main" id="{6FCCE5CA-D53D-6772-B345-F8667B18925A}"/>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43</a:t>
            </a:fld>
            <a:endParaRPr lang="id-ID"/>
          </a:p>
        </p:txBody>
      </p:sp>
      <p:graphicFrame>
        <p:nvGraphicFramePr>
          <p:cNvPr id="6" name="Content Placeholder 5">
            <a:extLst>
              <a:ext uri="{FF2B5EF4-FFF2-40B4-BE49-F238E27FC236}">
                <a16:creationId xmlns:a16="http://schemas.microsoft.com/office/drawing/2014/main" id="{CED8D616-69E6-DD3A-DE50-D705E8F7F0CE}"/>
              </a:ext>
            </a:extLst>
          </p:cNvPr>
          <p:cNvGraphicFramePr>
            <a:graphicFrameLocks noGrp="1"/>
          </p:cNvGraphicFramePr>
          <p:nvPr>
            <p:ph idx="1"/>
            <p:extLst>
              <p:ext uri="{D42A27DB-BD31-4B8C-83A1-F6EECF244321}">
                <p14:modId xmlns:p14="http://schemas.microsoft.com/office/powerpoint/2010/main" val="587483653"/>
              </p:ext>
            </p:extLst>
          </p:nvPr>
        </p:nvGraphicFramePr>
        <p:xfrm>
          <a:off x="1259373" y="2005333"/>
          <a:ext cx="9673254" cy="2094719"/>
        </p:xfrm>
        <a:graphic>
          <a:graphicData uri="http://schemas.openxmlformats.org/drawingml/2006/table">
            <a:tbl>
              <a:tblPr firstRow="1" firstCol="1" bandRow="1">
                <a:tableStyleId>{5C22544A-7EE6-4342-B048-85BDC9FD1C3A}</a:tableStyleId>
              </a:tblPr>
              <a:tblGrid>
                <a:gridCol w="1612209">
                  <a:extLst>
                    <a:ext uri="{9D8B030D-6E8A-4147-A177-3AD203B41FA5}">
                      <a16:colId xmlns:a16="http://schemas.microsoft.com/office/drawing/2014/main" val="3821786371"/>
                    </a:ext>
                  </a:extLst>
                </a:gridCol>
                <a:gridCol w="1612209">
                  <a:extLst>
                    <a:ext uri="{9D8B030D-6E8A-4147-A177-3AD203B41FA5}">
                      <a16:colId xmlns:a16="http://schemas.microsoft.com/office/drawing/2014/main" val="3764614516"/>
                    </a:ext>
                  </a:extLst>
                </a:gridCol>
                <a:gridCol w="1612209">
                  <a:extLst>
                    <a:ext uri="{9D8B030D-6E8A-4147-A177-3AD203B41FA5}">
                      <a16:colId xmlns:a16="http://schemas.microsoft.com/office/drawing/2014/main" val="2557148676"/>
                    </a:ext>
                  </a:extLst>
                </a:gridCol>
                <a:gridCol w="1612209">
                  <a:extLst>
                    <a:ext uri="{9D8B030D-6E8A-4147-A177-3AD203B41FA5}">
                      <a16:colId xmlns:a16="http://schemas.microsoft.com/office/drawing/2014/main" val="2175512852"/>
                    </a:ext>
                  </a:extLst>
                </a:gridCol>
                <a:gridCol w="1612209">
                  <a:extLst>
                    <a:ext uri="{9D8B030D-6E8A-4147-A177-3AD203B41FA5}">
                      <a16:colId xmlns:a16="http://schemas.microsoft.com/office/drawing/2014/main" val="1394321509"/>
                    </a:ext>
                  </a:extLst>
                </a:gridCol>
                <a:gridCol w="1612209">
                  <a:extLst>
                    <a:ext uri="{9D8B030D-6E8A-4147-A177-3AD203B41FA5}">
                      <a16:colId xmlns:a16="http://schemas.microsoft.com/office/drawing/2014/main" val="956338680"/>
                    </a:ext>
                  </a:extLst>
                </a:gridCol>
              </a:tblGrid>
              <a:tr h="619581">
                <a:tc>
                  <a:txBody>
                    <a:bodyPr/>
                    <a:lstStyle/>
                    <a:p>
                      <a:pPr algn="ctr">
                        <a:lnSpc>
                          <a:spcPct val="150000"/>
                        </a:lnSpc>
                        <a:buNone/>
                      </a:pPr>
                      <a:r>
                        <a:rPr lang="id-ID" sz="1800" kern="0">
                          <a:effectLst/>
                        </a:rPr>
                        <a:t>Tim Nasional</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Total xG</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Jumlah Tembakan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Jumlah Gol Aktual</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Rata-rata xG per Tembakan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Diferensial Gol (Gol − xG)</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2425102042"/>
                  </a:ext>
                </a:extLst>
              </a:tr>
              <a:tr h="619581">
                <a:tc>
                  <a:txBody>
                    <a:bodyPr/>
                    <a:lstStyle/>
                    <a:p>
                      <a:pPr algn="ctr">
                        <a:lnSpc>
                          <a:spcPct val="150000"/>
                        </a:lnSpc>
                        <a:buNone/>
                      </a:pPr>
                      <a:r>
                        <a:rPr lang="id-ID" sz="1800" kern="0">
                          <a:effectLst/>
                        </a:rPr>
                        <a:t>Inggris</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3,09</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13</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6</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0,238</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+2,91</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2698043689"/>
                  </a:ext>
                </a:extLst>
              </a:tr>
              <a:tr h="699168">
                <a:tc>
                  <a:txBody>
                    <a:bodyPr/>
                    <a:lstStyle/>
                    <a:p>
                      <a:pPr algn="ctr">
                        <a:lnSpc>
                          <a:spcPct val="150000"/>
                        </a:lnSpc>
                        <a:buNone/>
                      </a:pPr>
                      <a:r>
                        <a:rPr lang="id-ID" sz="1800" kern="0">
                          <a:effectLst/>
                        </a:rPr>
                        <a:t>Iran</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0,87</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7</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1</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a:effectLst/>
                        </a:rPr>
                        <a:t>0,125</a:t>
                      </a:r>
                      <a:endParaRPr lang="id-ID" sz="20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tc>
                  <a:txBody>
                    <a:bodyPr/>
                    <a:lstStyle/>
                    <a:p>
                      <a:pPr algn="ctr">
                        <a:lnSpc>
                          <a:spcPct val="150000"/>
                        </a:lnSpc>
                        <a:buNone/>
                      </a:pPr>
                      <a:r>
                        <a:rPr lang="id-ID" sz="1800" kern="0" dirty="0">
                          <a:effectLst/>
                        </a:rPr>
                        <a:t>+0,13</a:t>
                      </a:r>
                      <a:endParaRPr lang="id-ID" sz="20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27984" marR="27984" marT="0" marB="0" anchor="ctr"/>
                </a:tc>
                <a:extLst>
                  <a:ext uri="{0D108BD9-81ED-4DB2-BD59-A6C34878D82A}">
                    <a16:rowId xmlns:a16="http://schemas.microsoft.com/office/drawing/2014/main" val="1852774766"/>
                  </a:ext>
                </a:extLst>
              </a:tr>
            </a:tbl>
          </a:graphicData>
        </a:graphic>
      </p:graphicFrame>
    </p:spTree>
    <p:extLst>
      <p:ext uri="{BB962C8B-B14F-4D97-AF65-F5344CB8AC3E}">
        <p14:creationId xmlns:p14="http://schemas.microsoft.com/office/powerpoint/2010/main" val="31907312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C6830-272B-93D7-BBE6-714BEF7E03E9}"/>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3CD3B3E-08C9-38BA-3437-26D33BE19B01}"/>
              </a:ext>
            </a:extLst>
          </p:cNvPr>
          <p:cNvSpPr>
            <a:spLocks noGrp="1"/>
          </p:cNvSpPr>
          <p:nvPr>
            <p:ph type="title"/>
          </p:nvPr>
        </p:nvSpPr>
        <p:spPr>
          <a:xfrm>
            <a:off x="1167492" y="381000"/>
            <a:ext cx="9779183" cy="725129"/>
          </a:xfrm>
        </p:spPr>
        <p:txBody>
          <a:bodyPr rtlCol="0"/>
          <a:lstStyle/>
          <a:p>
            <a:r>
              <a:rPr lang="id-ID" dirty="0" err="1"/>
              <a:t>Practical</a:t>
            </a:r>
            <a:r>
              <a:rPr lang="id-ID" dirty="0"/>
              <a:t> </a:t>
            </a:r>
            <a:r>
              <a:rPr lang="id-ID" dirty="0" err="1"/>
              <a:t>Application</a:t>
            </a:r>
            <a:endParaRPr lang="id-ID" dirty="0"/>
          </a:p>
        </p:txBody>
      </p:sp>
      <p:sp>
        <p:nvSpPr>
          <p:cNvPr id="9" name="Tampungan Nomor Slide 8">
            <a:extLst>
              <a:ext uri="{FF2B5EF4-FFF2-40B4-BE49-F238E27FC236}">
                <a16:creationId xmlns:a16="http://schemas.microsoft.com/office/drawing/2014/main" id="{CA5B6A55-5C7A-0DCF-004C-AF319B25AD50}"/>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44</a:t>
            </a:fld>
            <a:endParaRPr lang="id-ID"/>
          </a:p>
        </p:txBody>
      </p:sp>
      <p:sp>
        <p:nvSpPr>
          <p:cNvPr id="4" name="Content Placeholder 3">
            <a:extLst>
              <a:ext uri="{FF2B5EF4-FFF2-40B4-BE49-F238E27FC236}">
                <a16:creationId xmlns:a16="http://schemas.microsoft.com/office/drawing/2014/main" id="{C58F759E-2193-18F2-5A01-E50B7759075E}"/>
              </a:ext>
            </a:extLst>
          </p:cNvPr>
          <p:cNvSpPr>
            <a:spLocks noGrp="1"/>
          </p:cNvSpPr>
          <p:nvPr>
            <p:ph idx="1"/>
          </p:nvPr>
        </p:nvSpPr>
        <p:spPr/>
        <p:txBody>
          <a:bodyPr/>
          <a:lstStyle/>
          <a:p>
            <a:endParaRPr lang="id-ID"/>
          </a:p>
        </p:txBody>
      </p:sp>
      <p:pic>
        <p:nvPicPr>
          <p:cNvPr id="5" name="Picture 4">
            <a:extLst>
              <a:ext uri="{FF2B5EF4-FFF2-40B4-BE49-F238E27FC236}">
                <a16:creationId xmlns:a16="http://schemas.microsoft.com/office/drawing/2014/main" id="{D177385D-24F8-1321-49A8-8D0E101C99FE}"/>
              </a:ext>
            </a:extLst>
          </p:cNvPr>
          <p:cNvPicPr>
            <a:picLocks noChangeAspect="1"/>
          </p:cNvPicPr>
          <p:nvPr/>
        </p:nvPicPr>
        <p:blipFill>
          <a:blip r:embed="rId3"/>
          <a:stretch>
            <a:fillRect/>
          </a:stretch>
        </p:blipFill>
        <p:spPr>
          <a:xfrm>
            <a:off x="1084322" y="1125220"/>
            <a:ext cx="5039995" cy="2303780"/>
          </a:xfrm>
          <a:prstGeom prst="rect">
            <a:avLst/>
          </a:prstGeom>
        </p:spPr>
      </p:pic>
      <p:pic>
        <p:nvPicPr>
          <p:cNvPr id="7" name="Picture 6">
            <a:extLst>
              <a:ext uri="{FF2B5EF4-FFF2-40B4-BE49-F238E27FC236}">
                <a16:creationId xmlns:a16="http://schemas.microsoft.com/office/drawing/2014/main" id="{F0FE145E-EB07-70F1-E97A-19648CC0DC48}"/>
              </a:ext>
            </a:extLst>
          </p:cNvPr>
          <p:cNvPicPr>
            <a:picLocks noChangeAspect="1"/>
          </p:cNvPicPr>
          <p:nvPr/>
        </p:nvPicPr>
        <p:blipFill>
          <a:blip r:embed="rId4"/>
          <a:stretch>
            <a:fillRect/>
          </a:stretch>
        </p:blipFill>
        <p:spPr>
          <a:xfrm>
            <a:off x="1084322" y="3517130"/>
            <a:ext cx="5039995" cy="2271395"/>
          </a:xfrm>
          <a:prstGeom prst="rect">
            <a:avLst/>
          </a:prstGeom>
        </p:spPr>
      </p:pic>
      <p:pic>
        <p:nvPicPr>
          <p:cNvPr id="8" name="Picture 7">
            <a:extLst>
              <a:ext uri="{FF2B5EF4-FFF2-40B4-BE49-F238E27FC236}">
                <a16:creationId xmlns:a16="http://schemas.microsoft.com/office/drawing/2014/main" id="{70E33C43-7703-FA1A-9547-68D7AEF8ACF5}"/>
              </a:ext>
            </a:extLst>
          </p:cNvPr>
          <p:cNvPicPr>
            <a:picLocks noChangeAspect="1"/>
          </p:cNvPicPr>
          <p:nvPr/>
        </p:nvPicPr>
        <p:blipFill>
          <a:blip r:embed="rId5"/>
          <a:stretch>
            <a:fillRect/>
          </a:stretch>
        </p:blipFill>
        <p:spPr>
          <a:xfrm>
            <a:off x="6207488" y="1099185"/>
            <a:ext cx="5039995" cy="2329815"/>
          </a:xfrm>
          <a:prstGeom prst="rect">
            <a:avLst/>
          </a:prstGeom>
        </p:spPr>
      </p:pic>
      <p:pic>
        <p:nvPicPr>
          <p:cNvPr id="10" name="Picture 9">
            <a:extLst>
              <a:ext uri="{FF2B5EF4-FFF2-40B4-BE49-F238E27FC236}">
                <a16:creationId xmlns:a16="http://schemas.microsoft.com/office/drawing/2014/main" id="{F07C19E9-A3A5-71A0-113B-8D456179A8FD}"/>
              </a:ext>
            </a:extLst>
          </p:cNvPr>
          <p:cNvPicPr>
            <a:picLocks noChangeAspect="1"/>
          </p:cNvPicPr>
          <p:nvPr/>
        </p:nvPicPr>
        <p:blipFill>
          <a:blip r:embed="rId6"/>
          <a:stretch>
            <a:fillRect/>
          </a:stretch>
        </p:blipFill>
        <p:spPr>
          <a:xfrm>
            <a:off x="6207488" y="3461385"/>
            <a:ext cx="5039995" cy="2319020"/>
          </a:xfrm>
          <a:prstGeom prst="rect">
            <a:avLst/>
          </a:prstGeom>
        </p:spPr>
      </p:pic>
      <p:sp>
        <p:nvSpPr>
          <p:cNvPr id="12" name="TextBox 11">
            <a:extLst>
              <a:ext uri="{FF2B5EF4-FFF2-40B4-BE49-F238E27FC236}">
                <a16:creationId xmlns:a16="http://schemas.microsoft.com/office/drawing/2014/main" id="{7B730CDA-309F-FF82-0E27-AF6ABD1C16EB}"/>
              </a:ext>
            </a:extLst>
          </p:cNvPr>
          <p:cNvSpPr txBox="1"/>
          <p:nvPr/>
        </p:nvSpPr>
        <p:spPr>
          <a:xfrm>
            <a:off x="1084322" y="5890091"/>
            <a:ext cx="6096000" cy="369332"/>
          </a:xfrm>
          <a:prstGeom prst="rect">
            <a:avLst/>
          </a:prstGeom>
          <a:noFill/>
        </p:spPr>
        <p:txBody>
          <a:bodyPr wrap="square">
            <a:spAutoFit/>
          </a:bodyPr>
          <a:lstStyle/>
          <a:p>
            <a:r>
              <a:rPr lang="id-ID" dirty="0"/>
              <a:t>https://xginterface.streamlit.app/</a:t>
            </a:r>
          </a:p>
        </p:txBody>
      </p:sp>
    </p:spTree>
    <p:extLst>
      <p:ext uri="{BB962C8B-B14F-4D97-AF65-F5344CB8AC3E}">
        <p14:creationId xmlns:p14="http://schemas.microsoft.com/office/powerpoint/2010/main" val="16274415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3FD7F-F786-2DFB-2CC6-21A2C45AEB6B}"/>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A446420-2530-A332-F1D7-4FB1F238C32A}"/>
              </a:ext>
            </a:extLst>
          </p:cNvPr>
          <p:cNvSpPr>
            <a:spLocks noGrp="1"/>
          </p:cNvSpPr>
          <p:nvPr>
            <p:ph type="title"/>
          </p:nvPr>
        </p:nvSpPr>
        <p:spPr>
          <a:xfrm>
            <a:off x="824174" y="376750"/>
            <a:ext cx="10678142" cy="1325563"/>
          </a:xfrm>
        </p:spPr>
        <p:txBody>
          <a:bodyPr rtlCol="0"/>
          <a:lstStyle/>
          <a:p>
            <a:r>
              <a:rPr lang="id-ID" dirty="0" err="1"/>
              <a:t>Academic</a:t>
            </a:r>
            <a:r>
              <a:rPr lang="id-ID" dirty="0"/>
              <a:t> </a:t>
            </a:r>
            <a:r>
              <a:rPr lang="id-ID" dirty="0" err="1"/>
              <a:t>Benchmark</a:t>
            </a:r>
            <a:endParaRPr lang="id-ID" dirty="0"/>
          </a:p>
        </p:txBody>
      </p:sp>
      <p:sp>
        <p:nvSpPr>
          <p:cNvPr id="3" name="Tampungan Tanggal 2">
            <a:extLst>
              <a:ext uri="{FF2B5EF4-FFF2-40B4-BE49-F238E27FC236}">
                <a16:creationId xmlns:a16="http://schemas.microsoft.com/office/drawing/2014/main" id="{12C6E2B7-056C-6FDE-CAB3-4A109709E125}"/>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77432782-9A26-7604-4853-61B456409978}"/>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45</a:t>
            </a:fld>
            <a:endParaRPr lang="id-ID"/>
          </a:p>
        </p:txBody>
      </p:sp>
      <p:sp>
        <p:nvSpPr>
          <p:cNvPr id="78" name="Content Placeholder 7">
            <a:extLst>
              <a:ext uri="{FF2B5EF4-FFF2-40B4-BE49-F238E27FC236}">
                <a16:creationId xmlns:a16="http://schemas.microsoft.com/office/drawing/2014/main" id="{9FF1EF68-B504-2808-3C10-CD23B4468FD6}"/>
              </a:ext>
            </a:extLst>
          </p:cNvPr>
          <p:cNvSpPr txBox="1">
            <a:spLocks/>
          </p:cNvSpPr>
          <p:nvPr/>
        </p:nvSpPr>
        <p:spPr>
          <a:xfrm>
            <a:off x="750430" y="1706563"/>
            <a:ext cx="10382027" cy="30976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3200" dirty="0"/>
              <a:t>Kinerja model kemudian dibandingkan dengan hasil penelitian sejenis yang menggunakan algoritma </a:t>
            </a:r>
            <a:r>
              <a:rPr lang="id-ID" sz="3200" i="1" dirty="0" err="1"/>
              <a:t>boosting</a:t>
            </a:r>
            <a:r>
              <a:rPr lang="id-ID" sz="3200" dirty="0"/>
              <a:t>. Hasil perbandingan menunjukkan bahwa model ini terbukti unggul secara signifikan di semua metrik evaluasi yang digunakan.</a:t>
            </a:r>
          </a:p>
        </p:txBody>
      </p:sp>
    </p:spTree>
    <p:extLst>
      <p:ext uri="{BB962C8B-B14F-4D97-AF65-F5344CB8AC3E}">
        <p14:creationId xmlns:p14="http://schemas.microsoft.com/office/powerpoint/2010/main" val="1078793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70CC-55A6-2783-607D-C15C6AF6720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8B99C968-BEB0-0BBC-3C66-B9884C69699F}"/>
              </a:ext>
            </a:extLst>
          </p:cNvPr>
          <p:cNvSpPr>
            <a:spLocks noGrp="1"/>
          </p:cNvSpPr>
          <p:nvPr>
            <p:ph type="title"/>
          </p:nvPr>
        </p:nvSpPr>
        <p:spPr>
          <a:xfrm>
            <a:off x="824174" y="376751"/>
            <a:ext cx="10678142" cy="639250"/>
          </a:xfrm>
        </p:spPr>
        <p:txBody>
          <a:bodyPr rtlCol="0"/>
          <a:lstStyle/>
          <a:p>
            <a:r>
              <a:rPr lang="id-ID" dirty="0" err="1"/>
              <a:t>Academic</a:t>
            </a:r>
            <a:r>
              <a:rPr lang="id-ID" dirty="0"/>
              <a:t> </a:t>
            </a:r>
            <a:r>
              <a:rPr lang="id-ID" dirty="0" err="1"/>
              <a:t>Benchmark</a:t>
            </a:r>
            <a:endParaRPr lang="id-ID" dirty="0"/>
          </a:p>
        </p:txBody>
      </p:sp>
      <p:sp>
        <p:nvSpPr>
          <p:cNvPr id="3" name="Tampungan Tanggal 2">
            <a:extLst>
              <a:ext uri="{FF2B5EF4-FFF2-40B4-BE49-F238E27FC236}">
                <a16:creationId xmlns:a16="http://schemas.microsoft.com/office/drawing/2014/main" id="{33F8BD61-F2C0-F0BD-EB3B-3DC7CE275CF2}"/>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FE8C7E2E-3FDF-9217-AF6E-2527C6987711}"/>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46</a:t>
            </a:fld>
            <a:endParaRPr lang="id-ID"/>
          </a:p>
        </p:txBody>
      </p:sp>
      <p:graphicFrame>
        <p:nvGraphicFramePr>
          <p:cNvPr id="4" name="Table 3">
            <a:extLst>
              <a:ext uri="{FF2B5EF4-FFF2-40B4-BE49-F238E27FC236}">
                <a16:creationId xmlns:a16="http://schemas.microsoft.com/office/drawing/2014/main" id="{E9C7C6CE-39A5-AAF8-6178-D0808D1BF693}"/>
              </a:ext>
            </a:extLst>
          </p:cNvPr>
          <p:cNvGraphicFramePr>
            <a:graphicFrameLocks noGrp="1"/>
          </p:cNvGraphicFramePr>
          <p:nvPr>
            <p:extLst>
              <p:ext uri="{D42A27DB-BD31-4B8C-83A1-F6EECF244321}">
                <p14:modId xmlns:p14="http://schemas.microsoft.com/office/powerpoint/2010/main" val="3711689269"/>
              </p:ext>
            </p:extLst>
          </p:nvPr>
        </p:nvGraphicFramePr>
        <p:xfrm>
          <a:off x="0" y="0"/>
          <a:ext cx="12191998" cy="6857998"/>
        </p:xfrm>
        <a:graphic>
          <a:graphicData uri="http://schemas.openxmlformats.org/drawingml/2006/table">
            <a:tbl>
              <a:tblPr firstRow="1" firstCol="1" bandRow="1">
                <a:tableStyleId>{5C22544A-7EE6-4342-B048-85BDC9FD1C3A}</a:tableStyleId>
              </a:tblPr>
              <a:tblGrid>
                <a:gridCol w="1658444">
                  <a:extLst>
                    <a:ext uri="{9D8B030D-6E8A-4147-A177-3AD203B41FA5}">
                      <a16:colId xmlns:a16="http://schemas.microsoft.com/office/drawing/2014/main" val="1014150734"/>
                    </a:ext>
                  </a:extLst>
                </a:gridCol>
                <a:gridCol w="1882821">
                  <a:extLst>
                    <a:ext uri="{9D8B030D-6E8A-4147-A177-3AD203B41FA5}">
                      <a16:colId xmlns:a16="http://schemas.microsoft.com/office/drawing/2014/main" val="1286428624"/>
                    </a:ext>
                  </a:extLst>
                </a:gridCol>
                <a:gridCol w="1180421">
                  <a:extLst>
                    <a:ext uri="{9D8B030D-6E8A-4147-A177-3AD203B41FA5}">
                      <a16:colId xmlns:a16="http://schemas.microsoft.com/office/drawing/2014/main" val="3741914131"/>
                    </a:ext>
                  </a:extLst>
                </a:gridCol>
                <a:gridCol w="1180421">
                  <a:extLst>
                    <a:ext uri="{9D8B030D-6E8A-4147-A177-3AD203B41FA5}">
                      <a16:colId xmlns:a16="http://schemas.microsoft.com/office/drawing/2014/main" val="288675918"/>
                    </a:ext>
                  </a:extLst>
                </a:gridCol>
                <a:gridCol w="1392605">
                  <a:extLst>
                    <a:ext uri="{9D8B030D-6E8A-4147-A177-3AD203B41FA5}">
                      <a16:colId xmlns:a16="http://schemas.microsoft.com/office/drawing/2014/main" val="1389628"/>
                    </a:ext>
                  </a:extLst>
                </a:gridCol>
                <a:gridCol w="1204810">
                  <a:extLst>
                    <a:ext uri="{9D8B030D-6E8A-4147-A177-3AD203B41FA5}">
                      <a16:colId xmlns:a16="http://schemas.microsoft.com/office/drawing/2014/main" val="3600078989"/>
                    </a:ext>
                  </a:extLst>
                </a:gridCol>
                <a:gridCol w="1177983">
                  <a:extLst>
                    <a:ext uri="{9D8B030D-6E8A-4147-A177-3AD203B41FA5}">
                      <a16:colId xmlns:a16="http://schemas.microsoft.com/office/drawing/2014/main" val="4251484340"/>
                    </a:ext>
                  </a:extLst>
                </a:gridCol>
                <a:gridCol w="1180421">
                  <a:extLst>
                    <a:ext uri="{9D8B030D-6E8A-4147-A177-3AD203B41FA5}">
                      <a16:colId xmlns:a16="http://schemas.microsoft.com/office/drawing/2014/main" val="2134524212"/>
                    </a:ext>
                  </a:extLst>
                </a:gridCol>
                <a:gridCol w="1334072">
                  <a:extLst>
                    <a:ext uri="{9D8B030D-6E8A-4147-A177-3AD203B41FA5}">
                      <a16:colId xmlns:a16="http://schemas.microsoft.com/office/drawing/2014/main" val="1412326828"/>
                    </a:ext>
                  </a:extLst>
                </a:gridCol>
              </a:tblGrid>
              <a:tr h="1048849">
                <a:tc>
                  <a:txBody>
                    <a:bodyPr/>
                    <a:lstStyle/>
                    <a:p>
                      <a:pPr algn="l">
                        <a:lnSpc>
                          <a:spcPct val="100000"/>
                        </a:lnSpc>
                        <a:buNone/>
                      </a:pPr>
                      <a:r>
                        <a:rPr lang="id-ID" sz="2000" kern="100" spc="0" baseline="0" dirty="0"/>
                        <a:t>Penulis &amp; Tahun</a:t>
                      </a:r>
                    </a:p>
                  </a:txBody>
                  <a:tcPr marL="68580" marR="68580" marT="0" marB="0" anchor="ctr"/>
                </a:tc>
                <a:tc>
                  <a:txBody>
                    <a:bodyPr/>
                    <a:lstStyle/>
                    <a:p>
                      <a:pPr algn="l">
                        <a:lnSpc>
                          <a:spcPct val="100000"/>
                        </a:lnSpc>
                        <a:buNone/>
                      </a:pPr>
                      <a:r>
                        <a:rPr lang="id-ID" sz="2000" kern="100" spc="0" baseline="0"/>
                        <a:t>Model</a:t>
                      </a:r>
                    </a:p>
                  </a:txBody>
                  <a:tcPr marL="68580" marR="68580" marT="0" marB="0" anchor="ctr"/>
                </a:tc>
                <a:tc>
                  <a:txBody>
                    <a:bodyPr/>
                    <a:lstStyle/>
                    <a:p>
                      <a:pPr algn="l">
                        <a:lnSpc>
                          <a:spcPct val="100000"/>
                        </a:lnSpc>
                        <a:buNone/>
                      </a:pPr>
                      <a:r>
                        <a:rPr lang="id-ID" sz="2000" kern="100" spc="0" baseline="0"/>
                        <a:t>Brier Score</a:t>
                      </a:r>
                    </a:p>
                  </a:txBody>
                  <a:tcPr marL="68580" marR="68580" marT="0" marB="0" anchor="ctr"/>
                </a:tc>
                <a:tc>
                  <a:txBody>
                    <a:bodyPr/>
                    <a:lstStyle/>
                    <a:p>
                      <a:pPr algn="l">
                        <a:lnSpc>
                          <a:spcPct val="100000"/>
                        </a:lnSpc>
                        <a:buNone/>
                      </a:pPr>
                      <a:r>
                        <a:rPr lang="id-ID" sz="2000" kern="100" spc="0" baseline="0"/>
                        <a:t>ROC AUC</a:t>
                      </a:r>
                    </a:p>
                  </a:txBody>
                  <a:tcPr marL="68580" marR="68580" marT="0" marB="0" anchor="ctr"/>
                </a:tc>
                <a:tc>
                  <a:txBody>
                    <a:bodyPr/>
                    <a:lstStyle/>
                    <a:p>
                      <a:pPr algn="l">
                        <a:lnSpc>
                          <a:spcPct val="100000"/>
                        </a:lnSpc>
                        <a:buNone/>
                      </a:pPr>
                      <a:r>
                        <a:rPr lang="id-ID" sz="2000" kern="100" spc="0" baseline="0"/>
                        <a:t>Akurasi</a:t>
                      </a:r>
                    </a:p>
                  </a:txBody>
                  <a:tcPr marL="68580" marR="68580" marT="0" marB="0" anchor="ctr"/>
                </a:tc>
                <a:tc>
                  <a:txBody>
                    <a:bodyPr/>
                    <a:lstStyle/>
                    <a:p>
                      <a:pPr algn="l">
                        <a:lnSpc>
                          <a:spcPct val="100000"/>
                        </a:lnSpc>
                        <a:buNone/>
                      </a:pPr>
                      <a:r>
                        <a:rPr lang="id-ID" sz="2000" kern="100" spc="0" baseline="0"/>
                        <a:t>Presisi</a:t>
                      </a:r>
                    </a:p>
                  </a:txBody>
                  <a:tcPr marL="68580" marR="68580" marT="0" marB="0" anchor="ctr"/>
                </a:tc>
                <a:tc>
                  <a:txBody>
                    <a:bodyPr/>
                    <a:lstStyle/>
                    <a:p>
                      <a:pPr algn="l">
                        <a:lnSpc>
                          <a:spcPct val="100000"/>
                        </a:lnSpc>
                        <a:buNone/>
                      </a:pPr>
                      <a:r>
                        <a:rPr lang="id-ID" sz="2000" kern="100" spc="0" baseline="0"/>
                        <a:t>Recall</a:t>
                      </a:r>
                    </a:p>
                  </a:txBody>
                  <a:tcPr marL="68580" marR="68580" marT="0" marB="0" anchor="ctr"/>
                </a:tc>
                <a:tc>
                  <a:txBody>
                    <a:bodyPr/>
                    <a:lstStyle/>
                    <a:p>
                      <a:pPr algn="l">
                        <a:lnSpc>
                          <a:spcPct val="100000"/>
                        </a:lnSpc>
                        <a:buNone/>
                      </a:pPr>
                      <a:r>
                        <a:rPr lang="id-ID" sz="2000" kern="100" spc="0" baseline="0"/>
                        <a:t>F1-Score</a:t>
                      </a:r>
                    </a:p>
                  </a:txBody>
                  <a:tcPr marL="68580" marR="68580" marT="0" marB="0" anchor="ctr"/>
                </a:tc>
                <a:tc>
                  <a:txBody>
                    <a:bodyPr/>
                    <a:lstStyle/>
                    <a:p>
                      <a:pPr algn="l">
                        <a:lnSpc>
                          <a:spcPct val="100000"/>
                        </a:lnSpc>
                        <a:buNone/>
                      </a:pPr>
                      <a:r>
                        <a:rPr lang="id-ID" sz="2000" kern="100" spc="0" baseline="0"/>
                        <a:t>Log-Loss</a:t>
                      </a:r>
                    </a:p>
                  </a:txBody>
                  <a:tcPr marL="68580" marR="68580" marT="0" marB="0" anchor="ctr"/>
                </a:tc>
                <a:extLst>
                  <a:ext uri="{0D108BD9-81ED-4DB2-BD59-A6C34878D82A}">
                    <a16:rowId xmlns:a16="http://schemas.microsoft.com/office/drawing/2014/main" val="1452682662"/>
                  </a:ext>
                </a:extLst>
              </a:tr>
              <a:tr h="1048849">
                <a:tc>
                  <a:txBody>
                    <a:bodyPr/>
                    <a:lstStyle/>
                    <a:p>
                      <a:pPr algn="l">
                        <a:lnSpc>
                          <a:spcPct val="100000"/>
                        </a:lnSpc>
                        <a:buNone/>
                      </a:pPr>
                      <a:r>
                        <a:rPr lang="id-ID" sz="2000" kern="100" spc="0" baseline="0"/>
                        <a:t>Eggels et al. (2016)</a:t>
                      </a:r>
                    </a:p>
                  </a:txBody>
                  <a:tcPr marL="68580" marR="68580" marT="0" marB="0" anchor="ctr"/>
                </a:tc>
                <a:tc>
                  <a:txBody>
                    <a:bodyPr/>
                    <a:lstStyle/>
                    <a:p>
                      <a:pPr algn="l">
                        <a:lnSpc>
                          <a:spcPct val="100000"/>
                        </a:lnSpc>
                        <a:buNone/>
                      </a:pPr>
                      <a:r>
                        <a:rPr lang="id-ID" sz="2000" kern="100" spc="0" baseline="0"/>
                        <a:t>Ada-Boost</a:t>
                      </a:r>
                    </a:p>
                  </a:txBody>
                  <a:tcPr marL="68580" marR="68580" marT="0" marB="0" anchor="ctr"/>
                </a:tc>
                <a:tc>
                  <a:txBody>
                    <a:bodyPr/>
                    <a:lstStyle/>
                    <a:p>
                      <a:pPr algn="l">
                        <a:lnSpc>
                          <a:spcPct val="100000"/>
                        </a:lnSpc>
                        <a:buNone/>
                      </a:pPr>
                      <a:r>
                        <a:rPr lang="id-ID" sz="2000" kern="100" spc="0" baseline="0" dirty="0"/>
                        <a:t>–</a:t>
                      </a:r>
                    </a:p>
                  </a:txBody>
                  <a:tcPr marL="68580" marR="68580" marT="0" marB="0" anchor="ctr"/>
                </a:tc>
                <a:tc>
                  <a:txBody>
                    <a:bodyPr/>
                    <a:lstStyle/>
                    <a:p>
                      <a:pPr algn="l">
                        <a:lnSpc>
                          <a:spcPct val="100000"/>
                        </a:lnSpc>
                        <a:buNone/>
                      </a:pPr>
                      <a:r>
                        <a:rPr lang="id-ID" sz="2000" kern="100" spc="0" baseline="0"/>
                        <a:t>0,670</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0,624</a:t>
                      </a:r>
                    </a:p>
                  </a:txBody>
                  <a:tcPr marL="68580" marR="68580" marT="0" marB="0" anchor="ctr"/>
                </a:tc>
                <a:tc>
                  <a:txBody>
                    <a:bodyPr/>
                    <a:lstStyle/>
                    <a:p>
                      <a:pPr algn="l">
                        <a:lnSpc>
                          <a:spcPct val="100000"/>
                        </a:lnSpc>
                        <a:buNone/>
                      </a:pPr>
                      <a:r>
                        <a:rPr lang="id-ID" sz="2000" kern="100" spc="0" baseline="0"/>
                        <a:t>0,773</a:t>
                      </a:r>
                    </a:p>
                  </a:txBody>
                  <a:tcPr marL="68580" marR="68580" marT="0" marB="0" anchor="ctr"/>
                </a:tc>
                <a:tc>
                  <a:txBody>
                    <a:bodyPr/>
                    <a:lstStyle/>
                    <a:p>
                      <a:pPr algn="l">
                        <a:lnSpc>
                          <a:spcPct val="100000"/>
                        </a:lnSpc>
                        <a:buNone/>
                      </a:pPr>
                      <a:r>
                        <a:rPr lang="id-ID" sz="2000" kern="100" spc="0" baseline="0"/>
                        <a:t>0,688</a:t>
                      </a:r>
                    </a:p>
                  </a:txBody>
                  <a:tcPr marL="68580" marR="68580" marT="0" marB="0" anchor="ctr"/>
                </a:tc>
                <a:tc>
                  <a:txBody>
                    <a:bodyPr/>
                    <a:lstStyle/>
                    <a:p>
                      <a:pPr algn="l">
                        <a:lnSpc>
                          <a:spcPct val="100000"/>
                        </a:lnSpc>
                        <a:buNone/>
                      </a:pPr>
                      <a:r>
                        <a:rPr lang="id-ID" sz="2000" kern="100" spc="0" baseline="0"/>
                        <a:t>–</a:t>
                      </a:r>
                    </a:p>
                  </a:txBody>
                  <a:tcPr marL="68580" marR="68580" marT="0" marB="0" anchor="ctr"/>
                </a:tc>
                <a:extLst>
                  <a:ext uri="{0D108BD9-81ED-4DB2-BD59-A6C34878D82A}">
                    <a16:rowId xmlns:a16="http://schemas.microsoft.com/office/drawing/2014/main" val="734325648"/>
                  </a:ext>
                </a:extLst>
              </a:tr>
              <a:tr h="1048849">
                <a:tc>
                  <a:txBody>
                    <a:bodyPr/>
                    <a:lstStyle/>
                    <a:p>
                      <a:pPr algn="l">
                        <a:lnSpc>
                          <a:spcPct val="100000"/>
                        </a:lnSpc>
                        <a:buNone/>
                      </a:pPr>
                      <a:r>
                        <a:rPr lang="id-ID" sz="2000" kern="100" spc="0" baseline="0" dirty="0" err="1"/>
                        <a:t>Anzer</a:t>
                      </a:r>
                      <a:r>
                        <a:rPr lang="id-ID" sz="2000" kern="100" spc="0" baseline="0" dirty="0"/>
                        <a:t> &amp; </a:t>
                      </a:r>
                      <a:r>
                        <a:rPr lang="id-ID" sz="2000" kern="100" spc="0" baseline="0" dirty="0" err="1"/>
                        <a:t>Bauer</a:t>
                      </a:r>
                      <a:r>
                        <a:rPr lang="id-ID" sz="2000" kern="100" spc="0" baseline="0" dirty="0"/>
                        <a:t> (2021)</a:t>
                      </a:r>
                    </a:p>
                  </a:txBody>
                  <a:tcPr marL="68580" marR="68580" marT="0" marB="0" anchor="ctr"/>
                </a:tc>
                <a:tc>
                  <a:txBody>
                    <a:bodyPr/>
                    <a:lstStyle/>
                    <a:p>
                      <a:pPr algn="l">
                        <a:lnSpc>
                          <a:spcPct val="100000"/>
                        </a:lnSpc>
                        <a:buNone/>
                      </a:pPr>
                      <a:r>
                        <a:rPr lang="id-ID" sz="2000" kern="100" spc="0" baseline="0"/>
                        <a:t>Gradient Boosting Machine</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0,822</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0,646</a:t>
                      </a:r>
                    </a:p>
                  </a:txBody>
                  <a:tcPr marL="68580" marR="68580" marT="0" marB="0" anchor="ctr"/>
                </a:tc>
                <a:tc>
                  <a:txBody>
                    <a:bodyPr/>
                    <a:lstStyle/>
                    <a:p>
                      <a:pPr algn="l">
                        <a:lnSpc>
                          <a:spcPct val="100000"/>
                        </a:lnSpc>
                        <a:buNone/>
                      </a:pPr>
                      <a:r>
                        <a:rPr lang="id-ID" sz="2000" kern="100" spc="0" baseline="0"/>
                        <a:t>0,181</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a:t>
                      </a:r>
                    </a:p>
                  </a:txBody>
                  <a:tcPr marL="68580" marR="68580" marT="0" marB="0" anchor="ctr"/>
                </a:tc>
                <a:extLst>
                  <a:ext uri="{0D108BD9-81ED-4DB2-BD59-A6C34878D82A}">
                    <a16:rowId xmlns:a16="http://schemas.microsoft.com/office/drawing/2014/main" val="33056034"/>
                  </a:ext>
                </a:extLst>
              </a:tr>
              <a:tr h="1048849">
                <a:tc>
                  <a:txBody>
                    <a:bodyPr/>
                    <a:lstStyle/>
                    <a:p>
                      <a:pPr algn="l">
                        <a:lnSpc>
                          <a:spcPct val="100000"/>
                        </a:lnSpc>
                        <a:buNone/>
                      </a:pPr>
                      <a:r>
                        <a:rPr lang="id-ID" sz="2000" kern="100" spc="0" baseline="0" dirty="0" err="1"/>
                        <a:t>Cavus</a:t>
                      </a:r>
                      <a:r>
                        <a:rPr lang="id-ID" sz="2000" kern="100" spc="0" baseline="0" dirty="0"/>
                        <a:t> &amp; </a:t>
                      </a:r>
                      <a:r>
                        <a:rPr lang="id-ID" sz="2000" kern="100" spc="0" baseline="0" dirty="0" err="1"/>
                        <a:t>Biecek</a:t>
                      </a:r>
                      <a:r>
                        <a:rPr lang="id-ID" sz="2000" kern="100" spc="0" baseline="0" dirty="0"/>
                        <a:t> (2022)</a:t>
                      </a:r>
                    </a:p>
                  </a:txBody>
                  <a:tcPr marL="68580" marR="68580" marT="0" marB="0" anchor="ctr"/>
                </a:tc>
                <a:tc>
                  <a:txBody>
                    <a:bodyPr/>
                    <a:lstStyle/>
                    <a:p>
                      <a:pPr algn="l">
                        <a:lnSpc>
                          <a:spcPct val="100000"/>
                        </a:lnSpc>
                        <a:buNone/>
                      </a:pPr>
                      <a:r>
                        <a:rPr lang="id-ID" sz="2000" kern="100" spc="0" baseline="0"/>
                        <a:t>LightGBM</a:t>
                      </a:r>
                    </a:p>
                  </a:txBody>
                  <a:tcPr marL="68580" marR="68580" marT="0" marB="0" anchor="ctr"/>
                </a:tc>
                <a:tc>
                  <a:txBody>
                    <a:bodyPr/>
                    <a:lstStyle/>
                    <a:p>
                      <a:pPr algn="l">
                        <a:lnSpc>
                          <a:spcPct val="100000"/>
                        </a:lnSpc>
                        <a:buNone/>
                      </a:pPr>
                      <a:r>
                        <a:rPr lang="id-ID" sz="2000" kern="100" spc="0" baseline="0"/>
                        <a:t>0,173</a:t>
                      </a:r>
                    </a:p>
                  </a:txBody>
                  <a:tcPr marL="68580" marR="68580" marT="0" marB="0" anchor="ctr"/>
                </a:tc>
                <a:tc>
                  <a:txBody>
                    <a:bodyPr/>
                    <a:lstStyle/>
                    <a:p>
                      <a:pPr algn="l">
                        <a:lnSpc>
                          <a:spcPct val="100000"/>
                        </a:lnSpc>
                        <a:buNone/>
                      </a:pPr>
                      <a:r>
                        <a:rPr lang="id-ID" sz="2000" kern="100" spc="0" baseline="0"/>
                        <a:t>0,818</a:t>
                      </a:r>
                    </a:p>
                  </a:txBody>
                  <a:tcPr marL="68580" marR="68580" marT="0" marB="0" anchor="ctr"/>
                </a:tc>
                <a:tc>
                  <a:txBody>
                    <a:bodyPr/>
                    <a:lstStyle/>
                    <a:p>
                      <a:pPr algn="l">
                        <a:lnSpc>
                          <a:spcPct val="100000"/>
                        </a:lnSpc>
                        <a:buNone/>
                      </a:pPr>
                      <a:r>
                        <a:rPr lang="id-ID" sz="2000" kern="100" spc="0" baseline="0"/>
                        <a:t>0,904</a:t>
                      </a:r>
                    </a:p>
                  </a:txBody>
                  <a:tcPr marL="68580" marR="68580" marT="0" marB="0" anchor="ctr"/>
                </a:tc>
                <a:tc>
                  <a:txBody>
                    <a:bodyPr/>
                    <a:lstStyle/>
                    <a:p>
                      <a:pPr algn="l">
                        <a:lnSpc>
                          <a:spcPct val="100000"/>
                        </a:lnSpc>
                        <a:buNone/>
                      </a:pPr>
                      <a:r>
                        <a:rPr lang="id-ID" sz="2000" kern="100" spc="0" baseline="0"/>
                        <a:t>0,748</a:t>
                      </a:r>
                    </a:p>
                  </a:txBody>
                  <a:tcPr marL="68580" marR="68580" marT="0" marB="0" anchor="ctr"/>
                </a:tc>
                <a:tc>
                  <a:txBody>
                    <a:bodyPr/>
                    <a:lstStyle/>
                    <a:p>
                      <a:pPr algn="l">
                        <a:lnSpc>
                          <a:spcPct val="100000"/>
                        </a:lnSpc>
                        <a:buNone/>
                      </a:pPr>
                      <a:r>
                        <a:rPr lang="id-ID" sz="2000" kern="100" spc="0" baseline="0"/>
                        <a:t>0,721</a:t>
                      </a:r>
                    </a:p>
                  </a:txBody>
                  <a:tcPr marL="68580" marR="68580" marT="0" marB="0" anchor="ctr"/>
                </a:tc>
                <a:tc>
                  <a:txBody>
                    <a:bodyPr/>
                    <a:lstStyle/>
                    <a:p>
                      <a:pPr algn="l">
                        <a:lnSpc>
                          <a:spcPct val="100000"/>
                        </a:lnSpc>
                        <a:buNone/>
                      </a:pPr>
                      <a:r>
                        <a:rPr lang="id-ID" sz="2000" kern="100" spc="0" baseline="0"/>
                        <a:t>0,734</a:t>
                      </a:r>
                    </a:p>
                  </a:txBody>
                  <a:tcPr marL="68580" marR="68580" marT="0" marB="0" anchor="ctr"/>
                </a:tc>
                <a:tc>
                  <a:txBody>
                    <a:bodyPr/>
                    <a:lstStyle/>
                    <a:p>
                      <a:pPr algn="l">
                        <a:lnSpc>
                          <a:spcPct val="100000"/>
                        </a:lnSpc>
                        <a:buNone/>
                      </a:pPr>
                      <a:r>
                        <a:rPr lang="id-ID" sz="2000" kern="100" spc="0" baseline="0" dirty="0"/>
                        <a:t>0,520</a:t>
                      </a:r>
                    </a:p>
                  </a:txBody>
                  <a:tcPr marL="68580" marR="68580" marT="0" marB="0" anchor="ctr"/>
                </a:tc>
                <a:extLst>
                  <a:ext uri="{0D108BD9-81ED-4DB2-BD59-A6C34878D82A}">
                    <a16:rowId xmlns:a16="http://schemas.microsoft.com/office/drawing/2014/main" val="4279734819"/>
                  </a:ext>
                </a:extLst>
              </a:tr>
              <a:tr h="1048849">
                <a:tc>
                  <a:txBody>
                    <a:bodyPr/>
                    <a:lstStyle/>
                    <a:p>
                      <a:pPr algn="l">
                        <a:lnSpc>
                          <a:spcPct val="100000"/>
                        </a:lnSpc>
                        <a:buNone/>
                      </a:pPr>
                      <a:r>
                        <a:rPr lang="id-ID" sz="2000" kern="100" spc="0" baseline="0"/>
                        <a:t>Mead et al. (2023)</a:t>
                      </a:r>
                    </a:p>
                  </a:txBody>
                  <a:tcPr marL="68580" marR="68580" marT="0" marB="0" anchor="ctr"/>
                </a:tc>
                <a:tc>
                  <a:txBody>
                    <a:bodyPr/>
                    <a:lstStyle/>
                    <a:p>
                      <a:pPr algn="l">
                        <a:lnSpc>
                          <a:spcPct val="100000"/>
                        </a:lnSpc>
                        <a:buNone/>
                      </a:pPr>
                      <a:r>
                        <a:rPr lang="id-ID" sz="2000" kern="100" spc="0" baseline="0" dirty="0" err="1"/>
                        <a:t>XGBoost</a:t>
                      </a:r>
                      <a:endParaRPr lang="id-ID" sz="2000" kern="100" spc="0" baseline="0" dirty="0"/>
                    </a:p>
                  </a:txBody>
                  <a:tcPr marL="68580" marR="68580" marT="0" marB="0" anchor="ctr"/>
                </a:tc>
                <a:tc>
                  <a:txBody>
                    <a:bodyPr/>
                    <a:lstStyle/>
                    <a:p>
                      <a:pPr algn="l">
                        <a:lnSpc>
                          <a:spcPct val="100000"/>
                        </a:lnSpc>
                        <a:buNone/>
                      </a:pPr>
                      <a:r>
                        <a:rPr lang="id-ID" sz="2000" kern="100" spc="0" baseline="0"/>
                        <a:t>0,0799</a:t>
                      </a:r>
                    </a:p>
                  </a:txBody>
                  <a:tcPr marL="68580" marR="68580" marT="0" marB="0" anchor="ctr"/>
                </a:tc>
                <a:tc>
                  <a:txBody>
                    <a:bodyPr/>
                    <a:lstStyle/>
                    <a:p>
                      <a:pPr algn="l">
                        <a:lnSpc>
                          <a:spcPct val="100000"/>
                        </a:lnSpc>
                        <a:buNone/>
                      </a:pPr>
                      <a:r>
                        <a:rPr lang="id-ID" sz="2000" kern="100" spc="0" baseline="0"/>
                        <a:t>0,8</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dirty="0"/>
                        <a:t>0,28184</a:t>
                      </a:r>
                    </a:p>
                  </a:txBody>
                  <a:tcPr marL="68580" marR="68580" marT="0" marB="0" anchor="ctr"/>
                </a:tc>
                <a:extLst>
                  <a:ext uri="{0D108BD9-81ED-4DB2-BD59-A6C34878D82A}">
                    <a16:rowId xmlns:a16="http://schemas.microsoft.com/office/drawing/2014/main" val="1692878202"/>
                  </a:ext>
                </a:extLst>
              </a:tr>
              <a:tr h="564904">
                <a:tc>
                  <a:txBody>
                    <a:bodyPr/>
                    <a:lstStyle/>
                    <a:p>
                      <a:pPr algn="l">
                        <a:lnSpc>
                          <a:spcPct val="100000"/>
                        </a:lnSpc>
                        <a:buNone/>
                      </a:pPr>
                      <a:r>
                        <a:rPr lang="id-ID" sz="2000" kern="100" spc="0" baseline="0"/>
                        <a:t>Senn (2024)</a:t>
                      </a:r>
                    </a:p>
                  </a:txBody>
                  <a:tcPr marL="68580" marR="68580" marT="0" marB="0" anchor="ctr"/>
                </a:tc>
                <a:tc>
                  <a:txBody>
                    <a:bodyPr/>
                    <a:lstStyle/>
                    <a:p>
                      <a:pPr algn="l">
                        <a:lnSpc>
                          <a:spcPct val="100000"/>
                        </a:lnSpc>
                        <a:buNone/>
                      </a:pPr>
                      <a:r>
                        <a:rPr lang="id-ID" sz="2000" kern="100" spc="0" baseline="0" dirty="0" err="1"/>
                        <a:t>XGBoost</a:t>
                      </a:r>
                      <a:endParaRPr lang="id-ID" sz="2000" kern="100" spc="0" baseline="0" dirty="0"/>
                    </a:p>
                  </a:txBody>
                  <a:tcPr marL="68580" marR="68580" marT="0" marB="0" anchor="ctr"/>
                </a:tc>
                <a:tc>
                  <a:txBody>
                    <a:bodyPr/>
                    <a:lstStyle/>
                    <a:p>
                      <a:pPr algn="l">
                        <a:lnSpc>
                          <a:spcPct val="100000"/>
                        </a:lnSpc>
                        <a:buNone/>
                      </a:pPr>
                      <a:r>
                        <a:rPr lang="id-ID" sz="2000" kern="100" spc="0" baseline="0"/>
                        <a:t>–</a:t>
                      </a:r>
                    </a:p>
                  </a:txBody>
                  <a:tcPr marL="68580" marR="68580" marT="0" marB="0" anchor="ctr"/>
                </a:tc>
                <a:tc>
                  <a:txBody>
                    <a:bodyPr/>
                    <a:lstStyle/>
                    <a:p>
                      <a:pPr algn="l">
                        <a:lnSpc>
                          <a:spcPct val="100000"/>
                        </a:lnSpc>
                        <a:buNone/>
                      </a:pPr>
                      <a:r>
                        <a:rPr lang="id-ID" sz="2000" kern="100" spc="0" baseline="0"/>
                        <a:t>0,718</a:t>
                      </a:r>
                    </a:p>
                  </a:txBody>
                  <a:tcPr marL="68580" marR="68580" marT="0" marB="0" anchor="ctr"/>
                </a:tc>
                <a:tc>
                  <a:txBody>
                    <a:bodyPr/>
                    <a:lstStyle/>
                    <a:p>
                      <a:pPr algn="l">
                        <a:lnSpc>
                          <a:spcPct val="100000"/>
                        </a:lnSpc>
                        <a:buNone/>
                      </a:pPr>
                      <a:r>
                        <a:rPr lang="id-ID" sz="2000" kern="100" spc="0" baseline="0"/>
                        <a:t>0,891</a:t>
                      </a:r>
                    </a:p>
                  </a:txBody>
                  <a:tcPr marL="68580" marR="68580" marT="0" marB="0" anchor="ctr"/>
                </a:tc>
                <a:tc>
                  <a:txBody>
                    <a:bodyPr/>
                    <a:lstStyle/>
                    <a:p>
                      <a:pPr algn="l">
                        <a:lnSpc>
                          <a:spcPct val="100000"/>
                        </a:lnSpc>
                        <a:buNone/>
                      </a:pPr>
                      <a:r>
                        <a:rPr lang="id-ID" sz="2000" kern="100" spc="0" baseline="0"/>
                        <a:t>0,536</a:t>
                      </a:r>
                    </a:p>
                  </a:txBody>
                  <a:tcPr marL="68580" marR="68580" marT="0" marB="0" anchor="ctr"/>
                </a:tc>
                <a:tc>
                  <a:txBody>
                    <a:bodyPr/>
                    <a:lstStyle/>
                    <a:p>
                      <a:pPr algn="l">
                        <a:lnSpc>
                          <a:spcPct val="100000"/>
                        </a:lnSpc>
                        <a:buNone/>
                      </a:pPr>
                      <a:r>
                        <a:rPr lang="id-ID" sz="2000" kern="100" spc="0" baseline="0"/>
                        <a:t>0,071</a:t>
                      </a:r>
                    </a:p>
                  </a:txBody>
                  <a:tcPr marL="68580" marR="68580" marT="0" marB="0" anchor="ctr"/>
                </a:tc>
                <a:tc>
                  <a:txBody>
                    <a:bodyPr/>
                    <a:lstStyle/>
                    <a:p>
                      <a:pPr algn="l">
                        <a:lnSpc>
                          <a:spcPct val="100000"/>
                        </a:lnSpc>
                        <a:buNone/>
                      </a:pPr>
                      <a:r>
                        <a:rPr lang="id-ID" sz="2000" kern="100" spc="0" baseline="0"/>
                        <a:t>0,125</a:t>
                      </a:r>
                    </a:p>
                  </a:txBody>
                  <a:tcPr marL="68580" marR="68580" marT="0" marB="0" anchor="ctr"/>
                </a:tc>
                <a:tc>
                  <a:txBody>
                    <a:bodyPr/>
                    <a:lstStyle/>
                    <a:p>
                      <a:pPr algn="l">
                        <a:lnSpc>
                          <a:spcPct val="100000"/>
                        </a:lnSpc>
                        <a:buNone/>
                      </a:pPr>
                      <a:r>
                        <a:rPr lang="id-ID" sz="2000" kern="100" spc="0" baseline="0"/>
                        <a:t>–</a:t>
                      </a:r>
                    </a:p>
                  </a:txBody>
                  <a:tcPr marL="68580" marR="68580" marT="0" marB="0" anchor="ctr"/>
                </a:tc>
                <a:extLst>
                  <a:ext uri="{0D108BD9-81ED-4DB2-BD59-A6C34878D82A}">
                    <a16:rowId xmlns:a16="http://schemas.microsoft.com/office/drawing/2014/main" val="3016004165"/>
                  </a:ext>
                </a:extLst>
              </a:tr>
              <a:tr h="1048849">
                <a:tc>
                  <a:txBody>
                    <a:bodyPr/>
                    <a:lstStyle/>
                    <a:p>
                      <a:pPr algn="l">
                        <a:lnSpc>
                          <a:spcPct val="100000"/>
                        </a:lnSpc>
                        <a:buNone/>
                      </a:pPr>
                      <a:r>
                        <a:rPr lang="id-ID" sz="2000" b="1" kern="100" spc="0" baseline="0" dirty="0"/>
                        <a:t>Model Penelitian</a:t>
                      </a:r>
                    </a:p>
                  </a:txBody>
                  <a:tcPr marL="68580" marR="68580" marT="0" marB="0" anchor="ctr"/>
                </a:tc>
                <a:tc>
                  <a:txBody>
                    <a:bodyPr/>
                    <a:lstStyle/>
                    <a:p>
                      <a:pPr algn="l">
                        <a:lnSpc>
                          <a:spcPct val="100000"/>
                        </a:lnSpc>
                        <a:buNone/>
                      </a:pPr>
                      <a:r>
                        <a:rPr lang="id-ID" sz="2000" b="1" kern="100" spc="0" baseline="0" dirty="0" err="1"/>
                        <a:t>LightGBM</a:t>
                      </a:r>
                      <a:r>
                        <a:rPr lang="id-ID" sz="2000" b="1" kern="100" spc="0" baseline="0" dirty="0"/>
                        <a:t> (</a:t>
                      </a:r>
                      <a:r>
                        <a:rPr lang="id-ID" sz="2000" b="1" kern="100" spc="0" baseline="0" dirty="0" err="1"/>
                        <a:t>with</a:t>
                      </a:r>
                      <a:r>
                        <a:rPr lang="id-ID" sz="2000" b="1" kern="100" spc="0" baseline="0" dirty="0"/>
                        <a:t> </a:t>
                      </a:r>
                      <a:r>
                        <a:rPr lang="id-ID" sz="2000" b="1" kern="100" spc="0" baseline="0" dirty="0" err="1"/>
                        <a:t>Calibration</a:t>
                      </a:r>
                      <a:r>
                        <a:rPr lang="id-ID" sz="2000" b="1" kern="100" spc="0" baseline="0" dirty="0"/>
                        <a:t>)</a:t>
                      </a:r>
                    </a:p>
                  </a:txBody>
                  <a:tcPr marL="68580" marR="68580" marT="0" marB="0" anchor="ctr"/>
                </a:tc>
                <a:tc>
                  <a:txBody>
                    <a:bodyPr/>
                    <a:lstStyle/>
                    <a:p>
                      <a:pPr algn="l">
                        <a:lnSpc>
                          <a:spcPct val="100000"/>
                        </a:lnSpc>
                        <a:buNone/>
                      </a:pPr>
                      <a:r>
                        <a:rPr lang="id-ID" sz="2000" b="1" kern="100" spc="0" baseline="0" dirty="0"/>
                        <a:t>0,0621</a:t>
                      </a:r>
                    </a:p>
                  </a:txBody>
                  <a:tcPr marL="68580" marR="68580" marT="0" marB="0" anchor="ctr"/>
                </a:tc>
                <a:tc>
                  <a:txBody>
                    <a:bodyPr/>
                    <a:lstStyle/>
                    <a:p>
                      <a:pPr algn="l">
                        <a:lnSpc>
                          <a:spcPct val="100000"/>
                        </a:lnSpc>
                        <a:buNone/>
                      </a:pPr>
                      <a:r>
                        <a:rPr lang="id-ID" sz="2000" b="1" kern="100" spc="0" baseline="0" dirty="0"/>
                        <a:t>0,9209</a:t>
                      </a:r>
                    </a:p>
                  </a:txBody>
                  <a:tcPr marL="68580" marR="68580" marT="0" marB="0" anchor="ctr"/>
                </a:tc>
                <a:tc>
                  <a:txBody>
                    <a:bodyPr/>
                    <a:lstStyle/>
                    <a:p>
                      <a:pPr algn="l">
                        <a:lnSpc>
                          <a:spcPct val="100000"/>
                        </a:lnSpc>
                        <a:buNone/>
                      </a:pPr>
                      <a:r>
                        <a:rPr lang="id-ID" sz="2000" b="1" kern="100" spc="0" baseline="0" dirty="0"/>
                        <a:t>0,9113</a:t>
                      </a:r>
                    </a:p>
                  </a:txBody>
                  <a:tcPr marL="68580" marR="68580" marT="0" marB="0" anchor="ctr"/>
                </a:tc>
                <a:tc>
                  <a:txBody>
                    <a:bodyPr/>
                    <a:lstStyle/>
                    <a:p>
                      <a:pPr algn="l">
                        <a:lnSpc>
                          <a:spcPct val="100000"/>
                        </a:lnSpc>
                        <a:buNone/>
                      </a:pPr>
                      <a:r>
                        <a:rPr lang="id-ID" sz="2000" b="1" kern="100" spc="0" baseline="0" dirty="0"/>
                        <a:t>0,8996</a:t>
                      </a:r>
                    </a:p>
                  </a:txBody>
                  <a:tcPr marL="68580" marR="68580" marT="0" marB="0" anchor="ctr"/>
                </a:tc>
                <a:tc>
                  <a:txBody>
                    <a:bodyPr/>
                    <a:lstStyle/>
                    <a:p>
                      <a:pPr algn="l">
                        <a:lnSpc>
                          <a:spcPct val="100000"/>
                        </a:lnSpc>
                        <a:buNone/>
                      </a:pPr>
                      <a:r>
                        <a:rPr lang="id-ID" sz="2000" b="1" kern="100" spc="0" baseline="0" dirty="0"/>
                        <a:t>0,9113</a:t>
                      </a:r>
                    </a:p>
                  </a:txBody>
                  <a:tcPr marL="68580" marR="68580" marT="0" marB="0" anchor="ctr"/>
                </a:tc>
                <a:tc>
                  <a:txBody>
                    <a:bodyPr/>
                    <a:lstStyle/>
                    <a:p>
                      <a:pPr algn="l">
                        <a:lnSpc>
                          <a:spcPct val="100000"/>
                        </a:lnSpc>
                        <a:buNone/>
                      </a:pPr>
                      <a:r>
                        <a:rPr lang="id-ID" sz="2000" b="1" kern="100" spc="0" baseline="0" dirty="0"/>
                        <a:t>0,9010</a:t>
                      </a:r>
                    </a:p>
                  </a:txBody>
                  <a:tcPr marL="68580" marR="68580" marT="0" marB="0" anchor="ctr"/>
                </a:tc>
                <a:tc>
                  <a:txBody>
                    <a:bodyPr/>
                    <a:lstStyle/>
                    <a:p>
                      <a:pPr algn="l">
                        <a:lnSpc>
                          <a:spcPct val="100000"/>
                        </a:lnSpc>
                        <a:buNone/>
                      </a:pPr>
                      <a:r>
                        <a:rPr lang="id-ID" sz="2000" b="1" kern="100" spc="0" baseline="0" dirty="0"/>
                        <a:t>0,21</a:t>
                      </a:r>
                    </a:p>
                  </a:txBody>
                  <a:tcPr marL="68580" marR="68580" marT="0" marB="0" anchor="ctr"/>
                </a:tc>
                <a:extLst>
                  <a:ext uri="{0D108BD9-81ED-4DB2-BD59-A6C34878D82A}">
                    <a16:rowId xmlns:a16="http://schemas.microsoft.com/office/drawing/2014/main" val="1316689934"/>
                  </a:ext>
                </a:extLst>
              </a:tr>
            </a:tbl>
          </a:graphicData>
        </a:graphic>
      </p:graphicFrame>
    </p:spTree>
    <p:extLst>
      <p:ext uri="{BB962C8B-B14F-4D97-AF65-F5344CB8AC3E}">
        <p14:creationId xmlns:p14="http://schemas.microsoft.com/office/powerpoint/2010/main" val="8212776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539F-2EE6-BCD1-E582-8EC235B0E86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D861B14D-981B-8178-788F-7EFDDB6117B6}"/>
              </a:ext>
            </a:extLst>
          </p:cNvPr>
          <p:cNvSpPr>
            <a:spLocks noGrp="1"/>
          </p:cNvSpPr>
          <p:nvPr>
            <p:ph type="title"/>
          </p:nvPr>
        </p:nvSpPr>
        <p:spPr>
          <a:xfrm>
            <a:off x="824174" y="376750"/>
            <a:ext cx="10678142" cy="1325563"/>
          </a:xfrm>
        </p:spPr>
        <p:txBody>
          <a:bodyPr rtlCol="0"/>
          <a:lstStyle/>
          <a:p>
            <a:r>
              <a:rPr lang="id-ID" dirty="0"/>
              <a:t>Industrial </a:t>
            </a:r>
            <a:r>
              <a:rPr lang="id-ID" dirty="0" err="1"/>
              <a:t>Benchmark</a:t>
            </a:r>
            <a:endParaRPr lang="id-ID" dirty="0"/>
          </a:p>
        </p:txBody>
      </p:sp>
      <p:sp>
        <p:nvSpPr>
          <p:cNvPr id="3" name="Tampungan Tanggal 2">
            <a:extLst>
              <a:ext uri="{FF2B5EF4-FFF2-40B4-BE49-F238E27FC236}">
                <a16:creationId xmlns:a16="http://schemas.microsoft.com/office/drawing/2014/main" id="{EFF90549-8A38-7A49-3D1D-B38AD6E837C6}"/>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171CEDA0-4882-6B49-5C8E-92BF13434300}"/>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47</a:t>
            </a:fld>
            <a:endParaRPr lang="id-ID"/>
          </a:p>
        </p:txBody>
      </p:sp>
      <p:sp>
        <p:nvSpPr>
          <p:cNvPr id="78" name="Content Placeholder 7">
            <a:extLst>
              <a:ext uri="{FF2B5EF4-FFF2-40B4-BE49-F238E27FC236}">
                <a16:creationId xmlns:a16="http://schemas.microsoft.com/office/drawing/2014/main" id="{619A95F2-E2C9-BC70-6473-77E1B12C9096}"/>
              </a:ext>
            </a:extLst>
          </p:cNvPr>
          <p:cNvSpPr txBox="1">
            <a:spLocks/>
          </p:cNvSpPr>
          <p:nvPr/>
        </p:nvSpPr>
        <p:spPr>
          <a:xfrm>
            <a:off x="750430" y="1706563"/>
            <a:ext cx="10382027" cy="30976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id-ID" sz="3200" dirty="0"/>
              <a:t>Untuk memvalidasi konsistensi, prediksi </a:t>
            </a:r>
            <a:r>
              <a:rPr lang="id-ID" sz="3200" dirty="0" err="1"/>
              <a:t>xG</a:t>
            </a:r>
            <a:r>
              <a:rPr lang="id-ID" sz="3200" dirty="0"/>
              <a:t> dari model ini dibandingkan dengan data dari penyedia statistik industri seperti </a:t>
            </a:r>
            <a:r>
              <a:rPr lang="id-ID" sz="3200" dirty="0" err="1"/>
              <a:t>Opta</a:t>
            </a:r>
            <a:r>
              <a:rPr lang="id-ID" sz="3200" dirty="0"/>
              <a:t> dan </a:t>
            </a:r>
            <a:r>
              <a:rPr lang="id-ID" sz="3200" dirty="0" err="1"/>
              <a:t>FBref</a:t>
            </a:r>
            <a:r>
              <a:rPr lang="id-ID" sz="3200" dirty="0"/>
              <a:t>. Hasilnya menunjukkan bahwa estimasi model ini sejalan dan kompetitif dengan standar industri.</a:t>
            </a:r>
          </a:p>
        </p:txBody>
      </p:sp>
    </p:spTree>
    <p:extLst>
      <p:ext uri="{BB962C8B-B14F-4D97-AF65-F5344CB8AC3E}">
        <p14:creationId xmlns:p14="http://schemas.microsoft.com/office/powerpoint/2010/main" val="29839702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69B50-136A-6B98-1890-CDD9D3A29AE5}"/>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330F4F9-F96F-CB34-5C87-70B25C78F7C7}"/>
              </a:ext>
            </a:extLst>
          </p:cNvPr>
          <p:cNvSpPr>
            <a:spLocks noGrp="1"/>
          </p:cNvSpPr>
          <p:nvPr>
            <p:ph type="title"/>
          </p:nvPr>
        </p:nvSpPr>
        <p:spPr>
          <a:xfrm>
            <a:off x="824174" y="376751"/>
            <a:ext cx="10678142" cy="639250"/>
          </a:xfrm>
        </p:spPr>
        <p:txBody>
          <a:bodyPr rtlCol="0"/>
          <a:lstStyle/>
          <a:p>
            <a:r>
              <a:rPr lang="id-ID" dirty="0"/>
              <a:t>Industrial </a:t>
            </a:r>
            <a:r>
              <a:rPr lang="id-ID" dirty="0" err="1"/>
              <a:t>Benchmark</a:t>
            </a:r>
            <a:endParaRPr lang="id-ID" dirty="0"/>
          </a:p>
        </p:txBody>
      </p:sp>
      <p:sp>
        <p:nvSpPr>
          <p:cNvPr id="3" name="Tampungan Tanggal 2">
            <a:extLst>
              <a:ext uri="{FF2B5EF4-FFF2-40B4-BE49-F238E27FC236}">
                <a16:creationId xmlns:a16="http://schemas.microsoft.com/office/drawing/2014/main" id="{CF16898C-90AB-F3AB-7F32-DDC1CDB2FED7}"/>
              </a:ext>
            </a:extLst>
          </p:cNvPr>
          <p:cNvSpPr>
            <a:spLocks noGrp="1"/>
          </p:cNvSpPr>
          <p:nvPr>
            <p:ph type="dt" sz="half" idx="25"/>
          </p:nvPr>
        </p:nvSpPr>
        <p:spPr>
          <a:xfrm>
            <a:off x="381000" y="6356350"/>
            <a:ext cx="2743200" cy="365125"/>
          </a:xfrm>
        </p:spPr>
        <p:txBody>
          <a:bodyPr rtlCol="0"/>
          <a:lstStyle/>
          <a:p>
            <a:pPr rtl="0"/>
            <a:fld id="{423EE75F-42B8-4E1A-83C6-1B72B3C0E408}" type="datetime1">
              <a:rPr lang="id-ID" smtClean="0"/>
              <a:t>27/10/2025</a:t>
            </a:fld>
            <a:endParaRPr lang="id-ID"/>
          </a:p>
        </p:txBody>
      </p:sp>
      <p:sp>
        <p:nvSpPr>
          <p:cNvPr id="5" name="Tampungan Nomor Slide 4">
            <a:extLst>
              <a:ext uri="{FF2B5EF4-FFF2-40B4-BE49-F238E27FC236}">
                <a16:creationId xmlns:a16="http://schemas.microsoft.com/office/drawing/2014/main" id="{762C4400-C546-28EE-F29F-CABA16ACD898}"/>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id-ID" smtClean="0"/>
              <a:pPr rtl="0"/>
              <a:t>48</a:t>
            </a:fld>
            <a:endParaRPr lang="id-ID"/>
          </a:p>
        </p:txBody>
      </p:sp>
      <p:graphicFrame>
        <p:nvGraphicFramePr>
          <p:cNvPr id="6" name="Table 5">
            <a:extLst>
              <a:ext uri="{FF2B5EF4-FFF2-40B4-BE49-F238E27FC236}">
                <a16:creationId xmlns:a16="http://schemas.microsoft.com/office/drawing/2014/main" id="{1CC99FB0-92A1-D0F0-6686-1C6674D7F659}"/>
              </a:ext>
            </a:extLst>
          </p:cNvPr>
          <p:cNvGraphicFramePr>
            <a:graphicFrameLocks noGrp="1"/>
          </p:cNvGraphicFramePr>
          <p:nvPr>
            <p:extLst>
              <p:ext uri="{D42A27DB-BD31-4B8C-83A1-F6EECF244321}">
                <p14:modId xmlns:p14="http://schemas.microsoft.com/office/powerpoint/2010/main" val="3575303727"/>
              </p:ext>
            </p:extLst>
          </p:nvPr>
        </p:nvGraphicFramePr>
        <p:xfrm>
          <a:off x="824174" y="1016001"/>
          <a:ext cx="10874339" cy="5196114"/>
        </p:xfrm>
        <a:graphic>
          <a:graphicData uri="http://schemas.openxmlformats.org/drawingml/2006/table">
            <a:tbl>
              <a:tblPr firstRow="1" firstCol="1" bandRow="1">
                <a:tableStyleId>{5C22544A-7EE6-4342-B048-85BDC9FD1C3A}</a:tableStyleId>
              </a:tblPr>
              <a:tblGrid>
                <a:gridCol w="3626127">
                  <a:extLst>
                    <a:ext uri="{9D8B030D-6E8A-4147-A177-3AD203B41FA5}">
                      <a16:colId xmlns:a16="http://schemas.microsoft.com/office/drawing/2014/main" val="956892253"/>
                    </a:ext>
                  </a:extLst>
                </a:gridCol>
                <a:gridCol w="953677">
                  <a:extLst>
                    <a:ext uri="{9D8B030D-6E8A-4147-A177-3AD203B41FA5}">
                      <a16:colId xmlns:a16="http://schemas.microsoft.com/office/drawing/2014/main" val="709715410"/>
                    </a:ext>
                  </a:extLst>
                </a:gridCol>
                <a:gridCol w="2098627">
                  <a:extLst>
                    <a:ext uri="{9D8B030D-6E8A-4147-A177-3AD203B41FA5}">
                      <a16:colId xmlns:a16="http://schemas.microsoft.com/office/drawing/2014/main" val="1365408414"/>
                    </a:ext>
                  </a:extLst>
                </a:gridCol>
                <a:gridCol w="2098627">
                  <a:extLst>
                    <a:ext uri="{9D8B030D-6E8A-4147-A177-3AD203B41FA5}">
                      <a16:colId xmlns:a16="http://schemas.microsoft.com/office/drawing/2014/main" val="3863355486"/>
                    </a:ext>
                  </a:extLst>
                </a:gridCol>
                <a:gridCol w="2097281">
                  <a:extLst>
                    <a:ext uri="{9D8B030D-6E8A-4147-A177-3AD203B41FA5}">
                      <a16:colId xmlns:a16="http://schemas.microsoft.com/office/drawing/2014/main" val="1636534166"/>
                    </a:ext>
                  </a:extLst>
                </a:gridCol>
              </a:tblGrid>
              <a:tr h="472374">
                <a:tc>
                  <a:txBody>
                    <a:bodyPr/>
                    <a:lstStyle/>
                    <a:p>
                      <a:pPr algn="just">
                        <a:lnSpc>
                          <a:spcPct val="200000"/>
                        </a:lnSpc>
                        <a:buNone/>
                      </a:pPr>
                      <a:r>
                        <a:rPr lang="id-ID" sz="1800" kern="0">
                          <a:effectLst/>
                        </a:rPr>
                        <a:t>Pertandingan</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Skor</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Sumber</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xG Tim A</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xG Tim B</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95493772"/>
                  </a:ext>
                </a:extLst>
              </a:tr>
              <a:tr h="472374">
                <a:tc rowSpan="5">
                  <a:txBody>
                    <a:bodyPr/>
                    <a:lstStyle/>
                    <a:p>
                      <a:pPr algn="just">
                        <a:lnSpc>
                          <a:spcPct val="200000"/>
                        </a:lnSpc>
                        <a:buNone/>
                      </a:pPr>
                      <a:r>
                        <a:rPr lang="id-ID" sz="1800" kern="0">
                          <a:effectLst/>
                        </a:rPr>
                        <a:t>England vs Iran – WC 2022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rowSpan="5">
                  <a:txBody>
                    <a:bodyPr/>
                    <a:lstStyle/>
                    <a:p>
                      <a:pPr algn="just">
                        <a:lnSpc>
                          <a:spcPct val="200000"/>
                        </a:lnSpc>
                        <a:buNone/>
                      </a:pPr>
                      <a:r>
                        <a:rPr lang="id-ID" sz="1800" kern="0">
                          <a:effectLst/>
                        </a:rPr>
                        <a:t>6 – 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Penelitian ini</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3,09</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0,87</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87558195"/>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dirty="0" err="1">
                          <a:effectLst/>
                        </a:rPr>
                        <a:t>Opta</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1,751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78095649"/>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dirty="0">
                          <a:effectLst/>
                        </a:rPr>
                        <a:t>xGScore.io</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1,42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93416815"/>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FBref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67491231"/>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PFF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2,14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Iran: 1,62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43277366"/>
                  </a:ext>
                </a:extLst>
              </a:tr>
              <a:tr h="472374">
                <a:tc rowSpan="5">
                  <a:txBody>
                    <a:bodyPr/>
                    <a:lstStyle/>
                    <a:p>
                      <a:pPr algn="just">
                        <a:lnSpc>
                          <a:spcPct val="200000"/>
                        </a:lnSpc>
                        <a:buNone/>
                      </a:pPr>
                      <a:r>
                        <a:rPr lang="id-ID" sz="1800" kern="0">
                          <a:effectLst/>
                        </a:rPr>
                        <a:t>England vs France – WC 2022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rowSpan="5">
                  <a:txBody>
                    <a:bodyPr/>
                    <a:lstStyle/>
                    <a:p>
                      <a:pPr algn="just">
                        <a:lnSpc>
                          <a:spcPct val="200000"/>
                        </a:lnSpc>
                        <a:buNone/>
                      </a:pPr>
                      <a:r>
                        <a:rPr lang="id-ID" sz="1800" kern="0">
                          <a:effectLst/>
                        </a:rPr>
                        <a:t>1 – 2</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Penelitian ini</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1,98</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France</a:t>
                      </a:r>
                      <a:r>
                        <a:rPr lang="id-ID" sz="1800" kern="0" dirty="0">
                          <a:effectLst/>
                        </a:rPr>
                        <a:t>: 0,64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73714510"/>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PFF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England</a:t>
                      </a:r>
                      <a:r>
                        <a:rPr lang="id-ID" sz="1800" kern="0" dirty="0">
                          <a:effectLst/>
                        </a:rPr>
                        <a:t>: 2,4</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0,73</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111487"/>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xGScore.io</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2,55</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1,21</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88466971"/>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FBref</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France: 0,9</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37179939"/>
                  </a:ext>
                </a:extLst>
              </a:tr>
              <a:tr h="472374">
                <a:tc vMerge="1">
                  <a:txBody>
                    <a:bodyPr/>
                    <a:lstStyle/>
                    <a:p>
                      <a:endParaRPr lang="id-ID"/>
                    </a:p>
                  </a:txBody>
                  <a:tcPr/>
                </a:tc>
                <a:tc vMerge="1">
                  <a:txBody>
                    <a:bodyPr/>
                    <a:lstStyle/>
                    <a:p>
                      <a:endParaRPr lang="id-ID"/>
                    </a:p>
                  </a:txBody>
                  <a:tcPr/>
                </a:tc>
                <a:tc>
                  <a:txBody>
                    <a:bodyPr/>
                    <a:lstStyle/>
                    <a:p>
                      <a:pPr algn="just">
                        <a:lnSpc>
                          <a:spcPct val="200000"/>
                        </a:lnSpc>
                        <a:buNone/>
                      </a:pPr>
                      <a:r>
                        <a:rPr lang="id-ID" sz="1800" kern="0">
                          <a:effectLst/>
                        </a:rPr>
                        <a:t>Opta</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a:effectLst/>
                        </a:rPr>
                        <a:t>England: 2,4</a:t>
                      </a:r>
                      <a:endParaRPr lang="id-ID" sz="2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200000"/>
                        </a:lnSpc>
                        <a:buNone/>
                      </a:pPr>
                      <a:r>
                        <a:rPr lang="id-ID" sz="1800" kern="0" dirty="0" err="1">
                          <a:effectLst/>
                        </a:rPr>
                        <a:t>France</a:t>
                      </a:r>
                      <a:r>
                        <a:rPr lang="id-ID" sz="1800" kern="0" dirty="0">
                          <a:effectLst/>
                        </a:rPr>
                        <a:t>: 1,012</a:t>
                      </a:r>
                      <a:endParaRPr lang="id-ID" sz="2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59602749"/>
                  </a:ext>
                </a:extLst>
              </a:tr>
            </a:tbl>
          </a:graphicData>
        </a:graphic>
      </p:graphicFrame>
    </p:spTree>
    <p:extLst>
      <p:ext uri="{BB962C8B-B14F-4D97-AF65-F5344CB8AC3E}">
        <p14:creationId xmlns:p14="http://schemas.microsoft.com/office/powerpoint/2010/main" val="1613141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8684-22D9-EC9A-202B-95C87705678F}"/>
              </a:ext>
            </a:extLst>
          </p:cNvPr>
          <p:cNvSpPr>
            <a:spLocks noGrp="1"/>
          </p:cNvSpPr>
          <p:nvPr>
            <p:ph type="title"/>
          </p:nvPr>
        </p:nvSpPr>
        <p:spPr/>
        <p:txBody>
          <a:bodyPr/>
          <a:lstStyle/>
          <a:p>
            <a:r>
              <a:rPr lang="en-GB" dirty="0" err="1"/>
              <a:t>Keterbatasan</a:t>
            </a:r>
            <a:r>
              <a:rPr lang="en-GB" dirty="0"/>
              <a:t> </a:t>
            </a:r>
            <a:r>
              <a:rPr lang="en-GB" dirty="0" err="1"/>
              <a:t>Penelitian</a:t>
            </a:r>
            <a:endParaRPr lang="id-ID" dirty="0"/>
          </a:p>
        </p:txBody>
      </p:sp>
      <p:sp>
        <p:nvSpPr>
          <p:cNvPr id="3" name="Content Placeholder 2">
            <a:extLst>
              <a:ext uri="{FF2B5EF4-FFF2-40B4-BE49-F238E27FC236}">
                <a16:creationId xmlns:a16="http://schemas.microsoft.com/office/drawing/2014/main" id="{65200710-C666-F71E-CCCE-06ED514FA3A4}"/>
              </a:ext>
            </a:extLst>
          </p:cNvPr>
          <p:cNvSpPr>
            <a:spLocks noGrp="1"/>
          </p:cNvSpPr>
          <p:nvPr>
            <p:ph idx="1"/>
          </p:nvPr>
        </p:nvSpPr>
        <p:spPr>
          <a:xfrm>
            <a:off x="1167493" y="1887795"/>
            <a:ext cx="9613578" cy="3469022"/>
          </a:xfrm>
        </p:spPr>
        <p:txBody>
          <a:bodyPr/>
          <a:lstStyle/>
          <a:p>
            <a:r>
              <a:rPr lang="id-ID" sz="2800" dirty="0"/>
              <a:t>Penelitian ini memiliki keterbatasan pada cakupan data yang hanya mencakup liga tertentu dan ketersediaan fitur kontekstual seperti posisi kiper. Selain itu, validitas model juga perlu diuji lebih lanjut pada kompetisi dengan gaya bermain yang berbeda untuk memastikan generalisasi.</a:t>
            </a:r>
          </a:p>
        </p:txBody>
      </p:sp>
      <p:sp>
        <p:nvSpPr>
          <p:cNvPr id="4" name="Date Placeholder 3">
            <a:extLst>
              <a:ext uri="{FF2B5EF4-FFF2-40B4-BE49-F238E27FC236}">
                <a16:creationId xmlns:a16="http://schemas.microsoft.com/office/drawing/2014/main" id="{B888C59B-68A0-3591-5974-34464134CCEC}"/>
              </a:ext>
            </a:extLst>
          </p:cNvPr>
          <p:cNvSpPr>
            <a:spLocks noGrp="1"/>
          </p:cNvSpPr>
          <p:nvPr>
            <p:ph type="dt" sz="half" idx="2"/>
          </p:nvPr>
        </p:nvSpPr>
        <p:spPr/>
        <p:txBody>
          <a:bodyPr/>
          <a:lstStyle/>
          <a:p>
            <a:pPr rtl="0"/>
            <a:fld id="{864F080E-00EF-45FB-879B-543FC5219789}" type="datetime1">
              <a:rPr lang="id-ID" noProof="0" smtClean="0"/>
              <a:t>27/10/2025</a:t>
            </a:fld>
            <a:endParaRPr lang="id-ID" noProof="0"/>
          </a:p>
        </p:txBody>
      </p:sp>
      <p:sp>
        <p:nvSpPr>
          <p:cNvPr id="6" name="Slide Number Placeholder 5">
            <a:extLst>
              <a:ext uri="{FF2B5EF4-FFF2-40B4-BE49-F238E27FC236}">
                <a16:creationId xmlns:a16="http://schemas.microsoft.com/office/drawing/2014/main" id="{D1F630AB-4019-E7C5-9C7A-83CA11B8ED47}"/>
              </a:ext>
            </a:extLst>
          </p:cNvPr>
          <p:cNvSpPr>
            <a:spLocks noGrp="1"/>
          </p:cNvSpPr>
          <p:nvPr>
            <p:ph type="sldNum" sz="quarter" idx="4"/>
          </p:nvPr>
        </p:nvSpPr>
        <p:spPr/>
        <p:txBody>
          <a:bodyPr/>
          <a:lstStyle/>
          <a:p>
            <a:pPr rtl="0"/>
            <a:fld id="{294A09A9-5501-47C1-A89A-A340965A2BE2}" type="slidenum">
              <a:rPr lang="id-ID" noProof="0" smtClean="0"/>
              <a:pPr rtl="0"/>
              <a:t>49</a:t>
            </a:fld>
            <a:endParaRPr lang="id-ID" noProof="0"/>
          </a:p>
        </p:txBody>
      </p:sp>
    </p:spTree>
    <p:extLst>
      <p:ext uri="{BB962C8B-B14F-4D97-AF65-F5344CB8AC3E}">
        <p14:creationId xmlns:p14="http://schemas.microsoft.com/office/powerpoint/2010/main" val="3278069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87F26-D841-9E3A-EA2F-E7883150B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A2974-B241-0900-1380-741A476B6087}"/>
              </a:ext>
            </a:extLst>
          </p:cNvPr>
          <p:cNvSpPr>
            <a:spLocks noGrp="1"/>
          </p:cNvSpPr>
          <p:nvPr>
            <p:ph type="title"/>
          </p:nvPr>
        </p:nvSpPr>
        <p:spPr/>
        <p:txBody>
          <a:bodyPr/>
          <a:lstStyle/>
          <a:p>
            <a:r>
              <a:rPr lang="en-GB" dirty="0" err="1"/>
              <a:t>Implikasi</a:t>
            </a:r>
            <a:r>
              <a:rPr lang="en-GB" dirty="0"/>
              <a:t> </a:t>
            </a:r>
            <a:r>
              <a:rPr lang="en-GB" dirty="0" err="1"/>
              <a:t>Penelitian</a:t>
            </a:r>
            <a:endParaRPr lang="id-ID" dirty="0"/>
          </a:p>
        </p:txBody>
      </p:sp>
      <p:sp>
        <p:nvSpPr>
          <p:cNvPr id="3" name="Content Placeholder 2">
            <a:extLst>
              <a:ext uri="{FF2B5EF4-FFF2-40B4-BE49-F238E27FC236}">
                <a16:creationId xmlns:a16="http://schemas.microsoft.com/office/drawing/2014/main" id="{FFA5EB44-CA36-DAB3-792E-C7D6B4809106}"/>
              </a:ext>
            </a:extLst>
          </p:cNvPr>
          <p:cNvSpPr>
            <a:spLocks noGrp="1"/>
          </p:cNvSpPr>
          <p:nvPr>
            <p:ph idx="1"/>
          </p:nvPr>
        </p:nvSpPr>
        <p:spPr>
          <a:xfrm>
            <a:off x="1167493" y="1887795"/>
            <a:ext cx="9613578" cy="3469022"/>
          </a:xfrm>
        </p:spPr>
        <p:txBody>
          <a:bodyPr/>
          <a:lstStyle/>
          <a:p>
            <a:r>
              <a:rPr lang="id-ID" sz="2800" dirty="0"/>
              <a:t>Secara teoritis, penelitian ini memvalidasi superioritas </a:t>
            </a:r>
            <a:r>
              <a:rPr lang="id-ID" sz="2800" dirty="0" err="1"/>
              <a:t>LightGBM</a:t>
            </a:r>
            <a:r>
              <a:rPr lang="id-ID" sz="2800" dirty="0"/>
              <a:t> untuk data olahraga yang non-linear. Secara praktis, model dan aplikasi yang dikembangkan dapat menjadi alat bantu objektif bagi klub, analis, media, hingga untuk pembinaan pemain muda.</a:t>
            </a:r>
          </a:p>
        </p:txBody>
      </p:sp>
      <p:sp>
        <p:nvSpPr>
          <p:cNvPr id="4" name="Date Placeholder 3">
            <a:extLst>
              <a:ext uri="{FF2B5EF4-FFF2-40B4-BE49-F238E27FC236}">
                <a16:creationId xmlns:a16="http://schemas.microsoft.com/office/drawing/2014/main" id="{072C9778-C49D-CCFE-6948-462E42E34B6E}"/>
              </a:ext>
            </a:extLst>
          </p:cNvPr>
          <p:cNvSpPr>
            <a:spLocks noGrp="1"/>
          </p:cNvSpPr>
          <p:nvPr>
            <p:ph type="dt" sz="half" idx="2"/>
          </p:nvPr>
        </p:nvSpPr>
        <p:spPr/>
        <p:txBody>
          <a:bodyPr/>
          <a:lstStyle/>
          <a:p>
            <a:pPr rtl="0"/>
            <a:fld id="{864F080E-00EF-45FB-879B-543FC5219789}" type="datetime1">
              <a:rPr lang="id-ID" noProof="0" smtClean="0"/>
              <a:t>27/10/2025</a:t>
            </a:fld>
            <a:endParaRPr lang="id-ID" noProof="0"/>
          </a:p>
        </p:txBody>
      </p:sp>
      <p:sp>
        <p:nvSpPr>
          <p:cNvPr id="6" name="Slide Number Placeholder 5">
            <a:extLst>
              <a:ext uri="{FF2B5EF4-FFF2-40B4-BE49-F238E27FC236}">
                <a16:creationId xmlns:a16="http://schemas.microsoft.com/office/drawing/2014/main" id="{8994C8F1-21C7-2222-1E2E-3AFA407C758C}"/>
              </a:ext>
            </a:extLst>
          </p:cNvPr>
          <p:cNvSpPr>
            <a:spLocks noGrp="1"/>
          </p:cNvSpPr>
          <p:nvPr>
            <p:ph type="sldNum" sz="quarter" idx="4"/>
          </p:nvPr>
        </p:nvSpPr>
        <p:spPr/>
        <p:txBody>
          <a:bodyPr/>
          <a:lstStyle/>
          <a:p>
            <a:pPr rtl="0"/>
            <a:fld id="{294A09A9-5501-47C1-A89A-A340965A2BE2}" type="slidenum">
              <a:rPr lang="id-ID" noProof="0" smtClean="0"/>
              <a:pPr rtl="0"/>
              <a:t>50</a:t>
            </a:fld>
            <a:endParaRPr lang="id-ID" noProof="0"/>
          </a:p>
        </p:txBody>
      </p:sp>
    </p:spTree>
    <p:extLst>
      <p:ext uri="{BB962C8B-B14F-4D97-AF65-F5344CB8AC3E}">
        <p14:creationId xmlns:p14="http://schemas.microsoft.com/office/powerpoint/2010/main" val="30688758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5CB01-52C4-7D71-2331-B4EF333EA74C}"/>
              </a:ext>
            </a:extLst>
          </p:cNvPr>
          <p:cNvSpPr>
            <a:spLocks noGrp="1"/>
          </p:cNvSpPr>
          <p:nvPr>
            <p:ph type="title"/>
          </p:nvPr>
        </p:nvSpPr>
        <p:spPr>
          <a:xfrm>
            <a:off x="750429" y="381000"/>
            <a:ext cx="5513799" cy="1325563"/>
          </a:xfrm>
        </p:spPr>
        <p:txBody>
          <a:bodyPr/>
          <a:lstStyle/>
          <a:p>
            <a:r>
              <a:rPr lang="en-GB" sz="6000" dirty="0"/>
              <a:t>Interface Demo</a:t>
            </a:r>
            <a:endParaRPr lang="id-ID" sz="6000" dirty="0"/>
          </a:p>
        </p:txBody>
      </p:sp>
      <p:sp>
        <p:nvSpPr>
          <p:cNvPr id="27" name="Date Placeholder 26">
            <a:extLst>
              <a:ext uri="{FF2B5EF4-FFF2-40B4-BE49-F238E27FC236}">
                <a16:creationId xmlns:a16="http://schemas.microsoft.com/office/drawing/2014/main" id="{63683045-1DD3-E700-F1C4-435852143B6D}"/>
              </a:ext>
            </a:extLst>
          </p:cNvPr>
          <p:cNvSpPr>
            <a:spLocks noGrp="1"/>
          </p:cNvSpPr>
          <p:nvPr>
            <p:ph type="dt" sz="half" idx="25"/>
          </p:nvPr>
        </p:nvSpPr>
        <p:spPr/>
        <p:txBody>
          <a:bodyPr/>
          <a:lstStyle/>
          <a:p>
            <a:pPr rtl="0"/>
            <a:fld id="{0313E8A0-0BEB-4298-AEE4-B7CCF6490583}" type="datetime1">
              <a:rPr lang="id-ID" noProof="0" smtClean="0"/>
              <a:t>27/10/2025</a:t>
            </a:fld>
            <a:endParaRPr lang="id-ID" noProof="0"/>
          </a:p>
        </p:txBody>
      </p:sp>
      <p:sp>
        <p:nvSpPr>
          <p:cNvPr id="29" name="Slide Number Placeholder 28">
            <a:extLst>
              <a:ext uri="{FF2B5EF4-FFF2-40B4-BE49-F238E27FC236}">
                <a16:creationId xmlns:a16="http://schemas.microsoft.com/office/drawing/2014/main" id="{1AF321D4-D2C0-7BBA-6F83-C7833915C5B9}"/>
              </a:ext>
            </a:extLst>
          </p:cNvPr>
          <p:cNvSpPr>
            <a:spLocks noGrp="1"/>
          </p:cNvSpPr>
          <p:nvPr>
            <p:ph type="sldNum" sz="quarter" idx="27"/>
          </p:nvPr>
        </p:nvSpPr>
        <p:spPr/>
        <p:txBody>
          <a:bodyPr/>
          <a:lstStyle/>
          <a:p>
            <a:pPr rtl="0"/>
            <a:fld id="{294A09A9-5501-47C1-A89A-A340965A2BE2}" type="slidenum">
              <a:rPr lang="id-ID" noProof="0" smtClean="0"/>
              <a:pPr rtl="0"/>
              <a:t>51</a:t>
            </a:fld>
            <a:endParaRPr lang="id-ID" noProof="0"/>
          </a:p>
        </p:txBody>
      </p:sp>
      <p:pic>
        <p:nvPicPr>
          <p:cNvPr id="1026" name="Picture 2">
            <a:extLst>
              <a:ext uri="{FF2B5EF4-FFF2-40B4-BE49-F238E27FC236}">
                <a16:creationId xmlns:a16="http://schemas.microsoft.com/office/drawing/2014/main" id="{6A9403D6-D9F6-3A01-8859-11ABFF54F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82538"/>
            <a:ext cx="5883229" cy="34419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B2FCAF7-FFFF-E55F-BBCB-465AF90A2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799" y="2750574"/>
            <a:ext cx="6096002" cy="1804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990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1379A-E791-D42E-5A75-43FF040711BF}"/>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A482DFB0-1A62-3C42-CF4D-A7A9ABF9DD74}"/>
              </a:ext>
            </a:extLst>
          </p:cNvPr>
          <p:cNvSpPr>
            <a:spLocks noGrp="1"/>
          </p:cNvSpPr>
          <p:nvPr>
            <p:ph type="title"/>
          </p:nvPr>
        </p:nvSpPr>
        <p:spPr>
          <a:xfrm>
            <a:off x="3661083" y="1832803"/>
            <a:ext cx="4265150" cy="2810460"/>
          </a:xfrm>
        </p:spPr>
        <p:txBody>
          <a:bodyPr rtlCol="0">
            <a:normAutofit/>
          </a:bodyPr>
          <a:lstStyle/>
          <a:p>
            <a:pPr rtl="0"/>
            <a:r>
              <a:rPr lang="en-GB" sz="4800" dirty="0"/>
              <a:t>PENUTUP</a:t>
            </a:r>
            <a:endParaRPr lang="id-ID" sz="4800" dirty="0"/>
          </a:p>
        </p:txBody>
      </p:sp>
      <p:sp>
        <p:nvSpPr>
          <p:cNvPr id="3" name="Tampungan Tanggal 2">
            <a:extLst>
              <a:ext uri="{FF2B5EF4-FFF2-40B4-BE49-F238E27FC236}">
                <a16:creationId xmlns:a16="http://schemas.microsoft.com/office/drawing/2014/main" id="{A1D3405C-120A-03F9-8F6F-DE1746765F64}"/>
              </a:ext>
            </a:extLst>
          </p:cNvPr>
          <p:cNvSpPr>
            <a:spLocks noGrp="1"/>
          </p:cNvSpPr>
          <p:nvPr>
            <p:ph type="dt" sz="half" idx="10"/>
          </p:nvPr>
        </p:nvSpPr>
        <p:spPr/>
        <p:txBody>
          <a:bodyPr rtlCol="0"/>
          <a:lstStyle/>
          <a:p>
            <a:pPr rtl="0"/>
            <a:fld id="{A808DD98-197B-46F5-A6AA-BDA332D7E685}" type="datetime1">
              <a:rPr lang="id-ID" smtClean="0"/>
              <a:t>27/10/2025</a:t>
            </a:fld>
            <a:endParaRPr lang="id-ID"/>
          </a:p>
        </p:txBody>
      </p:sp>
      <p:sp>
        <p:nvSpPr>
          <p:cNvPr id="5" name="Tampungan Nomor Slide 4">
            <a:extLst>
              <a:ext uri="{FF2B5EF4-FFF2-40B4-BE49-F238E27FC236}">
                <a16:creationId xmlns:a16="http://schemas.microsoft.com/office/drawing/2014/main" id="{36B818EF-7BDD-99AA-D8D9-DD08A43D5723}"/>
              </a:ext>
            </a:extLst>
          </p:cNvPr>
          <p:cNvSpPr>
            <a:spLocks noGrp="1"/>
          </p:cNvSpPr>
          <p:nvPr>
            <p:ph type="sldNum" sz="quarter" idx="12"/>
          </p:nvPr>
        </p:nvSpPr>
        <p:spPr/>
        <p:txBody>
          <a:bodyPr rtlCol="0"/>
          <a:lstStyle/>
          <a:p>
            <a:pPr rtl="0"/>
            <a:fld id="{294A09A9-5501-47C1-A89A-A340965A2BE2}" type="slidenum">
              <a:rPr lang="id-ID" smtClean="0"/>
              <a:pPr rtl="0"/>
              <a:t>52</a:t>
            </a:fld>
            <a:endParaRPr lang="id-ID"/>
          </a:p>
        </p:txBody>
      </p:sp>
    </p:spTree>
    <p:extLst>
      <p:ext uri="{BB962C8B-B14F-4D97-AF65-F5344CB8AC3E}">
        <p14:creationId xmlns:p14="http://schemas.microsoft.com/office/powerpoint/2010/main" val="15569253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4E6D6-66B3-4C11-4071-9A1616A23A52}"/>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EE6B2CF1-4B47-BF0E-656E-FE21F300D2EB}"/>
              </a:ext>
            </a:extLst>
          </p:cNvPr>
          <p:cNvSpPr>
            <a:spLocks noGrp="1"/>
          </p:cNvSpPr>
          <p:nvPr>
            <p:ph type="title"/>
          </p:nvPr>
        </p:nvSpPr>
        <p:spPr>
          <a:xfrm>
            <a:off x="1167492" y="381000"/>
            <a:ext cx="9779183" cy="1325563"/>
          </a:xfrm>
        </p:spPr>
        <p:txBody>
          <a:bodyPr rtlCol="0"/>
          <a:lstStyle/>
          <a:p>
            <a:r>
              <a:rPr lang="en-GB" dirty="0"/>
              <a:t>Kesimpulan</a:t>
            </a:r>
            <a:endParaRPr lang="id-ID" dirty="0"/>
          </a:p>
        </p:txBody>
      </p:sp>
      <p:sp>
        <p:nvSpPr>
          <p:cNvPr id="4" name="Tampungan Konten 3">
            <a:extLst>
              <a:ext uri="{FF2B5EF4-FFF2-40B4-BE49-F238E27FC236}">
                <a16:creationId xmlns:a16="http://schemas.microsoft.com/office/drawing/2014/main" id="{1DC8A93A-C50E-D83E-71CB-29084D6A9B5F}"/>
              </a:ext>
            </a:extLst>
          </p:cNvPr>
          <p:cNvSpPr>
            <a:spLocks noGrp="1"/>
          </p:cNvSpPr>
          <p:nvPr>
            <p:ph idx="1"/>
          </p:nvPr>
        </p:nvSpPr>
        <p:spPr>
          <a:xfrm>
            <a:off x="1167492" y="2020529"/>
            <a:ext cx="7888017" cy="3657600"/>
          </a:xfrm>
        </p:spPr>
        <p:txBody>
          <a:bodyPr vert="horz" lIns="91440" tIns="45720" rIns="91440" bIns="45720" rtlCol="0" anchor="t">
            <a:normAutofit lnSpcReduction="10000"/>
          </a:bodyPr>
          <a:lstStyle/>
          <a:p>
            <a:r>
              <a:rPr lang="id-ID" sz="3200" dirty="0"/>
              <a:t>Penerapan </a:t>
            </a:r>
            <a:r>
              <a:rPr lang="id-ID" sz="3200" dirty="0" err="1"/>
              <a:t>LightGBM</a:t>
            </a:r>
            <a:r>
              <a:rPr lang="id-ID" sz="3200" dirty="0"/>
              <a:t> yang dioptimalkan berhasil menghasilkan model prediksi </a:t>
            </a:r>
            <a:r>
              <a:rPr lang="id-ID" sz="3200" dirty="0" err="1"/>
              <a:t>xG</a:t>
            </a:r>
            <a:r>
              <a:rPr lang="id-ID" sz="3200" dirty="0"/>
              <a:t> dengan akurasi dan keandalan probabilitas yang sangat tinggi. Dari segi komputasi, </a:t>
            </a:r>
            <a:r>
              <a:rPr lang="id-ID" sz="3200" dirty="0" err="1"/>
              <a:t>LightGBM</a:t>
            </a:r>
            <a:r>
              <a:rPr lang="id-ID" sz="3200" dirty="0"/>
              <a:t> juga terbukti jauh lebih efisien. Luaran dari penelitian ini tidak hanya berupa model, tetapi juga sebuah antarmuka web interaktif yang fungsional untuk penerapan praktis.</a:t>
            </a:r>
          </a:p>
        </p:txBody>
      </p:sp>
      <p:sp>
        <p:nvSpPr>
          <p:cNvPr id="9" name="Tampungan Nomor Slide 8">
            <a:extLst>
              <a:ext uri="{FF2B5EF4-FFF2-40B4-BE49-F238E27FC236}">
                <a16:creationId xmlns:a16="http://schemas.microsoft.com/office/drawing/2014/main" id="{414C40D9-956D-F3DE-C569-43226D763FB1}"/>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id-ID" smtClean="0"/>
              <a:pPr rtl="0"/>
              <a:t>53</a:t>
            </a:fld>
            <a:endParaRPr lang="id-ID" dirty="0"/>
          </a:p>
        </p:txBody>
      </p:sp>
    </p:spTree>
    <p:extLst>
      <p:ext uri="{BB962C8B-B14F-4D97-AF65-F5344CB8AC3E}">
        <p14:creationId xmlns:p14="http://schemas.microsoft.com/office/powerpoint/2010/main" val="4670503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6093-D4AA-F632-85B3-59570CEDC2CE}"/>
              </a:ext>
            </a:extLst>
          </p:cNvPr>
          <p:cNvSpPr>
            <a:spLocks noGrp="1"/>
          </p:cNvSpPr>
          <p:nvPr>
            <p:ph type="title"/>
          </p:nvPr>
        </p:nvSpPr>
        <p:spPr/>
        <p:txBody>
          <a:bodyPr/>
          <a:lstStyle/>
          <a:p>
            <a:r>
              <a:rPr lang="en-GB" dirty="0"/>
              <a:t>Saran</a:t>
            </a:r>
            <a:endParaRPr lang="id-ID" dirty="0"/>
          </a:p>
        </p:txBody>
      </p:sp>
      <p:sp>
        <p:nvSpPr>
          <p:cNvPr id="3" name="Content Placeholder 2">
            <a:extLst>
              <a:ext uri="{FF2B5EF4-FFF2-40B4-BE49-F238E27FC236}">
                <a16:creationId xmlns:a16="http://schemas.microsoft.com/office/drawing/2014/main" id="{79D8D027-F1C0-BD15-68D4-DC8C613ADD28}"/>
              </a:ext>
            </a:extLst>
          </p:cNvPr>
          <p:cNvSpPr>
            <a:spLocks noGrp="1"/>
          </p:cNvSpPr>
          <p:nvPr>
            <p:ph idx="1"/>
          </p:nvPr>
        </p:nvSpPr>
        <p:spPr>
          <a:xfrm>
            <a:off x="1167492" y="1706563"/>
            <a:ext cx="9893797" cy="3650253"/>
          </a:xfrm>
        </p:spPr>
        <p:txBody>
          <a:bodyPr/>
          <a:lstStyle/>
          <a:p>
            <a:r>
              <a:rPr lang="id-ID" sz="2800" dirty="0"/>
              <a:t>Untuk penelitian selanjutnya, disarankan untuk memperkaya model dengan fitur yang lebih detail, seperti data posisi pemain bertahan saat tembakan terjadi. Pengembangan </a:t>
            </a:r>
            <a:r>
              <a:rPr lang="en-GB" sz="2800" dirty="0"/>
              <a:t>interface</a:t>
            </a:r>
            <a:r>
              <a:rPr lang="id-ID" sz="2800" dirty="0"/>
              <a:t> juga dapat dilanjutkan dengan menambahkan fitur analisis performa pemain atau perbandingan taktik tim.</a:t>
            </a:r>
          </a:p>
        </p:txBody>
      </p:sp>
      <p:sp>
        <p:nvSpPr>
          <p:cNvPr id="4" name="Date Placeholder 3">
            <a:extLst>
              <a:ext uri="{FF2B5EF4-FFF2-40B4-BE49-F238E27FC236}">
                <a16:creationId xmlns:a16="http://schemas.microsoft.com/office/drawing/2014/main" id="{3CA90C15-EF3A-B529-724E-20961D1EA568}"/>
              </a:ext>
            </a:extLst>
          </p:cNvPr>
          <p:cNvSpPr>
            <a:spLocks noGrp="1"/>
          </p:cNvSpPr>
          <p:nvPr>
            <p:ph type="dt" sz="half" idx="2"/>
          </p:nvPr>
        </p:nvSpPr>
        <p:spPr/>
        <p:txBody>
          <a:bodyPr/>
          <a:lstStyle/>
          <a:p>
            <a:pPr rtl="0"/>
            <a:fld id="{864F080E-00EF-45FB-879B-543FC5219789}" type="datetime1">
              <a:rPr lang="id-ID" noProof="0" smtClean="0"/>
              <a:t>27/10/2025</a:t>
            </a:fld>
            <a:endParaRPr lang="id-ID" noProof="0"/>
          </a:p>
        </p:txBody>
      </p:sp>
      <p:sp>
        <p:nvSpPr>
          <p:cNvPr id="6" name="Slide Number Placeholder 5">
            <a:extLst>
              <a:ext uri="{FF2B5EF4-FFF2-40B4-BE49-F238E27FC236}">
                <a16:creationId xmlns:a16="http://schemas.microsoft.com/office/drawing/2014/main" id="{3BCA0E54-BD5E-43D9-25A3-856FF970BBC2}"/>
              </a:ext>
            </a:extLst>
          </p:cNvPr>
          <p:cNvSpPr>
            <a:spLocks noGrp="1"/>
          </p:cNvSpPr>
          <p:nvPr>
            <p:ph type="sldNum" sz="quarter" idx="4"/>
          </p:nvPr>
        </p:nvSpPr>
        <p:spPr/>
        <p:txBody>
          <a:bodyPr/>
          <a:lstStyle/>
          <a:p>
            <a:pPr rtl="0"/>
            <a:fld id="{294A09A9-5501-47C1-A89A-A340965A2BE2}" type="slidenum">
              <a:rPr lang="id-ID" noProof="0" smtClean="0"/>
              <a:pPr rtl="0"/>
              <a:t>54</a:t>
            </a:fld>
            <a:endParaRPr lang="id-ID" noProof="0"/>
          </a:p>
        </p:txBody>
      </p:sp>
    </p:spTree>
    <p:extLst>
      <p:ext uri="{BB962C8B-B14F-4D97-AF65-F5344CB8AC3E}">
        <p14:creationId xmlns:p14="http://schemas.microsoft.com/office/powerpoint/2010/main" val="16576669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9FAE308-3076-43DB-B834-DA0B0AE19AF9}"/>
              </a:ext>
            </a:extLst>
          </p:cNvPr>
          <p:cNvSpPr>
            <a:spLocks noGrp="1"/>
          </p:cNvSpPr>
          <p:nvPr>
            <p:ph type="ctrTitle"/>
          </p:nvPr>
        </p:nvSpPr>
        <p:spPr>
          <a:xfrm>
            <a:off x="811161" y="1122363"/>
            <a:ext cx="6576611" cy="2387600"/>
          </a:xfrm>
        </p:spPr>
        <p:txBody>
          <a:bodyPr rtlCol="0"/>
          <a:lstStyle/>
          <a:p>
            <a:pPr rtl="0"/>
            <a:r>
              <a:rPr lang="en-GB" dirty="0" err="1"/>
              <a:t>Sesi</a:t>
            </a:r>
            <a:r>
              <a:rPr lang="en-GB" dirty="0"/>
              <a:t> Tanya-Jawab</a:t>
            </a:r>
            <a:endParaRPr lang="id-ID" dirty="0"/>
          </a:p>
        </p:txBody>
      </p:sp>
    </p:spTree>
    <p:extLst>
      <p:ext uri="{BB962C8B-B14F-4D97-AF65-F5344CB8AC3E}">
        <p14:creationId xmlns:p14="http://schemas.microsoft.com/office/powerpoint/2010/main" val="9261845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AA83F-E01C-2C53-2296-FC5E68F2D8A0}"/>
            </a:ext>
          </a:extLst>
        </p:cNvPr>
        <p:cNvGrpSpPr/>
        <p:nvPr/>
      </p:nvGrpSpPr>
      <p:grpSpPr>
        <a:xfrm>
          <a:off x="0" y="0"/>
          <a:ext cx="0" cy="0"/>
          <a:chOff x="0" y="0"/>
          <a:chExt cx="0" cy="0"/>
        </a:xfrm>
      </p:grpSpPr>
      <p:sp>
        <p:nvSpPr>
          <p:cNvPr id="2" name="Judul 1">
            <a:extLst>
              <a:ext uri="{FF2B5EF4-FFF2-40B4-BE49-F238E27FC236}">
                <a16:creationId xmlns:a16="http://schemas.microsoft.com/office/drawing/2014/main" id="{65C9BCB0-94F5-935D-E811-7FD1C2729C0B}"/>
              </a:ext>
            </a:extLst>
          </p:cNvPr>
          <p:cNvSpPr>
            <a:spLocks noGrp="1"/>
          </p:cNvSpPr>
          <p:nvPr>
            <p:ph type="ctrTitle"/>
          </p:nvPr>
        </p:nvSpPr>
        <p:spPr>
          <a:xfrm>
            <a:off x="811161" y="1122363"/>
            <a:ext cx="6576611" cy="2387600"/>
          </a:xfrm>
        </p:spPr>
        <p:txBody>
          <a:bodyPr rtlCol="0"/>
          <a:lstStyle/>
          <a:p>
            <a:pPr rtl="0"/>
            <a:r>
              <a:rPr lang="en-GB" dirty="0"/>
              <a:t>TERIMA KASIH!</a:t>
            </a:r>
            <a:endParaRPr lang="id-ID" dirty="0"/>
          </a:p>
        </p:txBody>
      </p:sp>
    </p:spTree>
    <p:extLst>
      <p:ext uri="{BB962C8B-B14F-4D97-AF65-F5344CB8AC3E}">
        <p14:creationId xmlns:p14="http://schemas.microsoft.com/office/powerpoint/2010/main" val="1688272857"/>
      </p:ext>
    </p:extLst>
  </p:cSld>
  <p:clrMapOvr>
    <a:masterClrMapping/>
  </p:clrMapOvr>
</p:sld>
</file>

<file path=ppt/theme/theme1.xml><?xml version="1.0" encoding="utf-8"?>
<a:theme xmlns:a="http://schemas.openxmlformats.org/drawingml/2006/main" name="Tema Offic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257869_TF45331398_Win32" id="{F0444880-C702-4261-A48F-CB5967707C8F}" vid="{4E136AF5-FC91-4907-8B2C-104F28C7A544}"/>
    </a:ext>
  </a:ext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5BAB77-79E1-4739-AA51-10C9079186D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5334180-0405-413B-834A-44FA9E05ADB7}">
  <ds:schemaRefs>
    <ds:schemaRef ds:uri="http://schemas.microsoft.com/sharepoint/v3/contenttype/forms"/>
  </ds:schemaRefs>
</ds:datastoreItem>
</file>

<file path=customXml/itemProps3.xml><?xml version="1.0" encoding="utf-8"?>
<ds:datastoreItem xmlns:ds="http://schemas.openxmlformats.org/officeDocument/2006/customXml" ds:itemID="{4A615295-94F6-4CE2-A1B1-6B7E1DAA5A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Presentasi universal</Template>
  <TotalTime>14771</TotalTime>
  <Words>3167</Words>
  <Application>Microsoft Office PowerPoint</Application>
  <PresentationFormat>Widescreen</PresentationFormat>
  <Paragraphs>816</Paragraphs>
  <Slides>56</Slides>
  <Notes>52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Cambria Math</vt:lpstr>
      <vt:lpstr>Courier New</vt:lpstr>
      <vt:lpstr>Tenorite</vt:lpstr>
      <vt:lpstr>Times New Roman</vt:lpstr>
      <vt:lpstr>Tema Office</vt:lpstr>
      <vt:lpstr>PENERAPAN LIGHT GRADIENT BOOSTING MACHINE (LIGHTGBM) UNTUK PREDIKSI NILAI EXPECTED GOALS (xG) DALAM ANALISIS SEPAK BOLA</vt:lpstr>
      <vt:lpstr>Al-Alaq 1-5</vt:lpstr>
      <vt:lpstr>Agenda Presentasi</vt:lpstr>
      <vt:lpstr>PENDAHULUAN</vt:lpstr>
      <vt:lpstr>Latar Belakang</vt:lpstr>
      <vt:lpstr>Latar Belakang</vt:lpstr>
      <vt:lpstr>Identifikasi Masalah</vt:lpstr>
      <vt:lpstr>PowerPoint Presentation</vt:lpstr>
      <vt:lpstr>PowerPoint Presentation</vt:lpstr>
      <vt:lpstr>PowerPoint Presentation</vt:lpstr>
      <vt:lpstr>Rumusan Masalah</vt:lpstr>
      <vt:lpstr>Batasan Masalah</vt:lpstr>
      <vt:lpstr>Tujuan Penelitian</vt:lpstr>
      <vt:lpstr>Landasan Teori Analisis Sepak Bola</vt:lpstr>
      <vt:lpstr>Landasan Teori</vt:lpstr>
      <vt:lpstr>PowerPoint Presentation</vt:lpstr>
      <vt:lpstr>Landasan Teori LightGBM</vt:lpstr>
      <vt:lpstr>Landasan Teori Knowledge Discovery in Databases (KDD)</vt:lpstr>
      <vt:lpstr>Landasan Teori Metrik Evaluasi</vt:lpstr>
      <vt:lpstr>Landasan Teori Metrik Evaluasi</vt:lpstr>
      <vt:lpstr>Penelitian Sejenis</vt:lpstr>
      <vt:lpstr>METODOLOGI PENELITIAN</vt:lpstr>
      <vt:lpstr>Metodologi Penelitian </vt:lpstr>
      <vt:lpstr>Metodologi Penelitian </vt:lpstr>
      <vt:lpstr>Metodologi Penelitian </vt:lpstr>
      <vt:lpstr>HASIL DAN PEMBAHASAN</vt:lpstr>
      <vt:lpstr>Selection</vt:lpstr>
      <vt:lpstr>Preprocessing</vt:lpstr>
      <vt:lpstr>Preprocessing</vt:lpstr>
      <vt:lpstr>Preprocessing</vt:lpstr>
      <vt:lpstr>Preprocessing</vt:lpstr>
      <vt:lpstr>Transformation</vt:lpstr>
      <vt:lpstr>Transformation</vt:lpstr>
      <vt:lpstr>Transformation</vt:lpstr>
      <vt:lpstr>Transformation</vt:lpstr>
      <vt:lpstr>Data Mining</vt:lpstr>
      <vt:lpstr>Data Mining</vt:lpstr>
      <vt:lpstr>Data Mining</vt:lpstr>
      <vt:lpstr>Data Mining</vt:lpstr>
      <vt:lpstr>Data Mining</vt:lpstr>
      <vt:lpstr>Evaluation</vt:lpstr>
      <vt:lpstr>Practical Application</vt:lpstr>
      <vt:lpstr>Practical Application</vt:lpstr>
      <vt:lpstr>Practical Application</vt:lpstr>
      <vt:lpstr>Academic Benchmark</vt:lpstr>
      <vt:lpstr>Academic Benchmark</vt:lpstr>
      <vt:lpstr>Industrial Benchmark</vt:lpstr>
      <vt:lpstr>Industrial Benchmark</vt:lpstr>
      <vt:lpstr>Keterbatasan Penelitian</vt:lpstr>
      <vt:lpstr>Implikasi Penelitian</vt:lpstr>
      <vt:lpstr>Interface Demo</vt:lpstr>
      <vt:lpstr>PENUTUP</vt:lpstr>
      <vt:lpstr>Kesimpulan</vt:lpstr>
      <vt:lpstr>Saran</vt:lpstr>
      <vt:lpstr>Sesi Tanya-Jawab</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FADHIL RAIHAN AKBAR</dc:creator>
  <cp:lastModifiedBy>FADHIL RAIHAN AKBAR</cp:lastModifiedBy>
  <cp:revision>29</cp:revision>
  <dcterms:created xsi:type="dcterms:W3CDTF">2025-07-18T09:53:55Z</dcterms:created>
  <dcterms:modified xsi:type="dcterms:W3CDTF">2025-10-27T13:38:44Z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